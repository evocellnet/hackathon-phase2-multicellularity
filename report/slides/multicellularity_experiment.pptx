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The hackathon" id="{c49457d7-d7f3-959d-7f37-ee4dc4765feb}">
          <p14:sldIdLst>
            <p14:sldId id="256"/>
            <p14:sldId id="257"/>
            <p14:sldId id="258"/>
            <p14:sldId id="259"/>
            <p14:sldId id="260"/>
            <p14:sldId id="261"/>
          </p14:sldIdLst>
        </p14:section>
        <p14:section name="B. The prompt" id="{2421b3dc-61c6-90ef-03e3-0d059ee5f8de}">
          <p14:sldIdLst>
            <p14:sldId id="262"/>
            <p14:sldId id="263"/>
            <p14:sldId id="264"/>
            <p14:sldId id="265"/>
          </p14:sldIdLst>
        </p14:section>
        <p14:section name="C. Overview" id="{3456d437-2a81-c481-88d5-9fc2f6d21e8f}">
          <p14:sldIdLst>
            <p14:sldId id="266"/>
            <p14:sldId id="267"/>
            <p14:sldId id="268"/>
            <p14:sldId id="269"/>
          </p14:sldIdLst>
        </p14:section>
        <p14:section name="D. Decision process" id="{a1e17ec2-8d04-c35c-fb65-fdd1f63ee66b}">
          <p14:sldIdLst>
            <p14:sldId id="270"/>
            <p14:sldId id="271"/>
            <p14:sldId id="272"/>
            <p14:sldId id="273"/>
          </p14:sldIdLst>
        </p14:section>
        <p14:section name="E. Method" id="{d0d1c945-b895-9554-049e-2203fecd62ab}">
          <p14:sldIdLst>
            <p14:sldId id="274"/>
            <p14:sldId id="275"/>
            <p14:sldId id="276"/>
            <p14:sldId id="277"/>
            <p14:sldId id="278"/>
            <p14:sldId id="279"/>
            <p14:sldId id="280"/>
            <p14:sldId id="281"/>
            <p14:sldId id="282"/>
            <p14:sldId id="283"/>
            <p14:sldId id="284"/>
          </p14:sldIdLst>
        </p14:section>
        <p14:section name="F. Main results" id="{cf1123ca-a4f2-d85a-8a50-cec61f199598}">
          <p14:sldIdLst>
            <p14:sldId id="285"/>
            <p14:sldId id="286"/>
            <p14:sldId id="287"/>
            <p14:sldId id="288"/>
            <p14:sldId id="289"/>
            <p14:sldId id="290"/>
            <p14:sldId id="291"/>
            <p14:sldId id="292"/>
            <p14:sldId id="293"/>
            <p14:sldId id="294"/>
            <p14:sldId id="295"/>
            <p14:sldId id="296"/>
            <p14:sldId id="297"/>
            <p14:sldId id="298"/>
            <p14:sldId id="299"/>
          </p14:sldIdLst>
        </p14:section>
        <p14:section name="G. Hypotheses" id="{9c2f08fe-b3aa-fc56-18f1-4ec126071d86}">
          <p14:sldIdLst>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Lst>
        </p14:section>
        <p14:section name="H. Decision making" id="{dc83a6e1-95e6-ef67-eb34-6bb700dd020b}">
          <p14:sldIdLst>
            <p14:sldId id="320"/>
            <p14:sldId id="321"/>
            <p14:sldId id="322"/>
          </p14:sldIdLst>
        </p14:section>
        <p14:section name="I. Conclusion" id="{540cf8c1-59fd-01b6-8c68-3f392a44db13}">
          <p14:sldIdLst>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3B39"/>
                </a:solidFill>
                <a:latin typeface="+mn-lt"/>
              </a:defRPr>
            </a:pPr>
            <a:r>
              <a:rPr sz="1500" b="0" i="0" u="none" strike="noStrike">
                <a:solidFill>
                  <a:srgbClr val="0E3B39"/>
                </a:solidFill>
                <a:latin typeface="+mn-lt"/>
              </a:rPr>
              <a:t>Duplications involving a LECA complex subunit</a:t>
            </a:r>
          </a:p>
        </c:rich>
      </c:tx>
      <c:layout/>
      <c:overlay val="0"/>
    </c:title>
    <c:autoTitleDeleted val="0"/>
    <c:plotArea>
      <c:layout/>
      <c:barChart>
        <c:barDir val="bar"/>
        <c:grouping val="clustered"/>
        <c:varyColors val="0"/>
        <c:ser>
          <c:idx val="0"/>
          <c:order val="0"/>
          <c:tx>
            <c:strRef>
              <c:f>Sheet1!$B$1</c:f>
              <c:strCache>
                <c:ptCount val="1"/>
                <c:pt idx="0">
                  <c:v>duplications involving a LECA complex subunit (%)</c:v>
                </c:pt>
              </c:strCache>
            </c:strRef>
          </c:tx>
          <c:spPr>
            <a:solidFill>
              <a:srgbClr val="0072B2"/>
            </a:solidFill>
            <a:effectLst/>
          </c:spPr>
          <c:invertIfNegative val="0"/>
          <c:dLbls>
            <c:numFmt formatCode="0.0&quot;%&quot;" sourceLinked="0"/>
            <c:txPr>
              <a:bodyPr/>
              <a:lstStyle/>
              <a:p>
                <a:pPr>
                  <a:defRPr b="0" i="0" strike="noStrike" sz="1400" u="none">
                    <a:solidFill>
                      <a:srgbClr val="1F2A2A"/>
                    </a:solidFill>
                    <a:latin typeface="+mn-lt"/>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009E73"/>
              </a:solidFill>
              <a:effectLst/>
            </c:spPr>
          </c:dPt>
          <c:dPt>
            <c:idx val="2"/>
            <c:invertIfNegative val="0"/>
            <c:bubble3D val="0"/>
            <c:spPr>
              <a:solidFill>
                <a:srgbClr val="9AA5A3"/>
              </a:solidFill>
              <a:effectLst/>
            </c:spPr>
          </c:dPt>
          <c:cat>
            <c:multiLvlStrRef>
              <c:f>Sheet1!$A$2:$A$4</c:f>
              <c:multiLvlStrCache>
                <c:ptCount val="3"/>
                <c:lvl>
                  <c:pt idx="0">
                    <c:v>Animal stem</c:v>
                  </c:pt>
                  <c:pt idx="1">
                    <c:v>Fungal-hyphae stem</c:v>
                  </c:pt>
                  <c:pt idx="2">
                    <c:v>Control branches</c:v>
                  </c:pt>
                </c:lvl>
              </c:multiLvlStrCache>
            </c:multiLvlStrRef>
          </c:cat>
          <c:val>
            <c:numRef>
              <c:f>Sheet1!$B$2:$B$4</c:f>
              <c:numCache>
                <c:formatCode>General</c:formatCode>
                <c:ptCount val="3"/>
                <c:pt idx="0">
                  <c:v>66.6</c:v>
                </c:pt>
                <c:pt idx="1">
                  <c:v>72.1</c:v>
                </c:pt>
                <c:pt idx="2">
                  <c:v>63.6</c:v>
                </c:pt>
              </c:numCache>
            </c:numRef>
          </c:val>
        </c:ser>
        <c:dLbls>
          <c:numFmt formatCode="0.0&quot;%&quot;" sourceLinked="0"/>
          <c:txPr>
            <a:bodyPr/>
            <a:lstStyle/>
            <a:p>
              <a:pPr>
                <a:defRPr b="0" i="0" strike="noStrike" sz="1400" u="none">
                  <a:solidFill>
                    <a:srgbClr val="1F2A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A2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DDE5E4"/>
              </a:solidFill>
              <a:prstDash val="solid"/>
              <a:round/>
            </a:ln>
          </c:spPr>
        </c:majorGridlines>
        <c:title>
          <c:tx>
            <c:rich>
              <a:bodyPr/>
              <a:lstStyle/>
              <a:p>
                <a:pPr>
                  <a:defRPr sz="1200" b="0" i="0" u="none" strike="noStrike">
                    <a:solidFill>
                      <a:srgbClr val="0E3B39"/>
                    </a:solidFill>
                    <a:latin typeface="+mn-lt"/>
                  </a:defRPr>
                </a:pPr>
                <a:r>
                  <a:rPr sz="1200" b="0" i="0" u="none" strike="noStrike">
                    <a:solidFill>
                      <a:srgbClr val="0E3B39"/>
                    </a:solidFill>
                    <a:latin typeface="+mn-lt"/>
                  </a:rPr>
                  <a:t>% of testable duplications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E3B3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deck documents the whole experiment: the hackathon context, the prompts, how the AI team decided on the method, the method itself, the results, every hypothesis considered, and what the experience says about AI-led research. The agent was Claude Opus 5.5 acting as principal investigator (PI) and delegating to Opus 5.5 / Sonnet 5.5 subagents. Round 1 took about 13.6 h, round 2 about 17.4 h (about 31 h in total). The date field is left blank on purpose. Source: report/REPORT.md (version note), RESEARCH_TREE.md.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 (github.com/evocellnet/ai-hackathon) was run by four labs to assess the bioinformatics capabilities of agentic AI. Each project gives Claude Opus 5.5 a 'predict X' problem; it delegates to Opus/Sonnet subagents, builds, benchmarks and writes up a method with minimal human intervention. Humans verify the methodology and benchmarking afterwards. Hackathon projects run on the ETH Euler cluster. Our project is a phase-2 project that ran on a different university cluster, inside a Singularity container in a /scratch folder: 24 CPUs and 150 GB in round 1; 48 CPUs, 500 GB and one A100 GPU in round 2. Blanks for the dates and number of participants are left for the organisers to fill. Source: hackathon README; PROMPT.md; PROMPT_ROUND2.md.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 project flow, as provided by the organisers (image credit: hackathon organisers). Phase 1, Predict X: method projects such as pocket finding, ligand docking, orthology benchmarks, MS data analysis, kinase targets, gene essentiality, protein stability, fine-mapping and colocalisation. Phase 2, Models and datasets: each method is applied at scale (AFDB pocket atlas, pocket similarity, ortholog calls, MS reprocessing, kinase activity, stability atlas, locus-to-gene atlas). Phase 3, Discovery: projects that combine them (protein-universe similarity, protein complex evolution, kinase function, cancer dependencies, variant testing, QTL buffering). Source: report/slides/img/hackathon_project_flow.png (supplied by the organisers).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Placing this project in the organisers' flow. It is a Phase-2 project (workspace phase2-multicellularity) built on the output of the Phase-1 orthology project: Orthology benchmarks produced Ancestra, which feeds the Phase-2 'Ortholog calls' step; this project applies Ancestra to reconstruct ancestral gene content at the origins of multicellularity. In round 2 it also touched the Phase-3 'Protein complex evolution' idea (orthology plus co-fractionation mass spectrometry), using the published LECA complex map of Cox et al. 2026. The project does not appear as its own box in the official diagram; its exact position is to be confirmed by the organisers. Source: report/slides/img/hackathon_project_flow.png; PROMPT.md; report/REPORT.md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 hackathon projects as listed in the hackathon README. Orthology prediction produced Ancestra, the tool this project builds on: our multicellularity study is a phase-2 project that uses Ancestra and its results (highlighted). Source: hackathon README (Projects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project repository and report starts with a human-written disclosure (quoted in shortened form). It says the work is an exercise in assessing agentic AI, that results were generated entirely by AI with minimal human intervention, that it is not a traditional publication, and that no result has yet been verified by a human. Our project-specific line: investigate multicellularity across the tree of life, executed by Claude Opus 5.5 with Opus/Sonnet subagents. Source: hackathon README (AI disclosure header); README.md; report/REPORT.md.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the prompts. Source: PROMPT.md (round 1, about 1,470 words, saved verbatim), PROMPT_ROUND2.md (round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round-1 prompt (PROMPT.md) splits cleanly into two kinds of instructions. GENERAL parts (teal) are a reusable recipe for any agent-run project: the agent is the PI and delegates; a time budget (48 h allocation) with milestones and START.txt; hardware and sandbox (24 CPUs, 150 GB, no GPU); literature review and design critique in at most three review rounds; reproducibility rules (never change metrics to look better, fixed seeds, DATA.md, verification by an agent that did not produce the result); a research tree with a status legend; a LESSONS file; reporting and writing standards; and the human disclaimer. PROJECT-SPECIFIC parts (orange) define the science: kinds of multicellularity (clonal, aggregative, facultative, grey zones), the use of Ancestra to reconstruct ancestral genomes before and after the transitions, datasets (reference proteomes, EukProt, LukProt and 'Eukaryoma'), a menu of analyses (gain, duplication, loss, enrichment, ancestral structure, domain expansion), and the question of detecting a shift in selection pressure in sequences or structures. Source: PROMPT.md.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round-2 prompt (PROMPT_ROUND2.md) added resources (48 CPUs, 500 GB, one A100 GPU, about 30 h soft deadline), asked for a department-head review (Fable agent) of round 1 to be published, and listed seven scientific points: (1) 'Eukaryoma' was a misunderstanding: it is EukaryOMA, a precomputed orthology database; (2) 3D structures: use Ancestra's structure mode, predicting structure letters with ProstT5 on the GPU; (3) the step from simple to complex multicellularity; (4) increased resolution: one Ancestra run per multicellularity event; (5) linear-motif binding domains, cell-death genes and cell-type transcription factors; (6) specific Pfam families and their domain architectures; (7) proteomics: protein complexes from the Marcotte co-fractionation study. Source: PROMPT_ROUND2.md.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between rounds. A department-head reviewer (Fable agent) read the round-1 report and research tree and wrote a one-page review, published at https://claude.ai/artifact/NfrexbqRBFmS3A97VvTqcR. Wrong or weak: averaging seven very different origins with 13-35% power at a 1.5-fold effect; overstated validation (deep-node positive controls failed 0 of 3); EukaryOMA wrongly declared not found. Good: hashed pre-registration, a calibrated null, simulated gain inflation, independent re-derivation, and the diagnosis of positive-control failures; two leads (simple-to-complex novelty, new domain architectures on the animal stem). Not evaluated: EukaryOMA cross-check, per-event dense runs, simple-to-complex step, specific Pfam families. Source: reviews/round2_department_head_review.txt; reviews/review_round1.html.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timeline, team and key numbers. Source: RESEARCH_TREE.md; report/REPORT.md.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of both rounds from the research tree milestones. Round 1 started 2026-10-28 12:21 and ended with the final report at 01:55 the next night (13.6 h): literature at t=0.4 h, pre-registration frozen at 14:25, the large eukaryote Ancestra run finished 22:36, all tests and the report by 01:55. Round 2 started 2026-10-29 15:07 with the department-head review and a new plan (15:41), eight dense panels built by 17:33, the confirmatory family closed at 22:03, structure analyses finished 05:20, verification and the final report by 08:31 on 30 October (17.4 h). Between the rounds the human read the report and wrote the round-2 prompt. Source: RESEARCH_TREE.md (M0-M5, R2-M0-R2-M4); START.txt; START_ROUND2.txt.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structure. The human gave two prompts and will verify the results. A PI agent (Claude Opus 5.5) planned, delegated, reviewed and integrated, and kept the research record (research tree, lessons, decisions). Subagents (Opus 5.5 or Sonnet 5.5) did literature review, data building, analysis, design review (external PI, evolutionary biology, statistics, data/compute, AI failure modes), independent adversarial verification, citation and numbers audits, and writing and figures. A separate Fable agent acted as department head and reviewed round 1 and the final report. Subagents wrote plain-text summaries so that the PI could keep its context lean. Source: report/REPORT.md §11; RESEARCH_TREE.md;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numbers. Round 1: 187 eukaryotic and 82 prokaryotic proteomes, 2.97 million eukaryotic proteins (36 from transcriptomes). Round 2: eight dense panels with 227 proteomes (3.06 million proteins), 9 Ancestra reconstructions (8 panels plus one sensitivity panel without de novo proteomes), in addition to the two round-1 runs; 3 frozen pre-registrations as git tags (prereg-v1, prereg-r2, prereg-r2-p1); 16 literature hypotheses from about 250 references; every confirmatory number re-derived by an agent that did not produce it, and 2 claims overturned by that verification; about 31 h of wall time. Source: report/REPORT.md §2, §4, Methods; RESEARCH_TREE.md (M1, D11-D15).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 decision process. Source: RESEARCH_TREE.md (decision log D0-D16); DESIGN.md; DESIGN_ROUND2.md; PREREG.md.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flow used in both rounds. A literature review (LITERATURE.md, 16 hypotheses) fed a design (DESIGN.md), critiqued by independent agent reviewers in three rounds in round 1 (5 reviewers, then 3, then a pre-registration audit) and one round of 3 reviewers in round 2. The design was then frozen with hashed inputs and a git tag before any reconstruction output existed. Pilots and calibration (simulated genomes, null calibration on the real tree, GPU pilot) came before long runs. After the runs, an agent that did not produce a result re-derived it; then an external senior review and a numbers audit preceded the report. The department-head review of round 1 closed the loop into round 2. Source: RESEARCH_TREE.md M1-M2, R2-M0; report/REPORT.md §3,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round-1 decisions. D0 (t=0): eukaryote and prokaryote reconstructions kept separate, because orthology across domains adds cost and no transition spans domains; the 1.4 h prokaryote run became the pipeline dry run, recovering both prokaryotic positive controls. Method calibration before results: on simulated genomes Ancestra inflated gene gains 2.1-2.6-fold (an old family split into several groups makes old genes look new), so gains were filtered to sequence-novel ones (no DIAMOND hit outside the clade), and a burst of novelty would be claimed only above 2.2-fold (Dev-4), fixed before eukaryote output existed. D6: on the real tree the planned relabelling null was anti-conservative (14.5% false positives at alpha 0.05), so a calibrated permutation scheme (4.9%) became primary. Source: RESEARCH_TREE.md D0, D6, M2, M3; report/REPORT.md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round-2 decisions. After the review, eight dense per-event panels replaced one giant run: small runs avoid the giant similarity component that joined 73% of round-1 proteins, and each took 15-45 min; all used the fast preset, on which the 2.2-fold bias rule was calibrated. The confirmatory simple-to-complex novelty test (P1) was restricted to events with no round-1 novelty value and frozen (tag prereg-r2-p1) before their reconstructions existed, to avoid testing a lead on the data that suggested it; the cost was low power (18-41%). The rule for Ancestra's structure mode (adopt only if deep-node controls improve and EukaryOMA agreement does not fall) was fixed before any structure-mode output; it failed (23.3% to 20.7%), so the default was kept. Source: report/REPORT.md §3, §4, §8.2; RESEARCH_TREE.md D11-D15.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 method explainers. Source: report/REPORT.md §1.3, §4-§9; external/ancestra-mvp-ai/README.md.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Ancestral gene content: given the proteins of living species and their family tree, infer which genes their common ancestors had. Genes are grouped into families (descendants of one ancestral gene). Reading the tree branch by branch gives gains (a family first appears), duplications (one ancestral gene becomes two) and losses. A hierarchical orthologous group (HOG) is a family seen at one level of the tree: each HOG at a node is one inferred ancestral gene. Schematic: the duplication of family 2 and the gain of family 3 on one branch; the gain of family 4 later; the loss of family 3 in species E. Source: report/REPORT.md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Ancestra (github.com/evocellnet/ancestra-mvp-ai) was itself built by AI agents in another hackathon project. Step 1: a reference-free family step clusters proteins with DIAMOND (no all-against-all search, no reference database), with a Leiden cap on giant components. Step 2: similarity is computed only inside families. Step 3: a level-synchronous merge walks the guide species tree from the tips to the root; at each node the ancestral genes of the child lineages are merged by mutual best matches and in-paralog absorption; ambiguous clusters get a small local tree (accurate preset: FastTree; fast preset: neighbour joining). Each merged ancestral gene is a HOG. The lower figure is Ancestra's own method figure, reused with credit. Source: external/ancestra-mvp-ai/README.md; docs/figures/fig1_method.png.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with other approaches. Common to all orthology methods: homology inferred from sequence similarity, usually as a graph; OMA/FastOMA, Hieranoid and Ancestra report HOGs at every level of a species tree (Hieranoid and Ancestra build them bottom-up). OrthoFinder gives orthogroups and gene trees that need a separate step to be mapped to ancestors. Pfam presence/absence with Dollo or Count parsimony skips orthology and reconstructs copy numbers on the tree. Ancestra's difference: a reference-free family step feeding a level-synchronous merge over all families at once. Benchmarks from the Ancestra README: OrthoBench test F (36 held-out reference groups) and QfO 2022 SwissTree recall (TPR). Caveats: on OrthoBench non-inferiority to OrthoFinder and SonicParanoid2 is not shown (wide intervals); on QfO Ancestra's recall is clearly below OrthoFinder (0.721 vs 0.825); OMA comparators are not independent of the benchmark. In this project, round-2 family tests used Pfam counts with phylogenetic regression, and EukaryOMA (OMA/FastOMA) served as the cross-check. Source: external/ancestra-mvp-ai/README.md (headline results); LITERATURE.md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Gains are the least certain quantity. If a method splits one old family into two groups, one of them appears to arise on an inner branch: a false gain. On simulated genomes Ancestra inflated gains 2.1-2.6-fold. The project therefore used a novelty ladder: a gain counts as sequence-novel only if none of up to three representative proteins has a DIAMOND hit (E &lt;= 1e-5, &gt;= 30% query coverage) to any protein outside the clade. In the round-2 panels 41-80% of Ancestra's gains were sequence-novel. In round 2 a structural search (Foldseek) found that about half of sequence-novel families have a structural relative outside their clade, so sequence novelty still overstates true novelty. Source: report/REPORT.md §2, §4, §8.3.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branches are compared with control branches: internal branches inside unicellular lineages that are not events. A regression fitted on control branches (negative binomial: branch length, number of descendant species, data quality, distance to the outgroup) predicts how many sequence-novel families a branch should have; the rate ratio is observed divided by predicted. The tip-versus-internal artefact: a gain on a tip (single-species) branch is any gene of that species without a detectable relative, including orphan genes and mis-predicted gene models. Against internal controls every kind of tip scores high whatever its biology: unicellular tips with no event 8.1-fold, origin tips 19-fold, reversal tips 20.7-fold, simple-to-complex tips 40.8-fold. Tips must be compared with tips. Source: report/REPORT.md §6.1, §6.3; Figure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Phylogenetic generalised least squares (PGLS): related species share ancestry, so they are not independent data points. PGLS is a regression whose residuals are correlated according to the species tree, with the strength of that correlation estimated as Pagel's lambda. The family tests asked whether multicellular species carry more copies of a family set than unicellular species of the same proteome size (covariates: log proteome size and disordered fraction), on 148 genome-based proteomes. The right panel is a schematic with illustrative data. Source: report/REPORT.md §7.1 (Pagel 1999; Ho &amp; Ane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Pre-registration: the design, test statistics and inputs were written down, hashed (sha256) and tagged in git before any relevant output existed (round 1: prereg-v1 with 15 hashed inputs; round 2: prereg-r2 for design and family lists, prereg-r2-p1 for the four confirmatory events). Every later change was logged as a dated deviation with a 'Seen:' line saying which results were visible. Holm correction: with three confirmatory tests, the smallest p-value must beat 0.05/3, the next 0.05/2, the last 0.05; testing stops at the first failure. Cell death (p = 0.0047) beat 0.0167; simple-to-complex novelty (p = 0.0504) did not beat 0.025; motif-binding (p = 0.72) was null. Source: report/REPORT.md §3, §6.2, §7, Methods; PREREG_HASHES.tsv; data/r2_prereg/PREREG_R2_HASHES.tsv.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Predicting full 3D structures for three million proteins was not feasible in the time available. Foldseek describes each residue of a structure by one of 20 3Di letters (local geometry of contact with its nearest neighbour), so a structure becomes a searchable string. ProstT5, a protein language model, predicts 3Di letters directly from sequence. A pilot showed Foldseek's GPU build silently ran the model on the CPU (15 proteins/s); the team's own implementation of the ProstT5 encoder and prediction head ran at 48 proteins/s on the A100, agreed with Foldseek's ProstT5 output at 97.1% of residues, and matched letters computed from AlphaFold models at 65.5% of residues (chance 16.7%; always the commonest letter 31.4%; published range 41-65%). Source: report/REPORT.md §8.1; RESEARCH_TREE.md R2-3, R2-4 (van Kempen et al. 2024; Heinzinger et al.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EukaryOMA (eukaryoma.unil.ch, release All.Oct2026) is a precomputed orthology database for 1,328 eukaryotic genomes built with OMA/FastOMA. 125 of our 187 species have a EukaryOMA genome; 87.1% of our proteins were mapped by identical sequence or reciprocal best hits. Both sets of HOGs were restricted to the shared species, stripped of their own branch labels, and placed on the same pruned tree by the same parser; a family's origin is the common ancestor of its members. Then: do both methods place the origin of the same family on the same branch? On six transition stems, 29% of Ancestra's stem gains (540 of 1,859) were placed on the same stem by EukaryOMA. It is a cross-method check on largely the same proteins, not independent data. Source: report/REPORT.md §5; Supplement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Round-2 design. Eight dense panels (18-40 proteomes each, 227 in all), each built around one or a few origins with as many related genomes as were available, with a fixed rooted species tree and a table of coded events (59 in total: origins, nested simple-to-complex events, reversals). Each reconstruction took 15-45 min, against about 9-10 h for round 1's single eukaryote run. Panels sharpen single events but do not add independent origins, and most panels have only 5-9 control branches, which limits every per-event test. Figure: report Figure 1a-b (panels by state and coded events by kind). Source: report/REPORT.md §4, Table 1, Figure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 main results. Master source: report/REPORT.md.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compared the transition stems of seven independent eukaryotic origins (animals, fungal hyphae, dictyostelids, streptophytes, red algae, brown-algal lineage, volvocine algae) with matched control branches. None of the five pre-registered primary tests (sequence-novel gains, transcription-factor duplications, adhesion/signalling duplications, flagellar loss, protein evolutionary rate) was significant after Holm correction (smallest adjusted p = 0.10). The gene-content tests had only 13-35% power at a 1.5-fold effect, so they are absence of evidence; the rate test, however, excludes a 1.5-fold or larger average shift (pooled rate ratio 1.10, 95% CI 0.96-1.26). Figure: round-1 Figure 3. Source: report/REPORT_round1.md; report/REPORT.md §2; RESEARCH_TREE.md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checked the reviewer's points with new scripts. The depth imbalance between stems and controls was 2.06, not 1.77, control standard deviations. Positive controls were overstated as validation of Ancestra: of the 10 controls that need Ancestra to place an event on a branch, 7 passed, but one is a null control; excluding it, 6 of 9 passed, and all three deep-node placement controls failed. The rate test depended on a random seed (p 0.19-0.61); the exact, orientation-averaged version over 1,024 orientations gives p = 0.31. The power table had used placeholder branch lengths (re-running changed no value by more than 0.025), and the round-1 record had wrongly declared EukaryOMA not found. None changes a round-1 conclusion. Source: report/REPORT.md §2; results/round1_errata/ERRATA.txt.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Ancestra and EukaryOMA place the origin of only a minority of the same gene families on the same branch: 29% of Ancestra's stem gains (540 of 1,859) are placed on the same stem by EukaryOMA, only 9% in the other direction; duplications agree in 4-8% of cases on stems and controls alike. On the animal stem Ancestra reports about 6,600 duplications and 804 new families, EukaryOMA 196 duplications and 2,502 new families. Stems do not agree better than controls once branch depth is taken into account (depth-adjusted expectation 22-24.7%). A count of new families or duplications on a stem therefore says as much about the method as about the biology. Figure: report Figure 2a-b. Source: report/REPORT.md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Confirmatory test P1: four simple-to-complex events never analysed in round 1 (Astrephomene, Volvox carteri, Volvox africanus/reticuliferus, the Fucophycidae brown-algal stem). Combined one-sided p = 0.0504 (Holm-adjusted 0.10): not significant. A variant with an undocumented branch-length floor gives 0.072. The large per-event ratios (13.6 and 14.9) belong to the two single-species tip events, and every kind of tip scores high against internal controls (panel b). Compared tip with tip, Astrephomene scores 0.56 and V. carteri 0.80, combined p = 0.49. Three of the four events share one panel and its controls; treated as one effect per panel, the smallest attainable p (0.031) cannot pass Holm. Figure: report Figure 3a-b. Source: report/REPORT.md §6.2-6.3.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Restricted to internal branches, seven simple-to-complex events (Pezizomycotina, Agaricomycetes, land plants, V. africanus/reticuliferus, Florideophyceae, Fucophycidae, heterocystous Nostocales) pool to a rate ratio of 2.81 (95% CI 1.34-5.89) as specified (2.70 as implemented, plotted), against 0.82 for twelve internal origins from unicellular ancestors. This is the one gene-content lead that survives round 2, but it is weak: three of seven events were already seen in round 1, it was not pre-registered, events lie deeper than controls, and the lower bound does not clear the 2.2-fold method-bias threshold (itself from a single simulation). Figure: report Figure 3d. Source: report/REPORT.md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Confirmatory test P3: 22 pre-defined cell-death families (caspases, metacaspases, NB-ARC, NACHT, HET, HeLo, gasdermins, Bcl-2 and others; 12 kept by the pre-set rule). On 148 genome-based proteomes, PGLS with proteome size and disorder as covariates: multicellular species carry +0.167 SD more (95% CI 0.042-0.293), one-sided p = 0.0047, a geometric-mean 1.21-fold excess (1.04-1.42); Holm-adjusted p = 0.014. The excess is concentrated in complex multicellularity (+0.249, p = 0.0005; simple +0.111, p = 0.073). Robust to leaving out any origin or family, reproduced independently; but without the ten largest proteomes the effect shrinks about 28% (p = 0.025) and as a share of the proteome it is not significant (p = 0.14): 'more than expected for proteome size'. Figure: report Figure 4a. Source: report/REPORT.md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extra cell-death proteins are (descriptive follow-up on 9,031 proteins carrying any of the 22 domains). Complex species carry on average 138 cell-death proteins, simple multicellular 18, unicellular 22. Land plants: NB-ARC proteins with leucine-rich repeats (plant NLR immune receptors; +84 per species vs Zygnematophyceae). Red algae: NB-ARC with WD40 repeats (+29). Filamentous fungi: HET domains (+37) and NACHT proteins with WD40 or ankyrin repeats (non-self recognition). Animals: death-fold adaptors (Death, CARD, DED), NACHT, caspases, Bcl-2, BIR. Dictyostelids and volvocines: no excess. Not one shared cell-death program: convergence on a function using different receptor architectures. Figure: report Figure 5a. Source: report/REPORT.md §7.3 (Jones &amp; Dangl 2006; Dyrka et al.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Confirmatory test P2: 115 Pfam families that bind short linear motifs (SH2, SH3, PDZ, WW, 14-3-3 and others, from the ELM resource) show no excess in multicellular species: -0.028 SD (95% CI -0.124 to 0.067), one-sided p = 0.72, a 0.98-fold ratio; six of seven leave-one-origin-out estimates are negative. A Bayesian count model gave a small positive estimate (sensitivity; read as a null with unresolved model dependence). Eleven cell-type transcription-factor families (exploratory): +0.032 SD (-0.088 to 0.152), p = 0.30. Known expansions reappear within single origins (T-box and Runt in animals, TEA in hyphal fungi, SBP in land plants). Figure: report Figure 4b-c (leave-one-out; proteome-size sensitivity of cell death). Source: report/REPORT.md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Predicted structure letters are accurate enough to search with (65.5% residue agreement with AlphaFold-derived letters; panel a). Ancestra's optional structure mode rescues small families into large ones by structural similarity; the rule fixed before any output: replace the default only if the deep-node positive controls improve and agreement with EukaryOMA does not fall. On the Holozoa panel the rescue attached 25,035 small families to 2,400 large ones (a guard confirmed only 17%); deep-node controls stayed 1 of 3 in all three runs; agreement with EukaryOMA on new families at the two animal stems was 23.3% (default), 20.7% (structure) and 21.5% (with guard). The rule failed; the default was kept. One panel, one preset. Figure: report Figure 7a-b. Source: report/REPORT.md §8.1-8.2.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novelty: event branches first seemed to carry more structurally unmatched sequence-novel families than controls (43.7% vs 33.3%, odds ratio 1.44, p = 0.004). An adversarial verifier showed unmatched families are much shorter (median 211 vs 519 aa) and more disordered: 'no detectable fold', not 'new fold'. Adjusted for length, disorder, family size, depth and search space, the odds ratio fell from 1.50 to 1.18 (0.93-1.49), and an exhaustive search found homologues for 21% of 'unmatched' families. Structure-per-sequence change: inside multicellular crowns 3Di change per amino-acid change was 7-12% higher, but a shuffled-letter negative control gave a comparable, in animals twice as large, effect (0.222 vs 0.110). Inconclusive. Figure: report Figure 7c-d. Source: report/REPORT.md §8.3-8.4.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Cox et al. (2026) reconstructed protein complexes of the last eukaryotic common ancestor (LECA) from co-fractionation mass spectrometry in 31 species. Only this published LECA map was used (raw elution profiles not reanalysed); it contains only complexes conserved across eukaryotes. Among testable duplications (13 species mappable through UniProt), 66.6% on the animal stem and 72.1% on the fungal-hyphae stem involved a complex subunit, against 63.6% on control branches; brown-algal and volvocine stems were depleted; no complex was enriched across stems after correction; co-retention was, if anything, slightly lower in multicellular species. Treated as a null. Source: report/REPORT.md §9; Supplement S7.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Addendum added after publication at the project lead's request; exploratory. Instead of averaging effects across origins, count in how many independent origins (or events) a result is significant on its own and compare that count with what chance alone would give. Result: new gene families 0 of 7 origins, transcription-factor duplications 0 of 7, adhesion and signalling 0 of 7, flagellar-gene loss 0 of 6, so each origin is null on its own; counting does not rescue the nulls. Two tiers go slightly beyond chance nominally: new multi-domain architectures 2 of 7 (chance P = 0.04, Holm 0.65) and simple-to-complex steps in the focused panels 3 of 6 top-ranked (P = 0.04, Holm 0.17); neither survives correction. Caveat: this view cannot add per-event power; it avoids diluting a signal that is confined to a few origins, and each tier must be compared with its own chance expectation. Sources: results/r2/recurrence_ladder/summary.txt; results/r2/verification/recurrence_ladder/VERIFICATION.txt; report/REPORT.md section 12 (Figure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Addendum added after publication at the project lead's request; exploratory. Question: are the same gene families expanded (or contracted) in several of the seven origins more often than a family shuffle predicts? Expansions: 42 families significant in at least two origins versus 54 expected, so no excess. Contractions: 157 versus 90 expected, but this is largely an artefact of transcriptome-based sister groups; restricted to genome-based sisters it is 29 versus 18. Two families pass correction (PDEase_I and Vint, q = 0.07). NB-ARC is expanded in animals, red algae and land plants (a nested step), but this is not beyond chance when only primary origins are used (P = 0.09). Figure shows panel (b), families expanded in the multicellular clade; panel (c) (contractions) is in the report. Sources: results/r2/recurrence_ladder/summary.txt; results/r2/verification/recurrence_ladder/VERIFICATION.txt; report/REPORT.md section 12 (Figure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take-home messages. (1) No large shared genomic signature across origins; the average protein evolutionary rate did not shift 1.5-fold or more. (2) The one confirmed signal: about 1.2-fold more cell-death proteins than expected for proteome size, mostly in complex lineages, made of lineage-specific immune and self/non-self receptors. (3) Counts of new families and duplications on a branch depend on the orthology method (29% agreement). (4) Tip branches look novel whatever their biology; compare tips with tips. (5) Predicted structure is a good search tool but did not help Ancestra and gave no robust evolutionary signal. Source: report/REPORT.md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G: all hypotheses. H1-H16 come from LITERATURE.md §7 and were pre-registered or explored in round 1 (verdicts in results/literature_scorecard.tsv). Round-2 tests come from DESIGN_ROUND2.md §6 and report/REPORT.md. Verdict colours: green supported; red not supported / null / overturned; amber not detected at this power or not significant; blue exploratory lead; grey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all hypotheses and verdicts. Round 1 (H1-H16, LITERATURE.md §7): five pre-registered primary tests (H1/H2, H4, H5, H9, H12); others exploratory or cut for time. Round 2: three confirmatory tests (P1 simple-to-complex novelty, P2 motif-binding domains, P3 cell death) and exploratory analyses (structure, complexes). Sources: results/literature_scorecard.tsv; report/REPORT.md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(co-option precedes the transition) and H2 (burst of novelty) were tested as one comparison: sequence-novel gains per stem, observed versus expected from matched controls, with a co-option index as companion. Result: pooled observed/expected 1.67 (0.64-4.34), parametric-bootstrap p = 0.113, Holm 0.45; below the 2.2-fold method-bias threshold. Co-option index 0.80-1.00: 80-100% of expanded Pfam families were present before the transition in all seven origins (descriptive support for co-option). Minimum detectable effect 2.4-5.9-fold, so not detected at this power. Sources: LITERATURE.md §7; results/literature_scorecard.tsv; report/REPORT_round1.md.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gradual pre-adaptive accumulation: multicellularity-related genes accumulate on branches leading to the transition, not only on the transition branch. It was listed as exploratory in the design but not run (pre-transition accumulation on outgroup ancestors was not analysed). Sources: LITERATURE.md §7; results/literature_scorecard.tsv.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H4: TF families expand at the transition, most strongly in complex lineages. Round 1 (primary): share of stem duplications in TF DNA-binding-domain HOGs vs matched controls, T = 0.548, p = 0.361, Holm 0.81, pooled odds ratio 1.16 (0.62-2.19); orthology-free version p = 0.18. Round 2 (exploratory): 11 cell-type TF families, +0.032 SD, p = 0.30. Known expansions reappear within single origins. Sources: results/literature_scorecard.tsv; report/REPORT.md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H5: adhesion/ECM and communication domains expand convergently. Round 1 primary: T = 0.412, p = 0.772, Holm 0.81; pooled odds ratio 0.83 (0.55-1.27); orthology-free version opposite sign. Pfam-wide convergent expansion 370 vs 643 expected (p = 0.79), top hits transposon domains; in round 2, expansions at two or more origins 42 vs 54 expected (p = 0.98), whereas contractions recur (157 vs 90, p = 0.001). Cadherin and integrin positive controls fail in both Ancestra and EukaryOMA: dating a domain gained inside an older family is a general limit. Sources: results/literature_scorecard.tsv; report/REPORT.md §5,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H6: receptor kinases and signalling expand independently in complex lineages but not in fungal hyphae. The receptor-kinase classification (transmembrane or extracellular domains) was not run. The expected null on the fungal-hyphae stem was recovered as positive control C15 (no kinase, adhesion or signalling expansion). Round 2 found one new protein-kinase family at five of seven internal simple-to-complex events (recurrence p = 0.023, q = 0.06; suggestive). Sources: results/literature_scorecard.tsv; report/REPORT.md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H7 (aggregative transitions need new extracellular signals and sensors) and H8 (clonal transitions involve more genomic change than aggregative ones) both concern the aggregative/clonal contrast. H8 was demoted to exploratory at design because aggregative transitions are mostly single species; the signal-peptide/transmembrane predictor for H7 was not run. Only one aggregative primary origin (dictyostelids) was available; the dictyostelid polyketide-synthase control (16 vs 1 proteins per species) was recovered but is not the H7 test. Sources: DESIGN.md §4.2; results/literature_scorecard.tsv.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H9, the non-adaptive drift hypothesis: multicellularity lowers effective population size, leading to faster, less constrained protein evolution. Round 1 primary relative-rate test: pooled rate ratio 1.10 (0.96-1.26), excluding a 1.5-fold or larger average shift; the seed-dependent p was replaced in round 2 by the exact orientation-averaged p = 0.31. Gene-level RER found 0 genes at q &lt; 0.10; radical/conservative substitution tests p = 0.60 and 0.16. Round 2 structure-per-sequence divergence was inconclusive (shuffled-letter control as large as the signal). Sources: results/literature_scorecard.tsv; report/REPORT.md §2, §8.4.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H10: disorder and splicing scale with complexity. Exploratory round-1 analysis on shared single-copy HOGs: disorder rose in 4 of 7 transitions (+0.019 to +0.037) and fell in volvocines and animals; percentiles relative to controls 0.34-0.73. The phylogenetic regression on cell-type number was not run. Sources: results/literature_scorecard.tsv; results/exploratory/euk/summary.md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H11: domain rearrangement and gene fusion increase at complex transitions. Exploratory round-1 result: new multi-domain architectures on stems T = 0.80, p = 0.005; Metazoa 1,131 vs matched-control median 34; survives leave-one-out (p &lt;= 0.017) and the genome-only subset, but not a BUSCO &gt;= 80% completeness filter (p = 0.16); pooled observed/expected 1.02 (0.36-2.91). Flagged by the department head as worth follow-up. Sources: results/literature_scorecard.tsv; reviews/round2_department_head_review.txt.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H12: losses of unicellular functions accompany transitions; reversals lose multicellularity genes. Round 1 primary (flagellar-module loss with pre-registered direction per transition): T = 0.738, p = 0.020, Holm 0.10, not significant after correction; both loss-expected stems (fungal hyphae, dictyostelids) lose all four flagellar modules. The reviewer noted the test is largely a confirmation that spent Holm correction. Reversals (5 yeasts, Zygnematophyceae): odds of losing genes gained at the preceding transition 0.86-1.39 (not supported). Sources: results/literature_scorecard.tsv; reviews/round2_department_head_review.txt.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H13: cell-cycle and cytokinesis control is co-opted on clonal transition branches. Not tested as specified; the clonal vs aggregative contrast was not run. Positive control C11 was recovered: the RB pathway is present at the unicellular volvocine ancestor, consistent with co-option (Hanschen et al. 2016). Sources: results/literature_scorecard.tsv.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H14 (horizontal gene transfer contributes more to non-animal transitions) and H15 (molecular convergence at the level of sites, testable with CSUBST/PCOC) were both cut for time in the round-1 design (DESIGN.md §4.2). They remain open questions for future work. Sources: LITERATURE.md §5.2, §7; DESIGN.md.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H16: regulatory rather than coding change dominates. Only partly testable with proteomes (expected negative results for novelty in volvocines and fungal hyphae, with TF expansions). The report lists it as a limitation: only protein-coding content was studied; regulatory change, which much of the literature emphasises, is invisible here. Sources: LITERATURE.md §7; report/REPORT.md §10.4.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Round-2 confirmatory test P1. Events frozen before reconstructions: Astrephomene, Volvox carteri, V. africanus/reticuliferus (Volvox is polyphyletic), Fucophycidae stem. Combined p = 0.0504 as specified (0.072 as implemented), Holm 0.10; tip artefact explains the large per-event ratios; with one effect per panel the design could not have reached significance. Internal-only exploratory estimate 2.81 (1.34-5.89) vs origins 0.82. Sources: report/REPORT.md §3, §6; DESIGN_ROUND2.md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Round-2 confirmatory test P2: 115 motif-binding Pfam families from ELM; PGLS on 148 genomes; -0.028 SD (95% CI -0.124 to 0.067), p = 0.72, 0.98-fold. A Bayesian phylogenetic count model gave a small positive estimate (sensitivity; considered anti-conservative for many-family sets). Expansion visible within the animal origin and contraction in hyphal fungi: lineage-specific. Sources: report/REPORT.md §7.4; Supplement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Round-2 confirmatory test P3, the one supported test: +0.167 SD, one-sided p = 0.0047, 1.21-fold (1.04-1.42), Holm 0.014; complex vs unicellular +0.249 (p = 0.0005). Robust to leaving out any origin or family; independently re-derived; random prevalence-matched sets reached p &lt; 0.05 in 2.5% of cases. Caveats: without the ten largest proteomes p = 0.025; as share of the proteome p = 0.14; mostly lineage-specific immune and self/non-self receptors; cannot separate developmental cell death from immunity. Sources: report/REPORT.md §7.2-7.3, §10.2.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Round-2 exploratory structure analyses. Structural novelty: unadjusted OR 1.44 (p = 0.004) for structurally unmatched families on event branches; overturned by adversarial verification (length, disorder, depth; adjusted 1.18, 0.93-1.49; exhaustive search found homologues for 21%). A weak simple-to-complex lead remains (family-level adjusted OR 1.73, not significant with branches as units). Structure per sequence change: +7-12% inside crowns, but shuffled control equal or larger. Sources: report/REPORT.md §8.3-8.4.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Round-2 exploratory complex analysis using only the published LECA complex map (raw co-fractionation profiles not reanalysed). Stem duplications show no consistent preference for complex subunits; co-retention slightly lower in multicellular species. Treated as a null because duplication counts are method-dependent. Sources: report/REPORT.md §9; RESEARCH_TREE.md W7.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H. Source: LESSONS.md (14 rules); agents/retrospective_R2.txt; report/REPORT.md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Transferable practices. Hashed pre-registration (3 tags) kept confirmatory tests separate from later sensitivity analyses; next time, also label tests with power below about 40% as estimation. Calibration on simulations and control data (2.1-2.6-fold gain inflation; null false-positive rate 14.5% to 4.9%) should be extended to piloting every statistic on control-only data, including tip/internal comparability, before freezing. Independent adversarial verification overturned two claims; authors should never verify their own results. External senior review steered round 2. Many small dense runs (15-45 min) beat one giant run. A second method (EukaryOMA) gave the most sobering result. GPU and long-run pilots with a device check, and a LESSONS file of 14 rules, should be carried into the next project. Source: LESSONS.md; agents/retrospective_R2.txt; report/REPORT.md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went wrong, briefly. Errata: round 1 overstated three statements, and a final numbers audit of the round-2 report found eight further mismatches (166 of 174 claims matched). Overturned claims: structural novelty at transitions and better cross-method agreement at stems, both already written into summaries. Tool incidents: twice a pattern-based kill command killed its own caller, once leaving a GPU job unsupervised; a wait loop launched an analysis prematurely on four of eight panels; an undocumented branch-length floor changed the confirmatory p from 0.050 to 0.072. Low power: the simple-to-complex test had 18-41% power and, read with its dependence, could never reach significance. Source: report/REPORT.md §11; RESEARCH_TREE.md R2-M4; LESSONS.md rules 5, 8,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Source: report/REPORT.md §10-§11.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AI-led research outcome. Speed: about 31 hours of wall time for two full rounds, including literature review, data assembly of hundreds of proteomes, 11 reconstructions, GPU structure prediction and two reports. Strengths: honest nulls with stated power, self-correction (verification overturned two of the team's own claims; analysis agents caught the tip artefact themselves), a complete audit trail (pre-registration, dated deviations with 'Seen:' lines, research tree). Weaknesses: confirmatory tests frozen with known low power, design problems found only after seeing data, undocumented analysis choices, lagging records and tool handling. The outcome is a careful, mostly negative study whose clearest product is methodological: where ancestral gene-content reconstruction cannot yet be trusted. Nothing has been verified by a human yet. Source: report/REPORT.md §11; agents/retrospective_R2.txt.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possibilities. Human verification of methodology and benchmarking is pending (the disclaimer will be updated). Data: EukaryOMA's 1,328 genomes and new genome sisters for transcriptome-only lineages. Method: better orthology at deep nodes and domain-level dating (cadherin-like innovations are new domain combinations inside old families); calibrating the gain bias with a gene-birth simulator (recommended, not done). Structure at scale: 3Di prediction stopped at 271 of 322 proteomes; full coverage and 3D models would allow real fold analyses. Biology: the cell-death/immune-receptor result invites experimental and population-level follow-up (developmental cell death vs immunity); regulatory change needs non-protein data. Source: report/REPORT.md §10.3-10.4; RESEARCH_TREE.md R2-M4.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Final report page: https://claude.ai/artifact/9rkyi2Xwe1VyhCgUcjZuoJ. Department-head review of round 1: https://claude.ai/artifact/NfrexbqRBFmS3A97VvTqcR. Repository paths: report/REPORT.md (final report), report/REPORT_SUPPLEMENT.md, report/REPORT_round1.md, RESEARCH_TREE.md, LESSONS.md, LITERATURE.md, reviews/. The public GitHub URL of this project's repository is left blank for the PI. Added after publication (project lead's request): report/REPORT.md section 12 and results/r2/recurrence_ladder/summary.txt. Source: RESEARCH_TREE.md R2-M4; report/REPORT.md Data and code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pic>
        <p:nvPicPr>
          <p:cNvPr id="2" name="Image 0" descr="/scratch/spascare/agentic-ai/workspaces/phase2-multicellularity/report/slides/img/motif_teal.png">    </p:cNvPr>
          <p:cNvPicPr>
            <a:picLocks noChangeAspect="1"/>
          </p:cNvPicPr>
          <p:nvPr/>
        </p:nvPicPr>
        <p:blipFill>
          <a:blip r:embed="rId1"/>
          <a:stretch>
            <a:fillRect/>
          </a:stretch>
        </p:blipFill>
        <p:spPr>
          <a:xfrm>
            <a:off x="8732520" y="1417320"/>
            <a:ext cx="2743200" cy="2743200"/>
          </a:xfrm>
          <a:prstGeom prst="rect">
            <a:avLst/>
          </a:prstGeom>
        </p:spPr>
      </p:pic>
      <p:sp>
        <p:nvSpPr>
          <p:cNvPr id="3" name="Text 0"/>
          <p:cNvSpPr/>
          <p:nvPr>
            <p:ph idx="101" type="title" hasCustomPrompt="1"/>
          </p:nvPr>
        </p:nvSpPr>
        <p:spPr>
          <a:xfrm>
            <a:off x="731520" y="155448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474720"/>
            <a:ext cx="768096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pic>
        <p:nvPicPr>
          <p:cNvPr id="2" name="Image 0" descr="/scratch/spascare/agentic-ai/workspaces/phase2-multicellularity/report/slides/img/motif_teal.png">    </p:cNvPr>
          <p:cNvPicPr>
            <a:picLocks noChangeAspect="1"/>
          </p:cNvPicPr>
          <p:nvPr/>
        </p:nvPicPr>
        <p:blipFill>
          <a:blip r:embed="rId1"/>
          <a:stretch>
            <a:fillRect/>
          </a:stretch>
        </p:blipFill>
        <p:spPr>
          <a:xfrm>
            <a:off x="8961120" y="1920240"/>
            <a:ext cx="2377440" cy="2377440"/>
          </a:xfrm>
          <a:prstGeom prst="rect">
            <a:avLst/>
          </a:prstGeom>
        </p:spPr>
      </p:pic>
      <p:sp>
        <p:nvSpPr>
          <p:cNvPr id="3" name="Text 0"/>
          <p:cNvSpPr/>
          <p:nvPr>
            <p:ph idx="101" type="title" hasCustomPrompt="1"/>
          </p:nvPr>
        </p:nvSpPr>
        <p:spPr>
          <a:xfrm>
            <a:off x="731520" y="1874520"/>
            <a:ext cx="786384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scratch/spascare/agentic-ai/workspaces/phase2-multicellularity/report/slides/img/motif_teal.png">    </p:cNvPr>
          <p:cNvPicPr>
            <a:picLocks noChangeAspect="1"/>
          </p:cNvPicPr>
          <p:nvPr/>
        </p:nvPicPr>
        <p:blipFill>
          <a:blip r:embed="rId1"/>
          <a:stretch>
            <a:fillRect/>
          </a:stretch>
        </p:blipFill>
        <p:spPr>
          <a:xfrm>
            <a:off x="11155680" y="429768"/>
            <a:ext cx="502920" cy="502920"/>
          </a:xfrm>
          <a:prstGeom prst="rect">
            <a:avLst/>
          </a:prstGeom>
        </p:spPr>
      </p:pic>
      <p:sp>
        <p:nvSpPr>
          <p:cNvPr id="3" name="Text 0"/>
          <p:cNvSpPr/>
          <p:nvPr>
            <p:ph idx="101" type="title" hasCustomPrompt="1"/>
          </p:nvPr>
        </p:nvSpPr>
        <p:spPr>
          <a:xfrm>
            <a:off x="548640" y="292608"/>
            <a:ext cx="1042416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pic>
        <p:nvPicPr>
          <p:cNvPr id="2" name="Image 0" descr="/scratch/spascare/agentic-ai/workspaces/phase2-multicellularity/report/slides/img/motif_light.png">    </p:cNvPr>
          <p:cNvPicPr>
            <a:picLocks noChangeAspect="1"/>
          </p:cNvPicPr>
          <p:nvPr/>
        </p:nvPicPr>
        <p:blipFill>
          <a:blip r:embed="rId1"/>
          <a:stretch>
            <a:fillRect/>
          </a:stretch>
        </p:blipFill>
        <p:spPr>
          <a:xfrm>
            <a:off x="11155680" y="429768"/>
            <a:ext cx="502920" cy="502920"/>
          </a:xfrm>
          <a:prstGeom prst="rect">
            <a:avLst/>
          </a:prstGeom>
        </p:spPr>
      </p:pic>
      <p:sp>
        <p:nvSpPr>
          <p:cNvPr id="3" name="Text 0"/>
          <p:cNvSpPr/>
          <p:nvPr>
            <p:ph idx="101" type="title" hasCustomPrompt="1"/>
          </p:nvPr>
        </p:nvSpPr>
        <p:spPr>
          <a:xfrm>
            <a:off x="548640" y="292608"/>
            <a:ext cx="1042416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4.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4.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4.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4.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4.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4.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1.png"/><Relationship Id="rId3" Type="http://schemas.openxmlformats.org/officeDocument/2006/relationships/slideLayout" Target="../slideLayouts/slideLayout4.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4.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4.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4.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4.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4.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slideLayout" Target="../slideLayouts/slideLayout4.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4.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4.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4.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4.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4.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4.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4.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slideLayout" Target="../slideLayouts/slideLayout4.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4.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4.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4.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4.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image" Target="../media/image-66-7.png"/><Relationship Id="rId8" Type="http://schemas.openxmlformats.org/officeDocument/2006/relationships/slideLayout" Target="../slideLayouts/slideLayout4.xml"/><Relationship Id="rId9"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slideLayout" Target="../slideLayouts/slideLayout4.xml"/><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5.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image" Target="../media/image-70-5.png"/><Relationship Id="rId6" Type="http://schemas.openxmlformats.org/officeDocument/2006/relationships/slideLayout" Target="../slideLayouts/slideLayout5.xml"/><Relationship Id="rId7"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hyperlink" Target="https://claude.ai/artifact/9rkyi2Xwe1VyhCgUcjZuoJ" TargetMode="External"/><Relationship Id="rId2" Type="http://schemas.openxmlformats.org/officeDocument/2006/relationships/hyperlink" Target="https://claude.ai/artifact/NfrexbqRBFmS3A97VvTqcR" TargetMode="External"/><Relationship Id="rId3" Type="http://schemas.openxmlformats.org/officeDocument/2006/relationships/slideLayout" Target="../slideLayouts/slideLayout2.xml"/><Relationship Id="rId4"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31520" y="1554480"/>
            <a:ext cx="7680960" cy="1737360"/>
          </a:xfrm>
          <a:prstGeom prst="rect">
            <a:avLst/>
          </a:prstGeom>
          <a:noFill/>
          <a:ln/>
        </p:spPr>
        <p:txBody>
          <a:bodyPr wrap="square" rtlCol="0" anchor="b"/>
          <a:lstStyle/>
          <a:p>
            <a:pPr algn="l" indent="0" marL="0">
              <a:buNone/>
            </a:pPr>
            <a:r>
              <a:rPr lang="en-US" sz="4000" b="1" dirty="0">
                <a:solidFill>
                  <a:schemeClr val="bg1"/>
                </a:solidFill>
              </a:rPr>
              <a:t>From many origins to single events</a:t>
            </a:r>
            <a:endParaRPr lang="en-US" sz="4000" dirty="0"/>
          </a:p>
        </p:txBody>
      </p:sp>
      <p:sp>
        <p:nvSpPr>
          <p:cNvPr id="3" name="Text 0"/>
          <p:cNvSpPr/>
          <p:nvPr>
            <p:ph idx="102" type="body" hasCustomPrompt="1"/>
          </p:nvPr>
        </p:nvSpPr>
        <p:spPr>
          <a:xfrm>
            <a:off x="731520" y="3474720"/>
            <a:ext cx="7680960" cy="1280160"/>
          </a:xfrm>
          <a:prstGeom prst="rect">
            <a:avLst/>
          </a:prstGeom>
          <a:noFill/>
          <a:ln/>
        </p:spPr>
        <p:txBody>
          <a:bodyPr wrap="square" rtlCol="0" anchor="t"/>
          <a:lstStyle/>
          <a:p>
            <a:pPr algn="l" indent="0" marL="0">
              <a:buNone/>
            </a:pPr>
            <a:r>
              <a:rPr lang="en-US" sz="2000" dirty="0">
                <a:solidFill>
                  <a:schemeClr val="bg2"/>
                </a:solidFill>
              </a:rPr>
              <a:t>An AI-run study of the genomic transitions to multicellularity</a:t>
            </a:r>
            <a:endParaRPr lang="en-US" sz="2000" dirty="0"/>
          </a:p>
          <a:p>
            <a:pPr algn="l" indent="0" marL="0">
              <a:buNone/>
            </a:pPr>
            <a:r>
              <a:rPr lang="en-US" sz="1600" dirty="0">
                <a:solidFill>
                  <a:schemeClr val="bg2"/>
                </a:solidFill>
              </a:rPr>
              <a:t>AI hackathon · [dates: ____] · two rounds, about 31 hours of agent work</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A week-long test of agentic bioinformatics</a:t>
            </a:r>
            <a:endParaRPr lang="en-US" sz="3200" dirty="0"/>
          </a:p>
        </p:txBody>
      </p:sp>
      <p:sp>
        <p:nvSpPr>
          <p:cNvPr id="4" name="lab-card"/>
          <p:cNvSpPr/>
          <p:nvPr/>
        </p:nvSpPr>
        <p:spPr>
          <a:xfrm>
            <a:off x="548640" y="1325880"/>
            <a:ext cx="2514600" cy="1234440"/>
          </a:xfrm>
          <a:prstGeom prst="roundRect">
            <a:avLst>
              <a:gd name="adj" fmla="val 8889"/>
            </a:avLst>
          </a:prstGeom>
          <a:solidFill>
            <a:schemeClr val="bg2"/>
          </a:solidFill>
          <a:ln w="12700">
            <a:solidFill>
              <a:schemeClr val="bg2"/>
            </a:solidFill>
            <a:prstDash val="solid"/>
          </a:ln>
        </p:spPr>
      </p:sp>
      <p:sp>
        <p:nvSpPr>
          <p:cNvPr id="5" name="icon-circle-FaUniversity"/>
          <p:cNvSpPr/>
          <p:nvPr/>
        </p:nvSpPr>
        <p:spPr>
          <a:xfrm>
            <a:off x="713232" y="1645920"/>
            <a:ext cx="594360" cy="594360"/>
          </a:xfrm>
          <a:prstGeom prst="ellipse">
            <a:avLst/>
          </a:prstGeom>
          <a:solidFill>
            <a:schemeClr val="accent1"/>
          </a:solidFill>
          <a:ln w="12700">
            <a:solidFill>
              <a:schemeClr val="accent1"/>
            </a:solidFill>
            <a:prstDash val="solid"/>
          </a:ln>
        </p:spPr>
      </p:sp>
      <p:pic>
        <p:nvPicPr>
          <p:cNvPr id="6" name="icon-FaUniversity" descr="FaUniversity">    </p:cNvPr>
          <p:cNvPicPr>
            <a:picLocks noChangeAspect="1"/>
          </p:cNvPicPr>
          <p:nvPr/>
        </p:nvPicPr>
        <p:blipFill>
          <a:blip r:embed="rId1"/>
          <a:stretch>
            <a:fillRect/>
          </a:stretch>
        </p:blipFill>
        <p:spPr>
          <a:xfrm>
            <a:off x="855878" y="1788566"/>
            <a:ext cx="309067" cy="309067"/>
          </a:xfrm>
          <a:prstGeom prst="rect">
            <a:avLst/>
          </a:prstGeom>
        </p:spPr>
      </p:pic>
      <p:sp>
        <p:nvSpPr>
          <p:cNvPr id="7" name="Text 3"/>
          <p:cNvSpPr txBox="1"/>
          <p:nvPr/>
        </p:nvSpPr>
        <p:spPr>
          <a:xfrm>
            <a:off x="1417320" y="1554480"/>
            <a:ext cx="1600200" cy="822960"/>
          </a:xfrm>
          <a:prstGeom prst="rect">
            <a:avLst/>
          </a:prstGeom>
          <a:noFill/>
          <a:ln/>
        </p:spPr>
        <p:txBody>
          <a:bodyPr wrap="square" lIns="0" tIns="0" rIns="0" bIns="0" rtlCol="0" anchor="ctr"/>
          <a:lstStyle/>
          <a:p>
            <a:pPr indent="0" marL="0">
              <a:buNone/>
            </a:pPr>
            <a:r>
              <a:rPr lang="en-US" sz="1400" b="1" dirty="0">
                <a:solidFill>
                  <a:schemeClr val="tx1"/>
                </a:solidFill>
              </a:rPr>
              <a:t>Beltrao lab</a:t>
            </a:r>
            <a:endParaRPr lang="en-US" sz="1400" dirty="0"/>
          </a:p>
          <a:p>
            <a:pPr indent="0" marL="0">
              <a:buNone/>
            </a:pPr>
            <a:r>
              <a:rPr lang="en-US" sz="1400" dirty="0">
                <a:solidFill>
                  <a:schemeClr val="tx1"/>
                </a:solidFill>
              </a:rPr>
              <a:t>ETH Zürich</a:t>
            </a:r>
            <a:endParaRPr lang="en-US" sz="1400" dirty="0"/>
          </a:p>
        </p:txBody>
      </p:sp>
      <p:sp>
        <p:nvSpPr>
          <p:cNvPr id="8" name="lab-card"/>
          <p:cNvSpPr/>
          <p:nvPr/>
        </p:nvSpPr>
        <p:spPr>
          <a:xfrm>
            <a:off x="3246120" y="1325880"/>
            <a:ext cx="2514600" cy="1234440"/>
          </a:xfrm>
          <a:prstGeom prst="roundRect">
            <a:avLst>
              <a:gd name="adj" fmla="val 8889"/>
            </a:avLst>
          </a:prstGeom>
          <a:solidFill>
            <a:schemeClr val="bg2"/>
          </a:solidFill>
          <a:ln w="12700">
            <a:solidFill>
              <a:schemeClr val="bg2"/>
            </a:solidFill>
            <a:prstDash val="solid"/>
          </a:ln>
        </p:spPr>
      </p:sp>
      <p:sp>
        <p:nvSpPr>
          <p:cNvPr id="9" name="icon-circle-FaUniversity"/>
          <p:cNvSpPr/>
          <p:nvPr/>
        </p:nvSpPr>
        <p:spPr>
          <a:xfrm>
            <a:off x="3410712" y="1645920"/>
            <a:ext cx="594360" cy="594360"/>
          </a:xfrm>
          <a:prstGeom prst="ellipse">
            <a:avLst/>
          </a:prstGeom>
          <a:solidFill>
            <a:schemeClr val="accent1"/>
          </a:solidFill>
          <a:ln w="12700">
            <a:solidFill>
              <a:schemeClr val="accent1"/>
            </a:solidFill>
            <a:prstDash val="solid"/>
          </a:ln>
        </p:spPr>
      </p:sp>
      <p:pic>
        <p:nvPicPr>
          <p:cNvPr id="10" name="icon-FaUniversity" descr="FaUniversity">    </p:cNvPr>
          <p:cNvPicPr>
            <a:picLocks noChangeAspect="1"/>
          </p:cNvPicPr>
          <p:nvPr/>
        </p:nvPicPr>
        <p:blipFill>
          <a:blip r:embed="rId2"/>
          <a:stretch>
            <a:fillRect/>
          </a:stretch>
        </p:blipFill>
        <p:spPr>
          <a:xfrm>
            <a:off x="3553358" y="1788566"/>
            <a:ext cx="309067" cy="309067"/>
          </a:xfrm>
          <a:prstGeom prst="rect">
            <a:avLst/>
          </a:prstGeom>
        </p:spPr>
      </p:pic>
      <p:sp>
        <p:nvSpPr>
          <p:cNvPr id="11" name="Text 6"/>
          <p:cNvSpPr txBox="1"/>
          <p:nvPr/>
        </p:nvSpPr>
        <p:spPr>
          <a:xfrm>
            <a:off x="4114800" y="1554480"/>
            <a:ext cx="1600200" cy="822960"/>
          </a:xfrm>
          <a:prstGeom prst="rect">
            <a:avLst/>
          </a:prstGeom>
          <a:noFill/>
          <a:ln/>
        </p:spPr>
        <p:txBody>
          <a:bodyPr wrap="square" lIns="0" tIns="0" rIns="0" bIns="0" rtlCol="0" anchor="ctr"/>
          <a:lstStyle/>
          <a:p>
            <a:pPr indent="0" marL="0">
              <a:buNone/>
            </a:pPr>
            <a:r>
              <a:rPr lang="en-US" sz="1400" b="1" dirty="0">
                <a:solidFill>
                  <a:schemeClr val="tx1"/>
                </a:solidFill>
              </a:rPr>
              <a:t>Colm Ryan lab</a:t>
            </a:r>
            <a:endParaRPr lang="en-US" sz="1400" dirty="0"/>
          </a:p>
          <a:p>
            <a:pPr indent="0" marL="0">
              <a:buNone/>
            </a:pPr>
            <a:r>
              <a:rPr lang="en-US" sz="1400" dirty="0">
                <a:solidFill>
                  <a:schemeClr val="tx1"/>
                </a:solidFill>
              </a:rPr>
              <a:t>UCD</a:t>
            </a:r>
            <a:endParaRPr lang="en-US" sz="1400" dirty="0"/>
          </a:p>
        </p:txBody>
      </p:sp>
      <p:sp>
        <p:nvSpPr>
          <p:cNvPr id="12" name="lab-card"/>
          <p:cNvSpPr/>
          <p:nvPr/>
        </p:nvSpPr>
        <p:spPr>
          <a:xfrm>
            <a:off x="548640" y="2743200"/>
            <a:ext cx="2514600" cy="1234440"/>
          </a:xfrm>
          <a:prstGeom prst="roundRect">
            <a:avLst>
              <a:gd name="adj" fmla="val 8889"/>
            </a:avLst>
          </a:prstGeom>
          <a:solidFill>
            <a:schemeClr val="bg2"/>
          </a:solidFill>
          <a:ln w="12700">
            <a:solidFill>
              <a:schemeClr val="bg2"/>
            </a:solidFill>
            <a:prstDash val="solid"/>
          </a:ln>
        </p:spPr>
      </p:sp>
      <p:sp>
        <p:nvSpPr>
          <p:cNvPr id="13" name="icon-circle-FaUniversity"/>
          <p:cNvSpPr/>
          <p:nvPr/>
        </p:nvSpPr>
        <p:spPr>
          <a:xfrm>
            <a:off x="713232" y="3063240"/>
            <a:ext cx="594360" cy="594360"/>
          </a:xfrm>
          <a:prstGeom prst="ellipse">
            <a:avLst/>
          </a:prstGeom>
          <a:solidFill>
            <a:schemeClr val="accent1"/>
          </a:solidFill>
          <a:ln w="12700">
            <a:solidFill>
              <a:schemeClr val="accent1"/>
            </a:solidFill>
            <a:prstDash val="solid"/>
          </a:ln>
        </p:spPr>
      </p:sp>
      <p:pic>
        <p:nvPicPr>
          <p:cNvPr id="14" name="icon-FaUniversity" descr="FaUniversity">    </p:cNvPr>
          <p:cNvPicPr>
            <a:picLocks noChangeAspect="1"/>
          </p:cNvPicPr>
          <p:nvPr/>
        </p:nvPicPr>
        <p:blipFill>
          <a:blip r:embed="rId3"/>
          <a:stretch>
            <a:fillRect/>
          </a:stretch>
        </p:blipFill>
        <p:spPr>
          <a:xfrm>
            <a:off x="855878" y="3205886"/>
            <a:ext cx="309067" cy="309067"/>
          </a:xfrm>
          <a:prstGeom prst="rect">
            <a:avLst/>
          </a:prstGeom>
        </p:spPr>
      </p:pic>
      <p:sp>
        <p:nvSpPr>
          <p:cNvPr id="15" name="Text 9"/>
          <p:cNvSpPr txBox="1"/>
          <p:nvPr/>
        </p:nvSpPr>
        <p:spPr>
          <a:xfrm>
            <a:off x="1417320" y="2971800"/>
            <a:ext cx="1600200" cy="822960"/>
          </a:xfrm>
          <a:prstGeom prst="rect">
            <a:avLst/>
          </a:prstGeom>
          <a:noFill/>
          <a:ln/>
        </p:spPr>
        <p:txBody>
          <a:bodyPr wrap="square" lIns="0" tIns="0" rIns="0" bIns="0" rtlCol="0" anchor="ctr"/>
          <a:lstStyle/>
          <a:p>
            <a:pPr indent="0" marL="0">
              <a:buNone/>
            </a:pPr>
            <a:r>
              <a:rPr lang="en-US" sz="1400" b="1" dirty="0">
                <a:solidFill>
                  <a:schemeClr val="tx1"/>
                </a:solidFill>
              </a:rPr>
              <a:t>Emanuel Gonçalves lab</a:t>
            </a:r>
            <a:endParaRPr lang="en-US" sz="1400" dirty="0"/>
          </a:p>
          <a:p>
            <a:pPr indent="0" marL="0">
              <a:buNone/>
            </a:pPr>
            <a:r>
              <a:rPr lang="en-US" sz="1400" dirty="0">
                <a:solidFill>
                  <a:schemeClr val="tx1"/>
                </a:solidFill>
              </a:rPr>
              <a:t>IST</a:t>
            </a:r>
            <a:endParaRPr lang="en-US" sz="1400" dirty="0"/>
          </a:p>
        </p:txBody>
      </p:sp>
      <p:sp>
        <p:nvSpPr>
          <p:cNvPr id="16" name="lab-card"/>
          <p:cNvSpPr/>
          <p:nvPr/>
        </p:nvSpPr>
        <p:spPr>
          <a:xfrm>
            <a:off x="3246120" y="2743200"/>
            <a:ext cx="2514600" cy="1234440"/>
          </a:xfrm>
          <a:prstGeom prst="roundRect">
            <a:avLst>
              <a:gd name="adj" fmla="val 8889"/>
            </a:avLst>
          </a:prstGeom>
          <a:solidFill>
            <a:schemeClr val="bg2"/>
          </a:solidFill>
          <a:ln w="12700">
            <a:solidFill>
              <a:schemeClr val="bg2"/>
            </a:solidFill>
            <a:prstDash val="solid"/>
          </a:ln>
        </p:spPr>
      </p:sp>
      <p:sp>
        <p:nvSpPr>
          <p:cNvPr id="17" name="icon-circle-FaUniversity"/>
          <p:cNvSpPr/>
          <p:nvPr/>
        </p:nvSpPr>
        <p:spPr>
          <a:xfrm>
            <a:off x="3410712" y="3063240"/>
            <a:ext cx="594360" cy="594360"/>
          </a:xfrm>
          <a:prstGeom prst="ellipse">
            <a:avLst/>
          </a:prstGeom>
          <a:solidFill>
            <a:schemeClr val="accent1"/>
          </a:solidFill>
          <a:ln w="12700">
            <a:solidFill>
              <a:schemeClr val="accent1"/>
            </a:solidFill>
            <a:prstDash val="solid"/>
          </a:ln>
        </p:spPr>
      </p:sp>
      <p:pic>
        <p:nvPicPr>
          <p:cNvPr id="18" name="icon-FaUniversity" descr="FaUniversity">    </p:cNvPr>
          <p:cNvPicPr>
            <a:picLocks noChangeAspect="1"/>
          </p:cNvPicPr>
          <p:nvPr/>
        </p:nvPicPr>
        <p:blipFill>
          <a:blip r:embed="rId4"/>
          <a:stretch>
            <a:fillRect/>
          </a:stretch>
        </p:blipFill>
        <p:spPr>
          <a:xfrm>
            <a:off x="3553358" y="3205886"/>
            <a:ext cx="309067" cy="309067"/>
          </a:xfrm>
          <a:prstGeom prst="rect">
            <a:avLst/>
          </a:prstGeom>
        </p:spPr>
      </p:pic>
      <p:sp>
        <p:nvSpPr>
          <p:cNvPr id="19" name="Text 12"/>
          <p:cNvSpPr txBox="1"/>
          <p:nvPr/>
        </p:nvSpPr>
        <p:spPr>
          <a:xfrm>
            <a:off x="4114800" y="2971800"/>
            <a:ext cx="1600200" cy="822960"/>
          </a:xfrm>
          <a:prstGeom prst="rect">
            <a:avLst/>
          </a:prstGeom>
          <a:noFill/>
          <a:ln/>
        </p:spPr>
        <p:txBody>
          <a:bodyPr wrap="square" lIns="0" tIns="0" rIns="0" bIns="0" rtlCol="0" anchor="ctr"/>
          <a:lstStyle/>
          <a:p>
            <a:pPr indent="0" marL="0">
              <a:buNone/>
            </a:pPr>
            <a:r>
              <a:rPr lang="en-US" sz="1400" b="1" dirty="0">
                <a:solidFill>
                  <a:schemeClr val="tx1"/>
                </a:solidFill>
              </a:rPr>
              <a:t>Christophe Dessimoz lab</a:t>
            </a:r>
            <a:endParaRPr lang="en-US" sz="1400" dirty="0"/>
          </a:p>
          <a:p>
            <a:pPr indent="0" marL="0">
              <a:buNone/>
            </a:pPr>
            <a:r>
              <a:rPr lang="en-US" sz="1400" dirty="0">
                <a:solidFill>
                  <a:schemeClr val="tx1"/>
                </a:solidFill>
              </a:rPr>
              <a:t>UNIL</a:t>
            </a:r>
            <a:endParaRPr lang="en-US" sz="1400" dirty="0"/>
          </a:p>
        </p:txBody>
      </p:sp>
      <p:sp>
        <p:nvSpPr>
          <p:cNvPr id="20" name="blanks"/>
          <p:cNvSpPr/>
          <p:nvPr/>
        </p:nvSpPr>
        <p:spPr>
          <a:xfrm>
            <a:off x="548640" y="4251960"/>
            <a:ext cx="5212080" cy="914400"/>
          </a:xfrm>
          <a:prstGeom prst="roundRect">
            <a:avLst>
              <a:gd name="adj" fmla="val 12000"/>
            </a:avLst>
          </a:prstGeom>
          <a:solidFill>
            <a:schemeClr val="bg2"/>
          </a:solidFill>
          <a:ln w="12700">
            <a:solidFill>
              <a:schemeClr val="bg2"/>
            </a:solidFill>
            <a:prstDash val="solid"/>
          </a:ln>
        </p:spPr>
      </p:sp>
      <p:sp>
        <p:nvSpPr>
          <p:cNvPr id="21" name="Text 14"/>
          <p:cNvSpPr txBox="1"/>
          <p:nvPr/>
        </p:nvSpPr>
        <p:spPr>
          <a:xfrm>
            <a:off x="777240" y="4343400"/>
            <a:ext cx="4846320" cy="731520"/>
          </a:xfrm>
          <a:prstGeom prst="rect">
            <a:avLst/>
          </a:prstGeom>
          <a:noFill/>
          <a:ln/>
        </p:spPr>
        <p:txBody>
          <a:bodyPr wrap="square" lIns="0" tIns="0" rIns="0" bIns="0" rtlCol="0" anchor="ctr"/>
          <a:lstStyle/>
          <a:p>
            <a:pPr indent="0" marL="0">
              <a:buNone/>
            </a:pPr>
            <a:r>
              <a:rPr lang="en-US" sz="1600" b="1" dirty="0">
                <a:solidFill>
                  <a:schemeClr val="tx2"/>
                </a:solidFill>
              </a:rPr>
              <a:t>[dates: ____]</a:t>
            </a:r>
            <a:endParaRPr lang="en-US" sz="1600" dirty="0"/>
          </a:p>
          <a:p>
            <a:pPr indent="0" marL="0">
              <a:buNone/>
            </a:pPr>
            <a:r>
              <a:rPr lang="en-US" sz="1600" dirty="0">
                <a:solidFill>
                  <a:schemeClr val="tx2"/>
                </a:solidFill>
              </a:rPr>
              <a:t>[__ participants] · 13 projects</a:t>
            </a:r>
            <a:endParaRPr lang="en-US" sz="1600" dirty="0"/>
          </a:p>
        </p:txBody>
      </p:sp>
      <p:sp>
        <p:nvSpPr>
          <p:cNvPr id="22" name="Text 15"/>
          <p:cNvSpPr txBox="1"/>
          <p:nvPr/>
        </p:nvSpPr>
        <p:spPr>
          <a:xfrm>
            <a:off x="548640" y="5257800"/>
            <a:ext cx="5212080" cy="274320"/>
          </a:xfrm>
          <a:prstGeom prst="rect">
            <a:avLst/>
          </a:prstGeom>
          <a:noFill/>
          <a:ln/>
        </p:spPr>
        <p:txBody>
          <a:bodyPr wrap="square" lIns="0" tIns="0" rIns="0" bIns="0" rtlCol="0" anchor="t"/>
          <a:lstStyle/>
          <a:p>
            <a:pPr indent="0" marL="0">
              <a:buNone/>
            </a:pPr>
            <a:r>
              <a:rPr lang="en-US" sz="1100" i="1" dirty="0">
                <a:solidFill>
                  <a:schemeClr val="tx2"/>
                </a:solidFill>
              </a:rPr>
              <a:t>Blanks to be filled by the organisers.</a:t>
            </a:r>
            <a:endParaRPr lang="en-US" sz="1100" dirty="0"/>
          </a:p>
        </p:txBody>
      </p:sp>
      <p:sp>
        <p:nvSpPr>
          <p:cNvPr id="23" name="icon-circle-FaUser"/>
          <p:cNvSpPr/>
          <p:nvPr/>
        </p:nvSpPr>
        <p:spPr>
          <a:xfrm>
            <a:off x="6400800" y="1325880"/>
            <a:ext cx="640080" cy="640080"/>
          </a:xfrm>
          <a:prstGeom prst="ellipse">
            <a:avLst/>
          </a:prstGeom>
          <a:solidFill>
            <a:schemeClr val="accent1"/>
          </a:solidFill>
          <a:ln w="12700">
            <a:solidFill>
              <a:schemeClr val="accent1"/>
            </a:solidFill>
            <a:prstDash val="solid"/>
          </a:ln>
        </p:spPr>
      </p:sp>
      <p:pic>
        <p:nvPicPr>
          <p:cNvPr id="24" name="icon-FaUser" descr="FaUser">    </p:cNvPr>
          <p:cNvPicPr>
            <a:picLocks noChangeAspect="1"/>
          </p:cNvPicPr>
          <p:nvPr/>
        </p:nvPicPr>
        <p:blipFill>
          <a:blip r:embed="rId5"/>
          <a:stretch>
            <a:fillRect/>
          </a:stretch>
        </p:blipFill>
        <p:spPr>
          <a:xfrm>
            <a:off x="6554419" y="1479499"/>
            <a:ext cx="332842" cy="332842"/>
          </a:xfrm>
          <a:prstGeom prst="rect">
            <a:avLst/>
          </a:prstGeom>
        </p:spPr>
      </p:pic>
      <p:sp>
        <p:nvSpPr>
          <p:cNvPr id="25" name="Text 17"/>
          <p:cNvSpPr txBox="1"/>
          <p:nvPr/>
        </p:nvSpPr>
        <p:spPr>
          <a:xfrm>
            <a:off x="7223760" y="1371600"/>
            <a:ext cx="4206240" cy="548640"/>
          </a:xfrm>
          <a:prstGeom prst="rect">
            <a:avLst/>
          </a:prstGeom>
          <a:noFill/>
          <a:ln/>
        </p:spPr>
        <p:txBody>
          <a:bodyPr wrap="square" lIns="0" tIns="0" rIns="0" bIns="0" rtlCol="0" anchor="ctr"/>
          <a:lstStyle/>
          <a:p>
            <a:pPr indent="0" marL="0">
              <a:buNone/>
            </a:pPr>
            <a:r>
              <a:rPr lang="en-US" sz="1600" dirty="0">
                <a:solidFill>
                  <a:schemeClr val="tx1"/>
                </a:solidFill>
              </a:rPr>
              <a:t>Human writes a 'predict X' prompt</a:t>
            </a:r>
            <a:endParaRPr lang="en-US" sz="1600" dirty="0"/>
          </a:p>
        </p:txBody>
      </p:sp>
      <p:sp>
        <p:nvSpPr>
          <p:cNvPr id="26" name="arrow"/>
          <p:cNvSpPr/>
          <p:nvPr/>
        </p:nvSpPr>
        <p:spPr>
          <a:xfrm>
            <a:off x="6720840" y="1984248"/>
            <a:ext cx="914" cy="192024"/>
          </a:xfrm>
          <a:prstGeom prst="line">
            <a:avLst/>
          </a:prstGeom>
          <a:noFill/>
          <a:ln w="19050">
            <a:solidFill>
              <a:schemeClr val="accent6"/>
            </a:solidFill>
            <a:prstDash val="solid"/>
            <a:tailEnd type="triangle"/>
          </a:ln>
        </p:spPr>
      </p:sp>
      <p:sp>
        <p:nvSpPr>
          <p:cNvPr id="27" name="icon-circle-FaRobot"/>
          <p:cNvSpPr/>
          <p:nvPr/>
        </p:nvSpPr>
        <p:spPr>
          <a:xfrm>
            <a:off x="6400800" y="2194560"/>
            <a:ext cx="640080" cy="640080"/>
          </a:xfrm>
          <a:prstGeom prst="ellipse">
            <a:avLst/>
          </a:prstGeom>
          <a:solidFill>
            <a:schemeClr val="accent1"/>
          </a:solidFill>
          <a:ln w="12700">
            <a:solidFill>
              <a:schemeClr val="accent1"/>
            </a:solidFill>
            <a:prstDash val="solid"/>
          </a:ln>
        </p:spPr>
      </p:sp>
      <p:pic>
        <p:nvPicPr>
          <p:cNvPr id="28" name="icon-FaRobot" descr="FaRobot">    </p:cNvPr>
          <p:cNvPicPr>
            <a:picLocks noChangeAspect="1"/>
          </p:cNvPicPr>
          <p:nvPr/>
        </p:nvPicPr>
        <p:blipFill>
          <a:blip r:embed="rId6"/>
          <a:stretch>
            <a:fillRect/>
          </a:stretch>
        </p:blipFill>
        <p:spPr>
          <a:xfrm>
            <a:off x="6554419" y="2348179"/>
            <a:ext cx="332842" cy="332842"/>
          </a:xfrm>
          <a:prstGeom prst="rect">
            <a:avLst/>
          </a:prstGeom>
        </p:spPr>
      </p:pic>
      <p:sp>
        <p:nvSpPr>
          <p:cNvPr id="29" name="Text 20"/>
          <p:cNvSpPr txBox="1"/>
          <p:nvPr/>
        </p:nvSpPr>
        <p:spPr>
          <a:xfrm>
            <a:off x="7223760" y="2240280"/>
            <a:ext cx="4206240" cy="548640"/>
          </a:xfrm>
          <a:prstGeom prst="rect">
            <a:avLst/>
          </a:prstGeom>
          <a:noFill/>
          <a:ln/>
        </p:spPr>
        <p:txBody>
          <a:bodyPr wrap="square" lIns="0" tIns="0" rIns="0" bIns="0" rtlCol="0" anchor="ctr"/>
          <a:lstStyle/>
          <a:p>
            <a:pPr indent="0" marL="0">
              <a:buNone/>
            </a:pPr>
            <a:r>
              <a:rPr lang="en-US" sz="1600" dirty="0">
                <a:solidFill>
                  <a:schemeClr val="tx1"/>
                </a:solidFill>
              </a:rPr>
              <a:t>Claude Opus 5.5 leads as PI</a:t>
            </a:r>
            <a:endParaRPr lang="en-US" sz="1600" dirty="0"/>
          </a:p>
        </p:txBody>
      </p:sp>
      <p:sp>
        <p:nvSpPr>
          <p:cNvPr id="30" name="arrow"/>
          <p:cNvSpPr/>
          <p:nvPr/>
        </p:nvSpPr>
        <p:spPr>
          <a:xfrm>
            <a:off x="6720840" y="2852928"/>
            <a:ext cx="914" cy="192024"/>
          </a:xfrm>
          <a:prstGeom prst="line">
            <a:avLst/>
          </a:prstGeom>
          <a:noFill/>
          <a:ln w="19050">
            <a:solidFill>
              <a:schemeClr val="accent6"/>
            </a:solidFill>
            <a:prstDash val="solid"/>
            <a:tailEnd type="triangle"/>
          </a:ln>
        </p:spPr>
      </p:sp>
      <p:sp>
        <p:nvSpPr>
          <p:cNvPr id="31" name="icon-circle-FaUsers"/>
          <p:cNvSpPr/>
          <p:nvPr/>
        </p:nvSpPr>
        <p:spPr>
          <a:xfrm>
            <a:off x="6400800" y="3063240"/>
            <a:ext cx="640080" cy="640080"/>
          </a:xfrm>
          <a:prstGeom prst="ellipse">
            <a:avLst/>
          </a:prstGeom>
          <a:solidFill>
            <a:schemeClr val="accent1"/>
          </a:solidFill>
          <a:ln w="12700">
            <a:solidFill>
              <a:schemeClr val="accent1"/>
            </a:solidFill>
            <a:prstDash val="solid"/>
          </a:ln>
        </p:spPr>
      </p:sp>
      <p:pic>
        <p:nvPicPr>
          <p:cNvPr id="32" name="icon-FaUsers" descr="FaUsers">    </p:cNvPr>
          <p:cNvPicPr>
            <a:picLocks noChangeAspect="1"/>
          </p:cNvPicPr>
          <p:nvPr/>
        </p:nvPicPr>
        <p:blipFill>
          <a:blip r:embed="rId7"/>
          <a:stretch>
            <a:fillRect/>
          </a:stretch>
        </p:blipFill>
        <p:spPr>
          <a:xfrm>
            <a:off x="6554419" y="3216859"/>
            <a:ext cx="332842" cy="332842"/>
          </a:xfrm>
          <a:prstGeom prst="rect">
            <a:avLst/>
          </a:prstGeom>
        </p:spPr>
      </p:pic>
      <p:sp>
        <p:nvSpPr>
          <p:cNvPr id="33" name="Text 23"/>
          <p:cNvSpPr txBox="1"/>
          <p:nvPr/>
        </p:nvSpPr>
        <p:spPr>
          <a:xfrm>
            <a:off x="7223760" y="3108960"/>
            <a:ext cx="4206240" cy="548640"/>
          </a:xfrm>
          <a:prstGeom prst="rect">
            <a:avLst/>
          </a:prstGeom>
          <a:noFill/>
          <a:ln/>
        </p:spPr>
        <p:txBody>
          <a:bodyPr wrap="square" lIns="0" tIns="0" rIns="0" bIns="0" rtlCol="0" anchor="ctr"/>
          <a:lstStyle/>
          <a:p>
            <a:pPr indent="0" marL="0">
              <a:buNone/>
            </a:pPr>
            <a:r>
              <a:rPr lang="en-US" sz="1600" dirty="0">
                <a:solidFill>
                  <a:schemeClr val="tx1"/>
                </a:solidFill>
              </a:rPr>
              <a:t>Delegates to Opus / Sonnet subagents</a:t>
            </a:r>
            <a:endParaRPr lang="en-US" sz="1600" dirty="0"/>
          </a:p>
        </p:txBody>
      </p:sp>
      <p:sp>
        <p:nvSpPr>
          <p:cNvPr id="34" name="arrow"/>
          <p:cNvSpPr/>
          <p:nvPr/>
        </p:nvSpPr>
        <p:spPr>
          <a:xfrm>
            <a:off x="6720840" y="3721608"/>
            <a:ext cx="914" cy="192024"/>
          </a:xfrm>
          <a:prstGeom prst="line">
            <a:avLst/>
          </a:prstGeom>
          <a:noFill/>
          <a:ln w="19050">
            <a:solidFill>
              <a:schemeClr val="accent6"/>
            </a:solidFill>
            <a:prstDash val="solid"/>
            <a:tailEnd type="triangle"/>
          </a:ln>
        </p:spPr>
      </p:sp>
      <p:sp>
        <p:nvSpPr>
          <p:cNvPr id="35" name="icon-circle-FaFlask"/>
          <p:cNvSpPr/>
          <p:nvPr/>
        </p:nvSpPr>
        <p:spPr>
          <a:xfrm>
            <a:off x="6400800" y="3931920"/>
            <a:ext cx="640080" cy="640080"/>
          </a:xfrm>
          <a:prstGeom prst="ellipse">
            <a:avLst/>
          </a:prstGeom>
          <a:solidFill>
            <a:schemeClr val="accent1"/>
          </a:solidFill>
          <a:ln w="12700">
            <a:solidFill>
              <a:schemeClr val="accent1"/>
            </a:solidFill>
            <a:prstDash val="solid"/>
          </a:ln>
        </p:spPr>
      </p:sp>
      <p:pic>
        <p:nvPicPr>
          <p:cNvPr id="36" name="icon-FaFlask" descr="FaFlask">    </p:cNvPr>
          <p:cNvPicPr>
            <a:picLocks noChangeAspect="1"/>
          </p:cNvPicPr>
          <p:nvPr/>
        </p:nvPicPr>
        <p:blipFill>
          <a:blip r:embed="rId8"/>
          <a:stretch>
            <a:fillRect/>
          </a:stretch>
        </p:blipFill>
        <p:spPr>
          <a:xfrm>
            <a:off x="6554419" y="4085539"/>
            <a:ext cx="332842" cy="332842"/>
          </a:xfrm>
          <a:prstGeom prst="rect">
            <a:avLst/>
          </a:prstGeom>
        </p:spPr>
      </p:pic>
      <p:sp>
        <p:nvSpPr>
          <p:cNvPr id="37" name="Text 26"/>
          <p:cNvSpPr txBox="1"/>
          <p:nvPr/>
        </p:nvSpPr>
        <p:spPr>
          <a:xfrm>
            <a:off x="7223760" y="3977640"/>
            <a:ext cx="4206240" cy="548640"/>
          </a:xfrm>
          <a:prstGeom prst="rect">
            <a:avLst/>
          </a:prstGeom>
          <a:noFill/>
          <a:ln/>
        </p:spPr>
        <p:txBody>
          <a:bodyPr wrap="square" lIns="0" tIns="0" rIns="0" bIns="0" rtlCol="0" anchor="ctr"/>
          <a:lstStyle/>
          <a:p>
            <a:pPr indent="0" marL="0">
              <a:buNone/>
            </a:pPr>
            <a:r>
              <a:rPr lang="en-US" sz="1600" dirty="0">
                <a:solidFill>
                  <a:schemeClr val="tx1"/>
                </a:solidFill>
              </a:rPr>
              <a:t>Builds, benchmarks, writes up</a:t>
            </a:r>
            <a:endParaRPr lang="en-US" sz="1600" dirty="0"/>
          </a:p>
        </p:txBody>
      </p:sp>
      <p:sp>
        <p:nvSpPr>
          <p:cNvPr id="38" name="arrow"/>
          <p:cNvSpPr/>
          <p:nvPr/>
        </p:nvSpPr>
        <p:spPr>
          <a:xfrm>
            <a:off x="6720840" y="4590288"/>
            <a:ext cx="914" cy="192024"/>
          </a:xfrm>
          <a:prstGeom prst="line">
            <a:avLst/>
          </a:prstGeom>
          <a:noFill/>
          <a:ln w="19050">
            <a:solidFill>
              <a:schemeClr val="accent6"/>
            </a:solidFill>
            <a:prstDash val="solid"/>
            <a:tailEnd type="triangle"/>
          </a:ln>
        </p:spPr>
      </p:sp>
      <p:sp>
        <p:nvSpPr>
          <p:cNvPr id="39" name="icon-circle-FaUserCheck"/>
          <p:cNvSpPr/>
          <p:nvPr/>
        </p:nvSpPr>
        <p:spPr>
          <a:xfrm>
            <a:off x="6400800" y="4800600"/>
            <a:ext cx="640080" cy="640080"/>
          </a:xfrm>
          <a:prstGeom prst="ellipse">
            <a:avLst/>
          </a:prstGeom>
          <a:solidFill>
            <a:schemeClr val="accent4"/>
          </a:solidFill>
          <a:ln w="12700">
            <a:solidFill>
              <a:schemeClr val="accent4"/>
            </a:solidFill>
            <a:prstDash val="solid"/>
          </a:ln>
        </p:spPr>
      </p:sp>
      <p:pic>
        <p:nvPicPr>
          <p:cNvPr id="40" name="icon-FaUserCheck" descr="FaUserCheck">    </p:cNvPr>
          <p:cNvPicPr>
            <a:picLocks noChangeAspect="1"/>
          </p:cNvPicPr>
          <p:nvPr/>
        </p:nvPicPr>
        <p:blipFill>
          <a:blip r:embed="rId9"/>
          <a:stretch>
            <a:fillRect/>
          </a:stretch>
        </p:blipFill>
        <p:spPr>
          <a:xfrm>
            <a:off x="6554419" y="4954219"/>
            <a:ext cx="332842" cy="332842"/>
          </a:xfrm>
          <a:prstGeom prst="rect">
            <a:avLst/>
          </a:prstGeom>
        </p:spPr>
      </p:pic>
      <p:sp>
        <p:nvSpPr>
          <p:cNvPr id="41" name="Text 29"/>
          <p:cNvSpPr txBox="1"/>
          <p:nvPr/>
        </p:nvSpPr>
        <p:spPr>
          <a:xfrm>
            <a:off x="7223760" y="4846320"/>
            <a:ext cx="4206240" cy="548640"/>
          </a:xfrm>
          <a:prstGeom prst="rect">
            <a:avLst/>
          </a:prstGeom>
          <a:noFill/>
          <a:ln/>
        </p:spPr>
        <p:txBody>
          <a:bodyPr wrap="square" lIns="0" tIns="0" rIns="0" bIns="0" rtlCol="0" anchor="ctr"/>
          <a:lstStyle/>
          <a:p>
            <a:pPr indent="0" marL="0">
              <a:buNone/>
            </a:pPr>
            <a:r>
              <a:rPr lang="en-US" sz="1600" dirty="0">
                <a:solidFill>
                  <a:schemeClr val="tx1"/>
                </a:solidFill>
              </a:rPr>
              <a:t>Humans verify afterwards</a:t>
            </a:r>
            <a:endParaRPr lang="en-US" sz="1600" dirty="0"/>
          </a:p>
        </p:txBody>
      </p:sp>
      <p:sp>
        <p:nvSpPr>
          <p:cNvPr id="42" name="Text 30"/>
          <p:cNvSpPr txBox="1"/>
          <p:nvPr/>
        </p:nvSpPr>
        <p:spPr>
          <a:xfrm>
            <a:off x="6400800" y="5760720"/>
            <a:ext cx="5303520" cy="457200"/>
          </a:xfrm>
          <a:prstGeom prst="rect">
            <a:avLst/>
          </a:prstGeom>
          <a:noFill/>
          <a:ln/>
        </p:spPr>
        <p:txBody>
          <a:bodyPr wrap="square" lIns="0" tIns="0" rIns="0" bIns="0" rtlCol="0" anchor="t"/>
          <a:lstStyle/>
          <a:p>
            <a:pPr indent="0" marL="0">
              <a:buNone/>
            </a:pPr>
            <a:r>
              <a:rPr lang="en-US" sz="1100" i="1" dirty="0">
                <a:solidFill>
                  <a:schemeClr val="tx2"/>
                </a:solidFill>
              </a:rPr>
              <a:t>This project: own cluster, Singularity in /scratch · R1: 24 CPU, 150 GB · R2: 48 CPU, 500 GB, 1 A100</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The hackathon in one picture</a:t>
            </a:r>
            <a:endParaRPr lang="en-US" sz="3200" dirty="0"/>
          </a:p>
        </p:txBody>
      </p:sp>
      <p:pic>
        <p:nvPicPr>
          <p:cNvPr id="4" name="hackathon-flow-image" descr="Hackathon project flow: Phase 1 Predict X, Phase 2 Models and datasets, Phase 3 Discovery">    </p:cNvPr>
          <p:cNvPicPr>
            <a:picLocks noChangeAspect="1"/>
          </p:cNvPicPr>
          <p:nvPr/>
        </p:nvPicPr>
        <p:blipFill>
          <a:blip r:embed="rId1"/>
          <a:stretch>
            <a:fillRect/>
          </a:stretch>
        </p:blipFill>
        <p:spPr>
          <a:xfrm>
            <a:off x="1791775" y="1143000"/>
            <a:ext cx="8623690" cy="5029200"/>
          </a:xfrm>
          <a:prstGeom prst="rect">
            <a:avLst/>
          </a:prstGeom>
        </p:spPr>
      </p:pic>
      <p:sp>
        <p:nvSpPr>
          <p:cNvPr id="5" name="Text 1"/>
          <p:cNvSpPr txBox="1"/>
          <p:nvPr/>
        </p:nvSpPr>
        <p:spPr>
          <a:xfrm>
            <a:off x="548640" y="6263640"/>
            <a:ext cx="5486400" cy="274320"/>
          </a:xfrm>
          <a:prstGeom prst="rect">
            <a:avLst/>
          </a:prstGeom>
          <a:noFill/>
          <a:ln/>
        </p:spPr>
        <p:txBody>
          <a:bodyPr wrap="square" lIns="0" tIns="0" rIns="0" bIns="0" rtlCol="0" anchor="t"/>
          <a:lstStyle/>
          <a:p>
            <a:pPr indent="0" marL="0">
              <a:buNone/>
            </a:pPr>
            <a:r>
              <a:rPr lang="en-US" sz="1100" i="1" dirty="0">
                <a:solidFill>
                  <a:schemeClr val="tx2"/>
                </a:solidFill>
              </a:rPr>
              <a:t>Image: hackathon organisers.</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Where this project sits in the flow</a:t>
            </a:r>
            <a:endParaRPr lang="en-US" sz="3200" dirty="0"/>
          </a:p>
        </p:txBody>
      </p:sp>
      <p:sp>
        <p:nvSpPr>
          <p:cNvPr id="4" name="phase-column"/>
          <p:cNvSpPr/>
          <p:nvPr/>
        </p:nvSpPr>
        <p:spPr>
          <a:xfrm>
            <a:off x="548640" y="1234440"/>
            <a:ext cx="3520440" cy="4572000"/>
          </a:xfrm>
          <a:prstGeom prst="roundRect">
            <a:avLst>
              <a:gd name="adj" fmla="val 3117"/>
            </a:avLst>
          </a:prstGeom>
          <a:solidFill>
            <a:schemeClr val="bg2"/>
          </a:solidFill>
          <a:ln w="12700">
            <a:solidFill>
              <a:schemeClr val="bg2"/>
            </a:solidFill>
            <a:prstDash val="solid"/>
          </a:ln>
        </p:spPr>
      </p:sp>
      <p:sp>
        <p:nvSpPr>
          <p:cNvPr id="5" name="Text 2"/>
          <p:cNvSpPr txBox="1"/>
          <p:nvPr/>
        </p:nvSpPr>
        <p:spPr>
          <a:xfrm>
            <a:off x="731520" y="1325880"/>
            <a:ext cx="3200400" cy="411480"/>
          </a:xfrm>
          <a:prstGeom prst="rect">
            <a:avLst/>
          </a:prstGeom>
          <a:noFill/>
          <a:ln/>
        </p:spPr>
        <p:txBody>
          <a:bodyPr wrap="square" lIns="0" tIns="0" rIns="0" bIns="0" rtlCol="0" anchor="t"/>
          <a:lstStyle/>
          <a:p>
            <a:pPr indent="0" marL="0">
              <a:buNone/>
            </a:pPr>
            <a:r>
              <a:rPr lang="en-US" sz="1600" b="1" dirty="0">
                <a:solidFill>
                  <a:schemeClr val="tx2"/>
                </a:solidFill>
              </a:rPr>
              <a:t>Phase 1 · Predict X</a:t>
            </a:r>
            <a:endParaRPr lang="en-US" sz="1600" dirty="0"/>
          </a:p>
        </p:txBody>
      </p:sp>
      <p:sp>
        <p:nvSpPr>
          <p:cNvPr id="6" name="phase-column"/>
          <p:cNvSpPr/>
          <p:nvPr/>
        </p:nvSpPr>
        <p:spPr>
          <a:xfrm>
            <a:off x="4343400" y="1234440"/>
            <a:ext cx="3520440" cy="4572000"/>
          </a:xfrm>
          <a:prstGeom prst="roundRect">
            <a:avLst>
              <a:gd name="adj" fmla="val 3117"/>
            </a:avLst>
          </a:prstGeom>
          <a:solidFill>
            <a:schemeClr val="bg2"/>
          </a:solidFill>
          <a:ln w="12700">
            <a:solidFill>
              <a:schemeClr val="bg2"/>
            </a:solidFill>
            <a:prstDash val="solid"/>
          </a:ln>
        </p:spPr>
      </p:sp>
      <p:sp>
        <p:nvSpPr>
          <p:cNvPr id="7" name="Text 4"/>
          <p:cNvSpPr txBox="1"/>
          <p:nvPr/>
        </p:nvSpPr>
        <p:spPr>
          <a:xfrm>
            <a:off x="4526280" y="1325880"/>
            <a:ext cx="3200400" cy="411480"/>
          </a:xfrm>
          <a:prstGeom prst="rect">
            <a:avLst/>
          </a:prstGeom>
          <a:noFill/>
          <a:ln/>
        </p:spPr>
        <p:txBody>
          <a:bodyPr wrap="square" lIns="0" tIns="0" rIns="0" bIns="0" rtlCol="0" anchor="t"/>
          <a:lstStyle/>
          <a:p>
            <a:pPr indent="0" marL="0">
              <a:buNone/>
            </a:pPr>
            <a:r>
              <a:rPr lang="en-US" sz="1600" b="1" dirty="0">
                <a:solidFill>
                  <a:schemeClr val="tx2"/>
                </a:solidFill>
              </a:rPr>
              <a:t>Phase 2 · Models &amp; datasets</a:t>
            </a:r>
            <a:endParaRPr lang="en-US" sz="1600" dirty="0"/>
          </a:p>
        </p:txBody>
      </p:sp>
      <p:sp>
        <p:nvSpPr>
          <p:cNvPr id="8" name="phase-column"/>
          <p:cNvSpPr/>
          <p:nvPr/>
        </p:nvSpPr>
        <p:spPr>
          <a:xfrm>
            <a:off x="8138160" y="1234440"/>
            <a:ext cx="3520440" cy="4572000"/>
          </a:xfrm>
          <a:prstGeom prst="roundRect">
            <a:avLst>
              <a:gd name="adj" fmla="val 3117"/>
            </a:avLst>
          </a:prstGeom>
          <a:solidFill>
            <a:schemeClr val="bg2"/>
          </a:solidFill>
          <a:ln w="12700">
            <a:solidFill>
              <a:schemeClr val="bg2"/>
            </a:solidFill>
            <a:prstDash val="solid"/>
          </a:ln>
        </p:spPr>
      </p:sp>
      <p:sp>
        <p:nvSpPr>
          <p:cNvPr id="9" name="Text 6"/>
          <p:cNvSpPr txBox="1"/>
          <p:nvPr/>
        </p:nvSpPr>
        <p:spPr>
          <a:xfrm>
            <a:off x="8321040" y="1325880"/>
            <a:ext cx="3200400" cy="411480"/>
          </a:xfrm>
          <a:prstGeom prst="rect">
            <a:avLst/>
          </a:prstGeom>
          <a:noFill/>
          <a:ln/>
        </p:spPr>
        <p:txBody>
          <a:bodyPr wrap="square" lIns="0" tIns="0" rIns="0" bIns="0" rtlCol="0" anchor="t"/>
          <a:lstStyle/>
          <a:p>
            <a:pPr indent="0" marL="0">
              <a:buNone/>
            </a:pPr>
            <a:r>
              <a:rPr lang="en-US" sz="1600" b="1" dirty="0">
                <a:solidFill>
                  <a:schemeClr val="tx2"/>
                </a:solidFill>
              </a:rPr>
              <a:t>Phase 3 · Discovery</a:t>
            </a:r>
            <a:endParaRPr lang="en-US" sz="1600" dirty="0"/>
          </a:p>
        </p:txBody>
      </p:sp>
      <p:sp>
        <p:nvSpPr>
          <p:cNvPr id="10" name="p1-orthology"/>
          <p:cNvSpPr/>
          <p:nvPr/>
        </p:nvSpPr>
        <p:spPr>
          <a:xfrm>
            <a:off x="731520" y="1965960"/>
            <a:ext cx="3154680" cy="1051560"/>
          </a:xfrm>
          <a:prstGeom prst="roundRect">
            <a:avLst>
              <a:gd name="adj" fmla="val 10435"/>
            </a:avLst>
          </a:prstGeom>
          <a:solidFill>
            <a:schemeClr val="tx2"/>
          </a:solidFill>
          <a:ln w="12700">
            <a:solidFill>
              <a:schemeClr val="tx2"/>
            </a:solidFill>
            <a:prstDash val="solid"/>
          </a:ln>
        </p:spPr>
      </p:sp>
      <p:sp>
        <p:nvSpPr>
          <p:cNvPr id="11" name="Text 8"/>
          <p:cNvSpPr txBox="1"/>
          <p:nvPr/>
        </p:nvSpPr>
        <p:spPr>
          <a:xfrm>
            <a:off x="914400" y="1965960"/>
            <a:ext cx="2834640" cy="1051560"/>
          </a:xfrm>
          <a:prstGeom prst="rect">
            <a:avLst/>
          </a:prstGeom>
          <a:noFill/>
          <a:ln/>
        </p:spPr>
        <p:txBody>
          <a:bodyPr wrap="square" lIns="0" tIns="0" rIns="0" bIns="0" rtlCol="0" anchor="ctr"/>
          <a:lstStyle/>
          <a:p>
            <a:pPr indent="0" marL="0">
              <a:buNone/>
            </a:pPr>
            <a:r>
              <a:rPr lang="en-US" sz="1600" b="1" dirty="0">
                <a:solidFill>
                  <a:schemeClr val="bg1"/>
                </a:solidFill>
              </a:rPr>
              <a:t>Orthology benchmarks</a:t>
            </a:r>
            <a:endParaRPr lang="en-US" sz="1600" dirty="0"/>
          </a:p>
          <a:p>
            <a:pPr indent="0" marL="0">
              <a:buNone/>
            </a:pPr>
            <a:r>
              <a:rPr lang="en-US" sz="1400" dirty="0">
                <a:solidFill>
                  <a:schemeClr val="bg1"/>
                </a:solidFill>
              </a:rPr>
              <a:t>built Ancestra</a:t>
            </a:r>
            <a:endParaRPr lang="en-US" sz="1600" dirty="0"/>
          </a:p>
        </p:txBody>
      </p:sp>
      <p:sp>
        <p:nvSpPr>
          <p:cNvPr id="12" name="p2-orthologcalls"/>
          <p:cNvSpPr/>
          <p:nvPr/>
        </p:nvSpPr>
        <p:spPr>
          <a:xfrm>
            <a:off x="4526280" y="1965960"/>
            <a:ext cx="3154680" cy="1051560"/>
          </a:xfrm>
          <a:prstGeom prst="roundRect">
            <a:avLst>
              <a:gd name="adj" fmla="val 10435"/>
            </a:avLst>
          </a:prstGeom>
          <a:solidFill>
            <a:schemeClr val="accent1"/>
          </a:solidFill>
          <a:ln w="12700">
            <a:solidFill>
              <a:schemeClr val="accent1"/>
            </a:solidFill>
            <a:prstDash val="solid"/>
          </a:ln>
        </p:spPr>
      </p:sp>
      <p:sp>
        <p:nvSpPr>
          <p:cNvPr id="13" name="Text 10"/>
          <p:cNvSpPr txBox="1"/>
          <p:nvPr/>
        </p:nvSpPr>
        <p:spPr>
          <a:xfrm>
            <a:off x="4709160" y="1965960"/>
            <a:ext cx="2834640" cy="1051560"/>
          </a:xfrm>
          <a:prstGeom prst="rect">
            <a:avLst/>
          </a:prstGeom>
          <a:noFill/>
          <a:ln/>
        </p:spPr>
        <p:txBody>
          <a:bodyPr wrap="square" lIns="0" tIns="0" rIns="0" bIns="0" rtlCol="0" anchor="ctr"/>
          <a:lstStyle/>
          <a:p>
            <a:pPr indent="0" marL="0">
              <a:buNone/>
            </a:pPr>
            <a:r>
              <a:rPr lang="en-US" sz="1600" b="1" dirty="0">
                <a:solidFill>
                  <a:schemeClr val="bg1"/>
                </a:solidFill>
              </a:rPr>
              <a:t>Ortholog calls</a:t>
            </a:r>
            <a:endParaRPr lang="en-US" sz="1600" dirty="0"/>
          </a:p>
          <a:p>
            <a:pPr indent="0" marL="0">
              <a:buNone/>
            </a:pPr>
            <a:r>
              <a:rPr lang="en-US" sz="1400" dirty="0">
                <a:solidFill>
                  <a:schemeClr val="bg1"/>
                </a:solidFill>
              </a:rPr>
              <a:t>Ancestra at scale</a:t>
            </a:r>
            <a:endParaRPr lang="en-US" sz="1600" dirty="0"/>
          </a:p>
        </p:txBody>
      </p:sp>
      <p:sp>
        <p:nvSpPr>
          <p:cNvPr id="14" name="arrow"/>
          <p:cNvSpPr/>
          <p:nvPr/>
        </p:nvSpPr>
        <p:spPr>
          <a:xfrm>
            <a:off x="3904488" y="2487168"/>
            <a:ext cx="603504" cy="914"/>
          </a:xfrm>
          <a:prstGeom prst="line">
            <a:avLst/>
          </a:prstGeom>
          <a:noFill/>
          <a:ln w="25400">
            <a:solidFill>
              <a:schemeClr val="tx2"/>
            </a:solidFill>
            <a:prstDash val="solid"/>
            <a:tailEnd type="triangle"/>
          </a:ln>
        </p:spPr>
      </p:sp>
      <p:sp>
        <p:nvSpPr>
          <p:cNvPr id="15" name="this-project"/>
          <p:cNvSpPr/>
          <p:nvPr/>
        </p:nvSpPr>
        <p:spPr>
          <a:xfrm>
            <a:off x="4526280" y="3520440"/>
            <a:ext cx="3154680" cy="1600200"/>
          </a:xfrm>
          <a:prstGeom prst="roundRect">
            <a:avLst>
              <a:gd name="adj" fmla="val 6857"/>
            </a:avLst>
          </a:prstGeom>
          <a:solidFill>
            <a:schemeClr val="accent4"/>
          </a:solidFill>
          <a:ln w="12700">
            <a:solidFill>
              <a:schemeClr val="accent4"/>
            </a:solidFill>
            <a:prstDash val="solid"/>
          </a:ln>
        </p:spPr>
      </p:sp>
      <p:sp>
        <p:nvSpPr>
          <p:cNvPr id="16" name="icon-circle-FaTree"/>
          <p:cNvSpPr/>
          <p:nvPr/>
        </p:nvSpPr>
        <p:spPr>
          <a:xfrm>
            <a:off x="4663440" y="3703320"/>
            <a:ext cx="548640" cy="548640"/>
          </a:xfrm>
          <a:prstGeom prst="ellipse">
            <a:avLst/>
          </a:prstGeom>
          <a:solidFill>
            <a:schemeClr val="tx2"/>
          </a:solidFill>
          <a:ln w="12700">
            <a:solidFill>
              <a:schemeClr val="tx2"/>
            </a:solidFill>
            <a:prstDash val="solid"/>
          </a:ln>
        </p:spPr>
      </p:sp>
      <p:pic>
        <p:nvPicPr>
          <p:cNvPr id="17" name="icon-FaTree" descr="FaTree">    </p:cNvPr>
          <p:cNvPicPr>
            <a:picLocks noChangeAspect="1"/>
          </p:cNvPicPr>
          <p:nvPr/>
        </p:nvPicPr>
        <p:blipFill>
          <a:blip r:embed="rId1"/>
          <a:stretch>
            <a:fillRect/>
          </a:stretch>
        </p:blipFill>
        <p:spPr>
          <a:xfrm>
            <a:off x="4795114" y="3834994"/>
            <a:ext cx="285293" cy="285293"/>
          </a:xfrm>
          <a:prstGeom prst="rect">
            <a:avLst/>
          </a:prstGeom>
        </p:spPr>
      </p:pic>
      <p:sp>
        <p:nvSpPr>
          <p:cNvPr id="18" name="Text 14"/>
          <p:cNvSpPr txBox="1"/>
          <p:nvPr/>
        </p:nvSpPr>
        <p:spPr>
          <a:xfrm>
            <a:off x="5303520" y="3566160"/>
            <a:ext cx="2286000" cy="1508760"/>
          </a:xfrm>
          <a:prstGeom prst="rect">
            <a:avLst/>
          </a:prstGeom>
          <a:noFill/>
          <a:ln/>
        </p:spPr>
        <p:txBody>
          <a:bodyPr wrap="square" lIns="0" tIns="0" rIns="0" bIns="0" rtlCol="0" anchor="ctr"/>
          <a:lstStyle/>
          <a:p>
            <a:pPr indent="0" marL="0">
              <a:buNone/>
            </a:pPr>
            <a:r>
              <a:rPr lang="en-US" sz="1600" b="1" dirty="0">
                <a:solidFill>
                  <a:schemeClr val="bg1"/>
                </a:solidFill>
              </a:rPr>
              <a:t>THIS PROJECT</a:t>
            </a:r>
            <a:endParaRPr lang="en-US" sz="1600" dirty="0"/>
          </a:p>
          <a:p>
            <a:pPr indent="0" marL="0">
              <a:buNone/>
            </a:pPr>
            <a:r>
              <a:rPr lang="en-US" sz="1300" dirty="0">
                <a:solidFill>
                  <a:schemeClr val="bg1"/>
                </a:solidFill>
              </a:rPr>
              <a:t>phase2-multicellularity: ancestral gene content at origins of multicellularity</a:t>
            </a:r>
            <a:endParaRPr lang="en-US" sz="1600" dirty="0"/>
          </a:p>
        </p:txBody>
      </p:sp>
      <p:sp>
        <p:nvSpPr>
          <p:cNvPr id="19" name="arrow"/>
          <p:cNvSpPr/>
          <p:nvPr/>
        </p:nvSpPr>
        <p:spPr>
          <a:xfrm>
            <a:off x="6099048" y="3044952"/>
            <a:ext cx="914" cy="457200"/>
          </a:xfrm>
          <a:prstGeom prst="line">
            <a:avLst/>
          </a:prstGeom>
          <a:noFill/>
          <a:ln w="31750">
            <a:solidFill>
              <a:schemeClr val="accent4"/>
            </a:solidFill>
            <a:prstDash val="solid"/>
            <a:tailEnd type="triangle"/>
          </a:ln>
        </p:spPr>
      </p:sp>
      <p:sp>
        <p:nvSpPr>
          <p:cNvPr id="20" name="Text 16"/>
          <p:cNvSpPr txBox="1"/>
          <p:nvPr/>
        </p:nvSpPr>
        <p:spPr>
          <a:xfrm>
            <a:off x="6217920" y="3090672"/>
            <a:ext cx="1463040" cy="365760"/>
          </a:xfrm>
          <a:prstGeom prst="rect">
            <a:avLst/>
          </a:prstGeom>
          <a:noFill/>
          <a:ln/>
        </p:spPr>
        <p:txBody>
          <a:bodyPr wrap="square" lIns="0" tIns="0" rIns="0" bIns="0" rtlCol="0" anchor="t"/>
          <a:lstStyle/>
          <a:p>
            <a:pPr indent="0" marL="0">
              <a:buNone/>
            </a:pPr>
            <a:r>
              <a:rPr lang="en-US" sz="1200" b="1" dirty="0">
                <a:solidFill>
                  <a:schemeClr val="accent4"/>
                </a:solidFill>
              </a:rPr>
              <a:t>uses Ancestra</a:t>
            </a:r>
            <a:endParaRPr lang="en-US" sz="1200" dirty="0"/>
          </a:p>
        </p:txBody>
      </p:sp>
      <p:sp>
        <p:nvSpPr>
          <p:cNvPr id="21" name="p3-complex"/>
          <p:cNvSpPr/>
          <p:nvPr/>
        </p:nvSpPr>
        <p:spPr>
          <a:xfrm>
            <a:off x="8321040" y="3520440"/>
            <a:ext cx="3154680" cy="1600200"/>
          </a:xfrm>
          <a:prstGeom prst="roundRect">
            <a:avLst>
              <a:gd name="adj" fmla="val 6857"/>
            </a:avLst>
          </a:prstGeom>
          <a:solidFill>
            <a:schemeClr val="bg1"/>
          </a:solidFill>
          <a:ln w="19050">
            <a:solidFill>
              <a:schemeClr val="accent4"/>
            </a:solidFill>
            <a:prstDash val="solid"/>
          </a:ln>
        </p:spPr>
      </p:sp>
      <p:sp>
        <p:nvSpPr>
          <p:cNvPr id="22" name="Text 18"/>
          <p:cNvSpPr txBox="1"/>
          <p:nvPr/>
        </p:nvSpPr>
        <p:spPr>
          <a:xfrm>
            <a:off x="8503920" y="3520440"/>
            <a:ext cx="2834640" cy="1600200"/>
          </a:xfrm>
          <a:prstGeom prst="rect">
            <a:avLst/>
          </a:prstGeom>
          <a:noFill/>
          <a:ln/>
        </p:spPr>
        <p:txBody>
          <a:bodyPr wrap="square" lIns="0" tIns="0" rIns="0" bIns="0" rtlCol="0" anchor="ctr"/>
          <a:lstStyle/>
          <a:p>
            <a:pPr indent="0" marL="0">
              <a:buNone/>
            </a:pPr>
            <a:r>
              <a:rPr lang="en-US" sz="1600" b="1" dirty="0">
                <a:solidFill>
                  <a:schemeClr val="tx1"/>
                </a:solidFill>
              </a:rPr>
              <a:t>Protein complex evolution</a:t>
            </a:r>
            <a:endParaRPr lang="en-US" sz="1600" dirty="0"/>
          </a:p>
          <a:p>
            <a:pPr indent="0" marL="0">
              <a:buNone/>
            </a:pPr>
            <a:r>
              <a:rPr lang="en-US" sz="1400" dirty="0">
                <a:solidFill>
                  <a:schemeClr val="tx1"/>
                </a:solidFill>
              </a:rPr>
              <a:t>orthology + co-frac + MS</a:t>
            </a:r>
            <a:endParaRPr lang="en-US" sz="1600" dirty="0"/>
          </a:p>
        </p:txBody>
      </p:sp>
      <p:sp>
        <p:nvSpPr>
          <p:cNvPr id="23" name="touches-arrow"/>
          <p:cNvSpPr/>
          <p:nvPr/>
        </p:nvSpPr>
        <p:spPr>
          <a:xfrm>
            <a:off x="7699248" y="4315968"/>
            <a:ext cx="603504" cy="914"/>
          </a:xfrm>
          <a:prstGeom prst="line">
            <a:avLst/>
          </a:prstGeom>
          <a:noFill/>
          <a:ln w="25400">
            <a:solidFill>
              <a:schemeClr val="accent4"/>
            </a:solidFill>
            <a:prstDash val="dash"/>
            <a:tailEnd type="triangle"/>
          </a:ln>
        </p:spPr>
      </p:sp>
      <p:sp>
        <p:nvSpPr>
          <p:cNvPr id="24" name="Text 20"/>
          <p:cNvSpPr txBox="1"/>
          <p:nvPr/>
        </p:nvSpPr>
        <p:spPr>
          <a:xfrm>
            <a:off x="8321040" y="5166360"/>
            <a:ext cx="3200400" cy="457200"/>
          </a:xfrm>
          <a:prstGeom prst="rect">
            <a:avLst/>
          </a:prstGeom>
          <a:noFill/>
          <a:ln/>
        </p:spPr>
        <p:txBody>
          <a:bodyPr wrap="square" lIns="0" tIns="0" rIns="0" bIns="0" rtlCol="0" anchor="t"/>
          <a:lstStyle/>
          <a:p>
            <a:pPr indent="0" marL="0">
              <a:buNone/>
            </a:pPr>
            <a:r>
              <a:rPr lang="en-US" sz="1200" i="1" dirty="0">
                <a:solidFill>
                  <a:schemeClr val="tx2"/>
                </a:solidFill>
              </a:rPr>
              <a:t>touches (Cox et al. LECA complexes)</a:t>
            </a:r>
            <a:endParaRPr lang="en-US" sz="1200" dirty="0"/>
          </a:p>
        </p:txBody>
      </p:sp>
      <p:sp>
        <p:nvSpPr>
          <p:cNvPr id="25" name="tbc-note"/>
          <p:cNvSpPr/>
          <p:nvPr/>
        </p:nvSpPr>
        <p:spPr>
          <a:xfrm>
            <a:off x="731520" y="3520440"/>
            <a:ext cx="3154680" cy="1600200"/>
          </a:xfrm>
          <a:prstGeom prst="roundRect">
            <a:avLst>
              <a:gd name="adj" fmla="val 6857"/>
            </a:avLst>
          </a:prstGeom>
          <a:solidFill>
            <a:schemeClr val="bg1"/>
          </a:solidFill>
          <a:ln w="25400">
            <a:solidFill>
              <a:schemeClr val="accent5"/>
            </a:solidFill>
            <a:prstDash val="dash"/>
          </a:ln>
        </p:spPr>
      </p:sp>
      <p:sp>
        <p:nvSpPr>
          <p:cNvPr id="26" name="Text 22"/>
          <p:cNvSpPr txBox="1"/>
          <p:nvPr/>
        </p:nvSpPr>
        <p:spPr>
          <a:xfrm>
            <a:off x="868680" y="3520440"/>
            <a:ext cx="2880360" cy="1051560"/>
          </a:xfrm>
          <a:prstGeom prst="rect">
            <a:avLst/>
          </a:prstGeom>
          <a:noFill/>
          <a:ln/>
        </p:spPr>
        <p:txBody>
          <a:bodyPr wrap="square" lIns="0" tIns="0" rIns="0" bIns="0" rtlCol="0" anchor="ctr"/>
          <a:lstStyle/>
          <a:p>
            <a:pPr algn="ctr" indent="0" marL="0">
              <a:buNone/>
            </a:pPr>
            <a:r>
              <a:rPr lang="en-US" sz="1500" b="1" dirty="0">
                <a:solidFill>
                  <a:schemeClr val="tx2"/>
                </a:solidFill>
              </a:rPr>
              <a:t>[position in official flow: to be confirmed]</a:t>
            </a:r>
            <a:endParaRPr lang="en-US" sz="1500" dirty="0"/>
          </a:p>
        </p:txBody>
      </p:sp>
      <p:sp>
        <p:nvSpPr>
          <p:cNvPr id="27" name="Text 23"/>
          <p:cNvSpPr txBox="1"/>
          <p:nvPr/>
        </p:nvSpPr>
        <p:spPr>
          <a:xfrm>
            <a:off x="868680" y="4526280"/>
            <a:ext cx="2880360" cy="457200"/>
          </a:xfrm>
          <a:prstGeom prst="rect">
            <a:avLst/>
          </a:prstGeom>
          <a:noFill/>
          <a:ln/>
        </p:spPr>
        <p:txBody>
          <a:bodyPr wrap="square" lIns="0" tIns="0" rIns="0" bIns="0" rtlCol="0" anchor="t"/>
          <a:lstStyle/>
          <a:p>
            <a:pPr algn="ctr" indent="0" marL="0">
              <a:buNone/>
            </a:pPr>
            <a:r>
              <a:rPr lang="en-US" sz="1300" dirty="0">
                <a:solidFill>
                  <a:schemeClr val="tx2"/>
                </a:solidFill>
              </a:rPr>
              <a:t>no box of its own in the diagram</a:t>
            </a:r>
            <a:endParaRPr lang="en-US" sz="1300" dirty="0"/>
          </a:p>
        </p:txBody>
      </p:sp>
      <p:sp>
        <p:nvSpPr>
          <p:cNvPr id="28" name="Text 24"/>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Simplified from the organisers' flow diagram; only the boxes this project connects to are shown.</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Thirteen projects, one shared recipe</a:t>
            </a:r>
            <a:endParaRPr lang="en-US" sz="3200" dirty="0"/>
          </a:p>
        </p:txBody>
      </p:sp>
      <p:sp>
        <p:nvSpPr>
          <p:cNvPr id="4" name="project-tile"/>
          <p:cNvSpPr/>
          <p:nvPr/>
        </p:nvSpPr>
        <p:spPr>
          <a:xfrm>
            <a:off x="548640" y="1280160"/>
            <a:ext cx="2103120" cy="960120"/>
          </a:xfrm>
          <a:prstGeom prst="roundRect">
            <a:avLst>
              <a:gd name="adj" fmla="val 11429"/>
            </a:avLst>
          </a:prstGeom>
          <a:solidFill>
            <a:schemeClr val="bg2"/>
          </a:solidFill>
          <a:ln w="12700">
            <a:solidFill>
              <a:schemeClr val="bg2"/>
            </a:solidFill>
            <a:prstDash val="solid"/>
          </a:ln>
        </p:spPr>
      </p:sp>
      <p:sp>
        <p:nvSpPr>
          <p:cNvPr id="5" name="icon-circle-FaDna"/>
          <p:cNvSpPr/>
          <p:nvPr/>
        </p:nvSpPr>
        <p:spPr>
          <a:xfrm>
            <a:off x="658368" y="1481328"/>
            <a:ext cx="548640" cy="548640"/>
          </a:xfrm>
          <a:prstGeom prst="ellipse">
            <a:avLst/>
          </a:prstGeom>
          <a:solidFill>
            <a:schemeClr val="accent1"/>
          </a:solidFill>
          <a:ln w="12700">
            <a:solidFill>
              <a:schemeClr val="accent1"/>
            </a:solidFill>
            <a:prstDash val="solid"/>
          </a:ln>
        </p:spPr>
      </p:sp>
      <p:pic>
        <p:nvPicPr>
          <p:cNvPr id="6" name="icon-FaDna" descr="FaDna">    </p:cNvPr>
          <p:cNvPicPr>
            <a:picLocks noChangeAspect="1"/>
          </p:cNvPicPr>
          <p:nvPr/>
        </p:nvPicPr>
        <p:blipFill>
          <a:blip r:embed="rId1"/>
          <a:stretch>
            <a:fillRect/>
          </a:stretch>
        </p:blipFill>
        <p:spPr>
          <a:xfrm>
            <a:off x="790042" y="1613002"/>
            <a:ext cx="285293" cy="285293"/>
          </a:xfrm>
          <a:prstGeom prst="rect">
            <a:avLst/>
          </a:prstGeom>
        </p:spPr>
      </p:pic>
      <p:sp>
        <p:nvSpPr>
          <p:cNvPr id="7" name="Text 3"/>
          <p:cNvSpPr txBox="1"/>
          <p:nvPr/>
        </p:nvSpPr>
        <p:spPr>
          <a:xfrm>
            <a:off x="1298448" y="1353312"/>
            <a:ext cx="1280160" cy="813816"/>
          </a:xfrm>
          <a:prstGeom prst="rect">
            <a:avLst/>
          </a:prstGeom>
          <a:noFill/>
          <a:ln/>
        </p:spPr>
        <p:txBody>
          <a:bodyPr wrap="square" lIns="0" tIns="0" rIns="0" bIns="0" rtlCol="0" anchor="ctr"/>
          <a:lstStyle/>
          <a:p>
            <a:pPr indent="0" marL="0">
              <a:buNone/>
            </a:pPr>
            <a:r>
              <a:rPr lang="en-US" sz="1400" dirty="0">
                <a:solidFill>
                  <a:schemeClr val="tx1"/>
                </a:solidFill>
              </a:rPr>
              <a:t>Cancer essentiality</a:t>
            </a:r>
            <a:endParaRPr lang="en-US" sz="1400" dirty="0"/>
          </a:p>
        </p:txBody>
      </p:sp>
      <p:sp>
        <p:nvSpPr>
          <p:cNvPr id="8" name="project-tile"/>
          <p:cNvSpPr/>
          <p:nvPr/>
        </p:nvSpPr>
        <p:spPr>
          <a:xfrm>
            <a:off x="2761488" y="1280160"/>
            <a:ext cx="2103120" cy="960120"/>
          </a:xfrm>
          <a:prstGeom prst="roundRect">
            <a:avLst>
              <a:gd name="adj" fmla="val 11429"/>
            </a:avLst>
          </a:prstGeom>
          <a:solidFill>
            <a:schemeClr val="bg2"/>
          </a:solidFill>
          <a:ln w="12700">
            <a:solidFill>
              <a:schemeClr val="bg2"/>
            </a:solidFill>
            <a:prstDash val="solid"/>
          </a:ln>
        </p:spPr>
      </p:sp>
      <p:sp>
        <p:nvSpPr>
          <p:cNvPr id="9" name="icon-circle-FaCogs"/>
          <p:cNvSpPr/>
          <p:nvPr/>
        </p:nvSpPr>
        <p:spPr>
          <a:xfrm>
            <a:off x="2871216" y="1481328"/>
            <a:ext cx="548640" cy="548640"/>
          </a:xfrm>
          <a:prstGeom prst="ellipse">
            <a:avLst/>
          </a:prstGeom>
          <a:solidFill>
            <a:schemeClr val="accent1"/>
          </a:solidFill>
          <a:ln w="12700">
            <a:solidFill>
              <a:schemeClr val="accent1"/>
            </a:solidFill>
            <a:prstDash val="solid"/>
          </a:ln>
        </p:spPr>
      </p:sp>
      <p:pic>
        <p:nvPicPr>
          <p:cNvPr id="10" name="icon-FaCogs" descr="FaCogs">    </p:cNvPr>
          <p:cNvPicPr>
            <a:picLocks noChangeAspect="1"/>
          </p:cNvPicPr>
          <p:nvPr/>
        </p:nvPicPr>
        <p:blipFill>
          <a:blip r:embed="rId2"/>
          <a:stretch>
            <a:fillRect/>
          </a:stretch>
        </p:blipFill>
        <p:spPr>
          <a:xfrm>
            <a:off x="3002890" y="1613002"/>
            <a:ext cx="285293" cy="285293"/>
          </a:xfrm>
          <a:prstGeom prst="rect">
            <a:avLst/>
          </a:prstGeom>
        </p:spPr>
      </p:pic>
      <p:sp>
        <p:nvSpPr>
          <p:cNvPr id="11" name="Text 6"/>
          <p:cNvSpPr txBox="1"/>
          <p:nvPr/>
        </p:nvSpPr>
        <p:spPr>
          <a:xfrm>
            <a:off x="3511296" y="1353312"/>
            <a:ext cx="1280160" cy="813816"/>
          </a:xfrm>
          <a:prstGeom prst="rect">
            <a:avLst/>
          </a:prstGeom>
          <a:noFill/>
          <a:ln/>
        </p:spPr>
        <p:txBody>
          <a:bodyPr wrap="square" lIns="0" tIns="0" rIns="0" bIns="0" rtlCol="0" anchor="ctr"/>
          <a:lstStyle/>
          <a:p>
            <a:pPr indent="0" marL="0">
              <a:buNone/>
            </a:pPr>
            <a:r>
              <a:rPr lang="en-US" sz="1400" dirty="0">
                <a:solidFill>
                  <a:schemeClr val="tx1"/>
                </a:solidFill>
              </a:rPr>
              <a:t>Cancer metabolic model</a:t>
            </a:r>
            <a:endParaRPr lang="en-US" sz="1400" dirty="0"/>
          </a:p>
        </p:txBody>
      </p:sp>
      <p:sp>
        <p:nvSpPr>
          <p:cNvPr id="12" name="project-tile"/>
          <p:cNvSpPr/>
          <p:nvPr/>
        </p:nvSpPr>
        <p:spPr>
          <a:xfrm>
            <a:off x="4974336" y="1280160"/>
            <a:ext cx="2103120" cy="960120"/>
          </a:xfrm>
          <a:prstGeom prst="roundRect">
            <a:avLst>
              <a:gd name="adj" fmla="val 11429"/>
            </a:avLst>
          </a:prstGeom>
          <a:solidFill>
            <a:schemeClr val="bg2"/>
          </a:solidFill>
          <a:ln w="12700">
            <a:solidFill>
              <a:schemeClr val="bg2"/>
            </a:solidFill>
            <a:prstDash val="solid"/>
          </a:ln>
        </p:spPr>
      </p:sp>
      <p:sp>
        <p:nvSpPr>
          <p:cNvPr id="13" name="icon-circle-FaPuzzlePiece"/>
          <p:cNvSpPr/>
          <p:nvPr/>
        </p:nvSpPr>
        <p:spPr>
          <a:xfrm>
            <a:off x="5084064" y="1481328"/>
            <a:ext cx="548640" cy="548640"/>
          </a:xfrm>
          <a:prstGeom prst="ellipse">
            <a:avLst/>
          </a:prstGeom>
          <a:solidFill>
            <a:schemeClr val="accent1"/>
          </a:solidFill>
          <a:ln w="12700">
            <a:solidFill>
              <a:schemeClr val="accent1"/>
            </a:solidFill>
            <a:prstDash val="solid"/>
          </a:ln>
        </p:spPr>
      </p:sp>
      <p:pic>
        <p:nvPicPr>
          <p:cNvPr id="14" name="icon-FaPuzzlePiece" descr="FaPuzzlePiece">    </p:cNvPr>
          <p:cNvPicPr>
            <a:picLocks noChangeAspect="1"/>
          </p:cNvPicPr>
          <p:nvPr/>
        </p:nvPicPr>
        <p:blipFill>
          <a:blip r:embed="rId3"/>
          <a:stretch>
            <a:fillRect/>
          </a:stretch>
        </p:blipFill>
        <p:spPr>
          <a:xfrm>
            <a:off x="5215738" y="1613002"/>
            <a:ext cx="285293" cy="285293"/>
          </a:xfrm>
          <a:prstGeom prst="rect">
            <a:avLst/>
          </a:prstGeom>
        </p:spPr>
      </p:pic>
      <p:sp>
        <p:nvSpPr>
          <p:cNvPr id="15" name="Text 9"/>
          <p:cNvSpPr txBox="1"/>
          <p:nvPr/>
        </p:nvSpPr>
        <p:spPr>
          <a:xfrm>
            <a:off x="5724144" y="1353312"/>
            <a:ext cx="1280160" cy="813816"/>
          </a:xfrm>
          <a:prstGeom prst="rect">
            <a:avLst/>
          </a:prstGeom>
          <a:noFill/>
          <a:ln/>
        </p:spPr>
        <p:txBody>
          <a:bodyPr wrap="square" lIns="0" tIns="0" rIns="0" bIns="0" rtlCol="0" anchor="ctr"/>
          <a:lstStyle/>
          <a:p>
            <a:pPr indent="0" marL="0">
              <a:buNone/>
            </a:pPr>
            <a:r>
              <a:rPr lang="en-US" sz="1400" dirty="0">
                <a:solidFill>
                  <a:schemeClr val="tx1"/>
                </a:solidFill>
              </a:rPr>
              <a:t>Co-complex from co-essentiality</a:t>
            </a:r>
            <a:endParaRPr lang="en-US" sz="1400" dirty="0"/>
          </a:p>
        </p:txBody>
      </p:sp>
      <p:sp>
        <p:nvSpPr>
          <p:cNvPr id="16" name="project-tile"/>
          <p:cNvSpPr/>
          <p:nvPr/>
        </p:nvSpPr>
        <p:spPr>
          <a:xfrm>
            <a:off x="7187184" y="1280160"/>
            <a:ext cx="2103120" cy="960120"/>
          </a:xfrm>
          <a:prstGeom prst="roundRect">
            <a:avLst>
              <a:gd name="adj" fmla="val 11429"/>
            </a:avLst>
          </a:prstGeom>
          <a:solidFill>
            <a:schemeClr val="bg2"/>
          </a:solidFill>
          <a:ln w="12700">
            <a:solidFill>
              <a:schemeClr val="bg2"/>
            </a:solidFill>
            <a:prstDash val="solid"/>
          </a:ln>
        </p:spPr>
      </p:sp>
      <p:sp>
        <p:nvSpPr>
          <p:cNvPr id="17" name="icon-circle-FaExchangeAlt"/>
          <p:cNvSpPr/>
          <p:nvPr/>
        </p:nvSpPr>
        <p:spPr>
          <a:xfrm>
            <a:off x="7296912" y="1481328"/>
            <a:ext cx="548640" cy="548640"/>
          </a:xfrm>
          <a:prstGeom prst="ellipse">
            <a:avLst/>
          </a:prstGeom>
          <a:solidFill>
            <a:schemeClr val="accent1"/>
          </a:solidFill>
          <a:ln w="12700">
            <a:solidFill>
              <a:schemeClr val="accent1"/>
            </a:solidFill>
            <a:prstDash val="solid"/>
          </a:ln>
        </p:spPr>
      </p:sp>
      <p:pic>
        <p:nvPicPr>
          <p:cNvPr id="18" name="icon-FaExchangeAlt" descr="FaExchangeAlt">    </p:cNvPr>
          <p:cNvPicPr>
            <a:picLocks noChangeAspect="1"/>
          </p:cNvPicPr>
          <p:nvPr/>
        </p:nvPicPr>
        <p:blipFill>
          <a:blip r:embed="rId4"/>
          <a:stretch>
            <a:fillRect/>
          </a:stretch>
        </p:blipFill>
        <p:spPr>
          <a:xfrm>
            <a:off x="7428586" y="1613002"/>
            <a:ext cx="285293" cy="285293"/>
          </a:xfrm>
          <a:prstGeom prst="rect">
            <a:avLst/>
          </a:prstGeom>
        </p:spPr>
      </p:pic>
      <p:sp>
        <p:nvSpPr>
          <p:cNvPr id="19" name="Text 12"/>
          <p:cNvSpPr txBox="1"/>
          <p:nvPr/>
        </p:nvSpPr>
        <p:spPr>
          <a:xfrm>
            <a:off x="7936992" y="1353312"/>
            <a:ext cx="1280160" cy="813816"/>
          </a:xfrm>
          <a:prstGeom prst="rect">
            <a:avLst/>
          </a:prstGeom>
          <a:noFill/>
          <a:ln/>
        </p:spPr>
        <p:txBody>
          <a:bodyPr wrap="square" lIns="0" tIns="0" rIns="0" bIns="0" rtlCol="0" anchor="ctr"/>
          <a:lstStyle/>
          <a:p>
            <a:pPr indent="0" marL="0">
              <a:buNone/>
            </a:pPr>
            <a:r>
              <a:rPr lang="en-US" sz="1400" dirty="0">
                <a:solidFill>
                  <a:schemeClr val="tx1"/>
                </a:solidFill>
              </a:rPr>
              <a:t>CNV → trans-transcriptome</a:t>
            </a:r>
            <a:endParaRPr lang="en-US" sz="1400" dirty="0"/>
          </a:p>
        </p:txBody>
      </p:sp>
      <p:sp>
        <p:nvSpPr>
          <p:cNvPr id="20" name="project-tile"/>
          <p:cNvSpPr/>
          <p:nvPr/>
        </p:nvSpPr>
        <p:spPr>
          <a:xfrm>
            <a:off x="9400032" y="1280160"/>
            <a:ext cx="2103120" cy="960120"/>
          </a:xfrm>
          <a:prstGeom prst="roundRect">
            <a:avLst>
              <a:gd name="adj" fmla="val 11429"/>
            </a:avLst>
          </a:prstGeom>
          <a:solidFill>
            <a:schemeClr val="bg2"/>
          </a:solidFill>
          <a:ln w="12700">
            <a:solidFill>
              <a:schemeClr val="bg2"/>
            </a:solidFill>
            <a:prstDash val="solid"/>
          </a:ln>
        </p:spPr>
      </p:sp>
      <p:sp>
        <p:nvSpPr>
          <p:cNvPr id="21" name="icon-circle-FaCrosshairs"/>
          <p:cNvSpPr/>
          <p:nvPr/>
        </p:nvSpPr>
        <p:spPr>
          <a:xfrm>
            <a:off x="9509760" y="1481328"/>
            <a:ext cx="548640" cy="548640"/>
          </a:xfrm>
          <a:prstGeom prst="ellipse">
            <a:avLst/>
          </a:prstGeom>
          <a:solidFill>
            <a:schemeClr val="accent1"/>
          </a:solidFill>
          <a:ln w="12700">
            <a:solidFill>
              <a:schemeClr val="accent1"/>
            </a:solidFill>
            <a:prstDash val="solid"/>
          </a:ln>
        </p:spPr>
      </p:sp>
      <p:pic>
        <p:nvPicPr>
          <p:cNvPr id="22" name="icon-FaCrosshairs" descr="FaCrosshairs">    </p:cNvPr>
          <p:cNvPicPr>
            <a:picLocks noChangeAspect="1"/>
          </p:cNvPicPr>
          <p:nvPr/>
        </p:nvPicPr>
        <p:blipFill>
          <a:blip r:embed="rId5"/>
          <a:stretch>
            <a:fillRect/>
          </a:stretch>
        </p:blipFill>
        <p:spPr>
          <a:xfrm>
            <a:off x="9641434" y="1613002"/>
            <a:ext cx="285293" cy="285293"/>
          </a:xfrm>
          <a:prstGeom prst="rect">
            <a:avLst/>
          </a:prstGeom>
        </p:spPr>
      </p:pic>
      <p:sp>
        <p:nvSpPr>
          <p:cNvPr id="23" name="Text 15"/>
          <p:cNvSpPr txBox="1"/>
          <p:nvPr/>
        </p:nvSpPr>
        <p:spPr>
          <a:xfrm>
            <a:off x="10149840" y="1353312"/>
            <a:ext cx="1280160" cy="813816"/>
          </a:xfrm>
          <a:prstGeom prst="rect">
            <a:avLst/>
          </a:prstGeom>
          <a:noFill/>
          <a:ln/>
        </p:spPr>
        <p:txBody>
          <a:bodyPr wrap="square" lIns="0" tIns="0" rIns="0" bIns="0" rtlCol="0" anchor="ctr"/>
          <a:lstStyle/>
          <a:p>
            <a:pPr indent="0" marL="0">
              <a:buNone/>
            </a:pPr>
            <a:r>
              <a:rPr lang="en-US" sz="1400" dirty="0">
                <a:solidFill>
                  <a:schemeClr val="tx1"/>
                </a:solidFill>
              </a:rPr>
              <a:t>Pocket prediction (BURROW)</a:t>
            </a:r>
            <a:endParaRPr lang="en-US" sz="1400" dirty="0"/>
          </a:p>
        </p:txBody>
      </p:sp>
      <p:sp>
        <p:nvSpPr>
          <p:cNvPr id="24" name="project-tile"/>
          <p:cNvSpPr/>
          <p:nvPr/>
        </p:nvSpPr>
        <p:spPr>
          <a:xfrm>
            <a:off x="548640" y="2404872"/>
            <a:ext cx="2103120" cy="960120"/>
          </a:xfrm>
          <a:prstGeom prst="roundRect">
            <a:avLst>
              <a:gd name="adj" fmla="val 11429"/>
            </a:avLst>
          </a:prstGeom>
          <a:solidFill>
            <a:schemeClr val="bg2"/>
          </a:solidFill>
          <a:ln w="12700">
            <a:solidFill>
              <a:schemeClr val="bg2"/>
            </a:solidFill>
            <a:prstDash val="solid"/>
          </a:ln>
        </p:spPr>
      </p:sp>
      <p:sp>
        <p:nvSpPr>
          <p:cNvPr id="25" name="icon-circle-FaKey"/>
          <p:cNvSpPr/>
          <p:nvPr/>
        </p:nvSpPr>
        <p:spPr>
          <a:xfrm>
            <a:off x="658368" y="2606040"/>
            <a:ext cx="548640" cy="548640"/>
          </a:xfrm>
          <a:prstGeom prst="ellipse">
            <a:avLst/>
          </a:prstGeom>
          <a:solidFill>
            <a:schemeClr val="accent1"/>
          </a:solidFill>
          <a:ln w="12700">
            <a:solidFill>
              <a:schemeClr val="accent1"/>
            </a:solidFill>
            <a:prstDash val="solid"/>
          </a:ln>
        </p:spPr>
      </p:sp>
      <p:pic>
        <p:nvPicPr>
          <p:cNvPr id="26" name="icon-FaKey" descr="FaKey">    </p:cNvPr>
          <p:cNvPicPr>
            <a:picLocks noChangeAspect="1"/>
          </p:cNvPicPr>
          <p:nvPr/>
        </p:nvPicPr>
        <p:blipFill>
          <a:blip r:embed="rId6"/>
          <a:stretch>
            <a:fillRect/>
          </a:stretch>
        </p:blipFill>
        <p:spPr>
          <a:xfrm>
            <a:off x="790042" y="2737714"/>
            <a:ext cx="285293" cy="285293"/>
          </a:xfrm>
          <a:prstGeom prst="rect">
            <a:avLst/>
          </a:prstGeom>
        </p:spPr>
      </p:pic>
      <p:sp>
        <p:nvSpPr>
          <p:cNvPr id="27" name="Text 18"/>
          <p:cNvSpPr txBox="1"/>
          <p:nvPr/>
        </p:nvSpPr>
        <p:spPr>
          <a:xfrm>
            <a:off x="1298448" y="2478024"/>
            <a:ext cx="1280160" cy="813816"/>
          </a:xfrm>
          <a:prstGeom prst="rect">
            <a:avLst/>
          </a:prstGeom>
          <a:noFill/>
          <a:ln/>
        </p:spPr>
        <p:txBody>
          <a:bodyPr wrap="square" lIns="0" tIns="0" rIns="0" bIns="0" rtlCol="0" anchor="ctr"/>
          <a:lstStyle/>
          <a:p>
            <a:pPr indent="0" marL="0">
              <a:buNone/>
            </a:pPr>
            <a:r>
              <a:rPr lang="en-US" sz="1400" dirty="0">
                <a:solidFill>
                  <a:schemeClr val="tx1"/>
                </a:solidFill>
              </a:rPr>
              <a:t>Ligand docking (ADock)</a:t>
            </a:r>
            <a:endParaRPr lang="en-US" sz="1400" dirty="0"/>
          </a:p>
        </p:txBody>
      </p:sp>
      <p:sp>
        <p:nvSpPr>
          <p:cNvPr id="28" name="project-tile"/>
          <p:cNvSpPr/>
          <p:nvPr/>
        </p:nvSpPr>
        <p:spPr>
          <a:xfrm>
            <a:off x="2761488" y="2404872"/>
            <a:ext cx="2103120" cy="960120"/>
          </a:xfrm>
          <a:prstGeom prst="roundRect">
            <a:avLst>
              <a:gd name="adj" fmla="val 11429"/>
            </a:avLst>
          </a:prstGeom>
          <a:solidFill>
            <a:schemeClr val="bg2"/>
          </a:solidFill>
          <a:ln w="12700">
            <a:solidFill>
              <a:schemeClr val="bg2"/>
            </a:solidFill>
            <a:prstDash val="solid"/>
          </a:ln>
        </p:spPr>
      </p:sp>
      <p:sp>
        <p:nvSpPr>
          <p:cNvPr id="29" name="icon-circle-FaBalanceScale"/>
          <p:cNvSpPr/>
          <p:nvPr/>
        </p:nvSpPr>
        <p:spPr>
          <a:xfrm>
            <a:off x="2871216" y="2606040"/>
            <a:ext cx="548640" cy="548640"/>
          </a:xfrm>
          <a:prstGeom prst="ellipse">
            <a:avLst/>
          </a:prstGeom>
          <a:solidFill>
            <a:schemeClr val="accent1"/>
          </a:solidFill>
          <a:ln w="12700">
            <a:solidFill>
              <a:schemeClr val="accent1"/>
            </a:solidFill>
            <a:prstDash val="solid"/>
          </a:ln>
        </p:spPr>
      </p:sp>
      <p:pic>
        <p:nvPicPr>
          <p:cNvPr id="30" name="icon-FaBalanceScale" descr="FaBalanceScale">    </p:cNvPr>
          <p:cNvPicPr>
            <a:picLocks noChangeAspect="1"/>
          </p:cNvPicPr>
          <p:nvPr/>
        </p:nvPicPr>
        <p:blipFill>
          <a:blip r:embed="rId7"/>
          <a:stretch>
            <a:fillRect/>
          </a:stretch>
        </p:blipFill>
        <p:spPr>
          <a:xfrm>
            <a:off x="3002890" y="2737714"/>
            <a:ext cx="285293" cy="285293"/>
          </a:xfrm>
          <a:prstGeom prst="rect">
            <a:avLst/>
          </a:prstGeom>
        </p:spPr>
      </p:pic>
      <p:sp>
        <p:nvSpPr>
          <p:cNvPr id="31" name="Text 21"/>
          <p:cNvSpPr txBox="1"/>
          <p:nvPr/>
        </p:nvSpPr>
        <p:spPr>
          <a:xfrm>
            <a:off x="3511296" y="2478024"/>
            <a:ext cx="1280160" cy="813816"/>
          </a:xfrm>
          <a:prstGeom prst="rect">
            <a:avLst/>
          </a:prstGeom>
          <a:noFill/>
          <a:ln/>
        </p:spPr>
        <p:txBody>
          <a:bodyPr wrap="square" lIns="0" tIns="0" rIns="0" bIns="0" rtlCol="0" anchor="ctr"/>
          <a:lstStyle/>
          <a:p>
            <a:pPr indent="0" marL="0">
              <a:buNone/>
            </a:pPr>
            <a:r>
              <a:rPr lang="en-US" sz="1400" dirty="0">
                <a:solidFill>
                  <a:schemeClr val="tx1"/>
                </a:solidFill>
              </a:rPr>
              <a:t>Pocket similarity</a:t>
            </a:r>
            <a:endParaRPr lang="en-US" sz="1400" dirty="0"/>
          </a:p>
        </p:txBody>
      </p:sp>
      <p:sp>
        <p:nvSpPr>
          <p:cNvPr id="32" name="project-tile"/>
          <p:cNvSpPr/>
          <p:nvPr/>
        </p:nvSpPr>
        <p:spPr>
          <a:xfrm>
            <a:off x="4974336" y="2404872"/>
            <a:ext cx="2103120" cy="960120"/>
          </a:xfrm>
          <a:prstGeom prst="roundRect">
            <a:avLst>
              <a:gd name="adj" fmla="val 11429"/>
            </a:avLst>
          </a:prstGeom>
          <a:solidFill>
            <a:schemeClr val="bg2"/>
          </a:solidFill>
          <a:ln w="12700">
            <a:solidFill>
              <a:schemeClr val="bg2"/>
            </a:solidFill>
            <a:prstDash val="solid"/>
          </a:ln>
        </p:spPr>
      </p:sp>
      <p:sp>
        <p:nvSpPr>
          <p:cNvPr id="33" name="icon-circle-FaBullseye"/>
          <p:cNvSpPr/>
          <p:nvPr/>
        </p:nvSpPr>
        <p:spPr>
          <a:xfrm>
            <a:off x="5084064" y="2606040"/>
            <a:ext cx="548640" cy="548640"/>
          </a:xfrm>
          <a:prstGeom prst="ellipse">
            <a:avLst/>
          </a:prstGeom>
          <a:solidFill>
            <a:schemeClr val="accent1"/>
          </a:solidFill>
          <a:ln w="12700">
            <a:solidFill>
              <a:schemeClr val="accent1"/>
            </a:solidFill>
            <a:prstDash val="solid"/>
          </a:ln>
        </p:spPr>
      </p:sp>
      <p:pic>
        <p:nvPicPr>
          <p:cNvPr id="34" name="icon-FaBullseye" descr="FaBullseye">    </p:cNvPr>
          <p:cNvPicPr>
            <a:picLocks noChangeAspect="1"/>
          </p:cNvPicPr>
          <p:nvPr/>
        </p:nvPicPr>
        <p:blipFill>
          <a:blip r:embed="rId8"/>
          <a:stretch>
            <a:fillRect/>
          </a:stretch>
        </p:blipFill>
        <p:spPr>
          <a:xfrm>
            <a:off x="5215738" y="2737714"/>
            <a:ext cx="285293" cy="285293"/>
          </a:xfrm>
          <a:prstGeom prst="rect">
            <a:avLst/>
          </a:prstGeom>
        </p:spPr>
      </p:pic>
      <p:sp>
        <p:nvSpPr>
          <p:cNvPr id="35" name="Text 24"/>
          <p:cNvSpPr txBox="1"/>
          <p:nvPr/>
        </p:nvSpPr>
        <p:spPr>
          <a:xfrm>
            <a:off x="5724144" y="2478024"/>
            <a:ext cx="1280160" cy="813816"/>
          </a:xfrm>
          <a:prstGeom prst="rect">
            <a:avLst/>
          </a:prstGeom>
          <a:noFill/>
          <a:ln/>
        </p:spPr>
        <p:txBody>
          <a:bodyPr wrap="square" lIns="0" tIns="0" rIns="0" bIns="0" rtlCol="0" anchor="ctr"/>
          <a:lstStyle/>
          <a:p>
            <a:pPr indent="0" marL="0">
              <a:buNone/>
            </a:pPr>
            <a:r>
              <a:rPr lang="en-US" sz="1400" dirty="0">
                <a:solidFill>
                  <a:schemeClr val="tx1"/>
                </a:solidFill>
              </a:rPr>
              <a:t>Kinase targets</a:t>
            </a:r>
            <a:endParaRPr lang="en-US" sz="1400" dirty="0"/>
          </a:p>
        </p:txBody>
      </p:sp>
      <p:sp>
        <p:nvSpPr>
          <p:cNvPr id="36" name="project-tile"/>
          <p:cNvSpPr/>
          <p:nvPr/>
        </p:nvSpPr>
        <p:spPr>
          <a:xfrm>
            <a:off x="7187184" y="2404872"/>
            <a:ext cx="2103120" cy="960120"/>
          </a:xfrm>
          <a:prstGeom prst="roundRect">
            <a:avLst>
              <a:gd name="adj" fmla="val 11429"/>
            </a:avLst>
          </a:prstGeom>
          <a:solidFill>
            <a:schemeClr val="bg2"/>
          </a:solidFill>
          <a:ln w="12700">
            <a:solidFill>
              <a:schemeClr val="bg2"/>
            </a:solidFill>
            <a:prstDash val="solid"/>
          </a:ln>
        </p:spPr>
      </p:sp>
      <p:sp>
        <p:nvSpPr>
          <p:cNvPr id="37" name="icon-circle-FaTachometerAlt"/>
          <p:cNvSpPr/>
          <p:nvPr/>
        </p:nvSpPr>
        <p:spPr>
          <a:xfrm>
            <a:off x="7296912" y="2606040"/>
            <a:ext cx="548640" cy="548640"/>
          </a:xfrm>
          <a:prstGeom prst="ellipse">
            <a:avLst/>
          </a:prstGeom>
          <a:solidFill>
            <a:schemeClr val="accent1"/>
          </a:solidFill>
          <a:ln w="12700">
            <a:solidFill>
              <a:schemeClr val="accent1"/>
            </a:solidFill>
            <a:prstDash val="solid"/>
          </a:ln>
        </p:spPr>
      </p:sp>
      <p:pic>
        <p:nvPicPr>
          <p:cNvPr id="38" name="icon-FaTachometerAlt" descr="FaTachometerAlt">    </p:cNvPr>
          <p:cNvPicPr>
            <a:picLocks noChangeAspect="1"/>
          </p:cNvPicPr>
          <p:nvPr/>
        </p:nvPicPr>
        <p:blipFill>
          <a:blip r:embed="rId9"/>
          <a:stretch>
            <a:fillRect/>
          </a:stretch>
        </p:blipFill>
        <p:spPr>
          <a:xfrm>
            <a:off x="7428586" y="2737714"/>
            <a:ext cx="285293" cy="285293"/>
          </a:xfrm>
          <a:prstGeom prst="rect">
            <a:avLst/>
          </a:prstGeom>
        </p:spPr>
      </p:pic>
      <p:sp>
        <p:nvSpPr>
          <p:cNvPr id="39" name="Text 27"/>
          <p:cNvSpPr txBox="1"/>
          <p:nvPr/>
        </p:nvSpPr>
        <p:spPr>
          <a:xfrm>
            <a:off x="7936992" y="2478024"/>
            <a:ext cx="1280160" cy="813816"/>
          </a:xfrm>
          <a:prstGeom prst="rect">
            <a:avLst/>
          </a:prstGeom>
          <a:noFill/>
          <a:ln/>
        </p:spPr>
        <p:txBody>
          <a:bodyPr wrap="square" lIns="0" tIns="0" rIns="0" bIns="0" rtlCol="0" anchor="ctr"/>
          <a:lstStyle/>
          <a:p>
            <a:pPr indent="0" marL="0">
              <a:buNone/>
            </a:pPr>
            <a:r>
              <a:rPr lang="en-US" sz="1400" dirty="0">
                <a:solidFill>
                  <a:schemeClr val="tx1"/>
                </a:solidFill>
              </a:rPr>
              <a:t>Kinase activity</a:t>
            </a:r>
            <a:endParaRPr lang="en-US" sz="1400" dirty="0"/>
          </a:p>
        </p:txBody>
      </p:sp>
      <p:sp>
        <p:nvSpPr>
          <p:cNvPr id="40" name="project-tile"/>
          <p:cNvSpPr/>
          <p:nvPr/>
        </p:nvSpPr>
        <p:spPr>
          <a:xfrm>
            <a:off x="9400032" y="2404872"/>
            <a:ext cx="2103120" cy="960120"/>
          </a:xfrm>
          <a:prstGeom prst="roundRect">
            <a:avLst>
              <a:gd name="adj" fmla="val 11429"/>
            </a:avLst>
          </a:prstGeom>
          <a:solidFill>
            <a:schemeClr val="bg2"/>
          </a:solidFill>
          <a:ln w="12700">
            <a:solidFill>
              <a:schemeClr val="bg2"/>
            </a:solidFill>
            <a:prstDash val="solid"/>
          </a:ln>
        </p:spPr>
      </p:sp>
      <p:sp>
        <p:nvSpPr>
          <p:cNvPr id="41" name="icon-circle-FaRulerCombined"/>
          <p:cNvSpPr/>
          <p:nvPr/>
        </p:nvSpPr>
        <p:spPr>
          <a:xfrm>
            <a:off x="9509760" y="2606040"/>
            <a:ext cx="548640" cy="548640"/>
          </a:xfrm>
          <a:prstGeom prst="ellipse">
            <a:avLst/>
          </a:prstGeom>
          <a:solidFill>
            <a:schemeClr val="accent1"/>
          </a:solidFill>
          <a:ln w="12700">
            <a:solidFill>
              <a:schemeClr val="accent1"/>
            </a:solidFill>
            <a:prstDash val="solid"/>
          </a:ln>
        </p:spPr>
      </p:sp>
      <p:pic>
        <p:nvPicPr>
          <p:cNvPr id="42" name="icon-FaRulerCombined" descr="FaRulerCombined">    </p:cNvPr>
          <p:cNvPicPr>
            <a:picLocks noChangeAspect="1"/>
          </p:cNvPicPr>
          <p:nvPr/>
        </p:nvPicPr>
        <p:blipFill>
          <a:blip r:embed="rId10"/>
          <a:stretch>
            <a:fillRect/>
          </a:stretch>
        </p:blipFill>
        <p:spPr>
          <a:xfrm>
            <a:off x="9641434" y="2737714"/>
            <a:ext cx="285293" cy="285293"/>
          </a:xfrm>
          <a:prstGeom prst="rect">
            <a:avLst/>
          </a:prstGeom>
        </p:spPr>
      </p:pic>
      <p:sp>
        <p:nvSpPr>
          <p:cNvPr id="43" name="Text 30"/>
          <p:cNvSpPr txBox="1"/>
          <p:nvPr/>
        </p:nvSpPr>
        <p:spPr>
          <a:xfrm>
            <a:off x="10149840" y="2478024"/>
            <a:ext cx="1280160" cy="813816"/>
          </a:xfrm>
          <a:prstGeom prst="rect">
            <a:avLst/>
          </a:prstGeom>
          <a:noFill/>
          <a:ln/>
        </p:spPr>
        <p:txBody>
          <a:bodyPr wrap="square" lIns="0" tIns="0" rIns="0" bIns="0" rtlCol="0" anchor="ctr"/>
          <a:lstStyle/>
          <a:p>
            <a:pPr indent="0" marL="0">
              <a:buNone/>
            </a:pPr>
            <a:r>
              <a:rPr lang="en-US" sz="1400" dirty="0">
                <a:solidFill>
                  <a:schemeClr val="tx1"/>
                </a:solidFill>
              </a:rPr>
              <a:t>Protein stability (physDDG)</a:t>
            </a:r>
            <a:endParaRPr lang="en-US" sz="1400" dirty="0"/>
          </a:p>
        </p:txBody>
      </p:sp>
      <p:sp>
        <p:nvSpPr>
          <p:cNvPr id="44" name="project-tile"/>
          <p:cNvSpPr/>
          <p:nvPr/>
        </p:nvSpPr>
        <p:spPr>
          <a:xfrm>
            <a:off x="548640" y="3529584"/>
            <a:ext cx="2103120" cy="960120"/>
          </a:xfrm>
          <a:prstGeom prst="roundRect">
            <a:avLst>
              <a:gd name="adj" fmla="val 11429"/>
            </a:avLst>
          </a:prstGeom>
          <a:solidFill>
            <a:schemeClr val="bg2"/>
          </a:solidFill>
          <a:ln w="12700">
            <a:solidFill>
              <a:schemeClr val="bg2"/>
            </a:solidFill>
            <a:prstDash val="solid"/>
          </a:ln>
        </p:spPr>
      </p:sp>
      <p:sp>
        <p:nvSpPr>
          <p:cNvPr id="45" name="icon-circle-FaMapSigns"/>
          <p:cNvSpPr/>
          <p:nvPr/>
        </p:nvSpPr>
        <p:spPr>
          <a:xfrm>
            <a:off x="658368" y="3730752"/>
            <a:ext cx="548640" cy="548640"/>
          </a:xfrm>
          <a:prstGeom prst="ellipse">
            <a:avLst/>
          </a:prstGeom>
          <a:solidFill>
            <a:schemeClr val="accent1"/>
          </a:solidFill>
          <a:ln w="12700">
            <a:solidFill>
              <a:schemeClr val="accent1"/>
            </a:solidFill>
            <a:prstDash val="solid"/>
          </a:ln>
        </p:spPr>
      </p:sp>
      <p:pic>
        <p:nvPicPr>
          <p:cNvPr id="46" name="icon-FaMapSigns" descr="FaMapSigns">    </p:cNvPr>
          <p:cNvPicPr>
            <a:picLocks noChangeAspect="1"/>
          </p:cNvPicPr>
          <p:nvPr/>
        </p:nvPicPr>
        <p:blipFill>
          <a:blip r:embed="rId11"/>
          <a:stretch>
            <a:fillRect/>
          </a:stretch>
        </p:blipFill>
        <p:spPr>
          <a:xfrm>
            <a:off x="790042" y="3862426"/>
            <a:ext cx="285293" cy="285293"/>
          </a:xfrm>
          <a:prstGeom prst="rect">
            <a:avLst/>
          </a:prstGeom>
        </p:spPr>
      </p:pic>
      <p:sp>
        <p:nvSpPr>
          <p:cNvPr id="47" name="Text 33"/>
          <p:cNvSpPr txBox="1"/>
          <p:nvPr/>
        </p:nvSpPr>
        <p:spPr>
          <a:xfrm>
            <a:off x="1298448" y="3602736"/>
            <a:ext cx="1280160" cy="813816"/>
          </a:xfrm>
          <a:prstGeom prst="rect">
            <a:avLst/>
          </a:prstGeom>
          <a:noFill/>
          <a:ln/>
        </p:spPr>
        <p:txBody>
          <a:bodyPr wrap="square" lIns="0" tIns="0" rIns="0" bIns="0" rtlCol="0" anchor="ctr"/>
          <a:lstStyle/>
          <a:p>
            <a:pPr indent="0" marL="0">
              <a:buNone/>
            </a:pPr>
            <a:r>
              <a:rPr lang="en-US" sz="1400" dirty="0">
                <a:solidFill>
                  <a:schemeClr val="tx1"/>
                </a:solidFill>
              </a:rPr>
              <a:t>Coloc analysis</a:t>
            </a:r>
            <a:endParaRPr lang="en-US" sz="1400" dirty="0"/>
          </a:p>
        </p:txBody>
      </p:sp>
      <p:sp>
        <p:nvSpPr>
          <p:cNvPr id="48" name="project-tile"/>
          <p:cNvSpPr/>
          <p:nvPr/>
        </p:nvSpPr>
        <p:spPr>
          <a:xfrm>
            <a:off x="2761488" y="3529584"/>
            <a:ext cx="2103120" cy="960120"/>
          </a:xfrm>
          <a:prstGeom prst="roundRect">
            <a:avLst>
              <a:gd name="adj" fmla="val 11429"/>
            </a:avLst>
          </a:prstGeom>
          <a:solidFill>
            <a:schemeClr val="bg2"/>
          </a:solidFill>
          <a:ln w="12700">
            <a:solidFill>
              <a:schemeClr val="bg2"/>
            </a:solidFill>
            <a:prstDash val="solid"/>
          </a:ln>
        </p:spPr>
      </p:sp>
      <p:sp>
        <p:nvSpPr>
          <p:cNvPr id="49" name="icon-circle-FaVial"/>
          <p:cNvSpPr/>
          <p:nvPr/>
        </p:nvSpPr>
        <p:spPr>
          <a:xfrm>
            <a:off x="2871216" y="3730752"/>
            <a:ext cx="548640" cy="548640"/>
          </a:xfrm>
          <a:prstGeom prst="ellipse">
            <a:avLst/>
          </a:prstGeom>
          <a:solidFill>
            <a:schemeClr val="accent1"/>
          </a:solidFill>
          <a:ln w="12700">
            <a:solidFill>
              <a:schemeClr val="accent1"/>
            </a:solidFill>
            <a:prstDash val="solid"/>
          </a:ln>
        </p:spPr>
      </p:sp>
      <p:pic>
        <p:nvPicPr>
          <p:cNvPr id="50" name="icon-FaVial" descr="FaVial">    </p:cNvPr>
          <p:cNvPicPr>
            <a:picLocks noChangeAspect="1"/>
          </p:cNvPicPr>
          <p:nvPr/>
        </p:nvPicPr>
        <p:blipFill>
          <a:blip r:embed="rId12"/>
          <a:stretch>
            <a:fillRect/>
          </a:stretch>
        </p:blipFill>
        <p:spPr>
          <a:xfrm>
            <a:off x="3002890" y="3862426"/>
            <a:ext cx="285293" cy="285293"/>
          </a:xfrm>
          <a:prstGeom prst="rect">
            <a:avLst/>
          </a:prstGeom>
        </p:spPr>
      </p:pic>
      <p:sp>
        <p:nvSpPr>
          <p:cNvPr id="51" name="Text 36"/>
          <p:cNvSpPr txBox="1"/>
          <p:nvPr/>
        </p:nvSpPr>
        <p:spPr>
          <a:xfrm>
            <a:off x="3511296" y="3602736"/>
            <a:ext cx="1280160" cy="813816"/>
          </a:xfrm>
          <a:prstGeom prst="rect">
            <a:avLst/>
          </a:prstGeom>
          <a:noFill/>
          <a:ln/>
        </p:spPr>
        <p:txBody>
          <a:bodyPr wrap="square" lIns="0" tIns="0" rIns="0" bIns="0" rtlCol="0" anchor="ctr"/>
          <a:lstStyle/>
          <a:p>
            <a:pPr indent="0" marL="0">
              <a:buNone/>
            </a:pPr>
            <a:r>
              <a:rPr lang="en-US" sz="1400" dirty="0">
                <a:solidFill>
                  <a:schemeClr val="tx1"/>
                </a:solidFill>
              </a:rPr>
              <a:t>MS analysis</a:t>
            </a:r>
            <a:endParaRPr lang="en-US" sz="1400" dirty="0"/>
          </a:p>
        </p:txBody>
      </p:sp>
      <p:sp>
        <p:nvSpPr>
          <p:cNvPr id="52" name="project-tile"/>
          <p:cNvSpPr/>
          <p:nvPr/>
        </p:nvSpPr>
        <p:spPr>
          <a:xfrm>
            <a:off x="4974336" y="3529584"/>
            <a:ext cx="2103120" cy="960120"/>
          </a:xfrm>
          <a:prstGeom prst="roundRect">
            <a:avLst>
              <a:gd name="adj" fmla="val 11429"/>
            </a:avLst>
          </a:prstGeom>
          <a:solidFill>
            <a:schemeClr val="accent1"/>
          </a:solidFill>
          <a:ln w="12700">
            <a:solidFill>
              <a:schemeClr val="accent1"/>
            </a:solidFill>
            <a:prstDash val="solid"/>
          </a:ln>
        </p:spPr>
      </p:sp>
      <p:sp>
        <p:nvSpPr>
          <p:cNvPr id="53" name="icon-circle-FaSitemap"/>
          <p:cNvSpPr/>
          <p:nvPr/>
        </p:nvSpPr>
        <p:spPr>
          <a:xfrm>
            <a:off x="5084064" y="3730752"/>
            <a:ext cx="548640" cy="548640"/>
          </a:xfrm>
          <a:prstGeom prst="ellipse">
            <a:avLst/>
          </a:prstGeom>
          <a:solidFill>
            <a:schemeClr val="tx2"/>
          </a:solidFill>
          <a:ln w="12700">
            <a:solidFill>
              <a:schemeClr val="tx2"/>
            </a:solidFill>
            <a:prstDash val="solid"/>
          </a:ln>
        </p:spPr>
      </p:sp>
      <p:pic>
        <p:nvPicPr>
          <p:cNvPr id="54" name="icon-FaSitemap" descr="FaSitemap">    </p:cNvPr>
          <p:cNvPicPr>
            <a:picLocks noChangeAspect="1"/>
          </p:cNvPicPr>
          <p:nvPr/>
        </p:nvPicPr>
        <p:blipFill>
          <a:blip r:embed="rId13"/>
          <a:stretch>
            <a:fillRect/>
          </a:stretch>
        </p:blipFill>
        <p:spPr>
          <a:xfrm>
            <a:off x="5215738" y="3862426"/>
            <a:ext cx="285293" cy="285293"/>
          </a:xfrm>
          <a:prstGeom prst="rect">
            <a:avLst/>
          </a:prstGeom>
        </p:spPr>
      </p:pic>
      <p:sp>
        <p:nvSpPr>
          <p:cNvPr id="55" name="Text 39"/>
          <p:cNvSpPr txBox="1"/>
          <p:nvPr/>
        </p:nvSpPr>
        <p:spPr>
          <a:xfrm>
            <a:off x="5724144" y="3602736"/>
            <a:ext cx="1280160" cy="813816"/>
          </a:xfrm>
          <a:prstGeom prst="rect">
            <a:avLst/>
          </a:prstGeom>
          <a:noFill/>
          <a:ln/>
        </p:spPr>
        <p:txBody>
          <a:bodyPr wrap="square" lIns="0" tIns="0" rIns="0" bIns="0" rtlCol="0" anchor="ctr"/>
          <a:lstStyle/>
          <a:p>
            <a:pPr indent="0" marL="0">
              <a:buNone/>
            </a:pPr>
            <a:r>
              <a:rPr lang="en-US" sz="1400" b="1" dirty="0">
                <a:solidFill>
                  <a:schemeClr val="bg1"/>
                </a:solidFill>
              </a:rPr>
              <a:t>Orthology: Ancestra</a:t>
            </a:r>
            <a:endParaRPr lang="en-US" sz="1400" dirty="0"/>
          </a:p>
        </p:txBody>
      </p:sp>
      <p:sp>
        <p:nvSpPr>
          <p:cNvPr id="56" name="this-project-tile"/>
          <p:cNvSpPr/>
          <p:nvPr/>
        </p:nvSpPr>
        <p:spPr>
          <a:xfrm>
            <a:off x="7598664" y="3529584"/>
            <a:ext cx="3904488" cy="960120"/>
          </a:xfrm>
          <a:prstGeom prst="roundRect">
            <a:avLst>
              <a:gd name="adj" fmla="val 11429"/>
            </a:avLst>
          </a:prstGeom>
          <a:solidFill>
            <a:schemeClr val="accent4"/>
          </a:solidFill>
          <a:ln w="12700">
            <a:solidFill>
              <a:schemeClr val="accent4"/>
            </a:solidFill>
            <a:prstDash val="solid"/>
          </a:ln>
        </p:spPr>
      </p:sp>
      <p:sp>
        <p:nvSpPr>
          <p:cNvPr id="57" name="icon-circle-FaTree"/>
          <p:cNvSpPr/>
          <p:nvPr/>
        </p:nvSpPr>
        <p:spPr>
          <a:xfrm>
            <a:off x="7708392" y="3730752"/>
            <a:ext cx="548640" cy="548640"/>
          </a:xfrm>
          <a:prstGeom prst="ellipse">
            <a:avLst/>
          </a:prstGeom>
          <a:solidFill>
            <a:schemeClr val="tx2"/>
          </a:solidFill>
          <a:ln w="12700">
            <a:solidFill>
              <a:schemeClr val="tx2"/>
            </a:solidFill>
            <a:prstDash val="solid"/>
          </a:ln>
        </p:spPr>
      </p:sp>
      <p:pic>
        <p:nvPicPr>
          <p:cNvPr id="58" name="icon-FaTree" descr="FaTree">    </p:cNvPr>
          <p:cNvPicPr>
            <a:picLocks noChangeAspect="1"/>
          </p:cNvPicPr>
          <p:nvPr/>
        </p:nvPicPr>
        <p:blipFill>
          <a:blip r:embed="rId14"/>
          <a:stretch>
            <a:fillRect/>
          </a:stretch>
        </p:blipFill>
        <p:spPr>
          <a:xfrm>
            <a:off x="7840066" y="3862426"/>
            <a:ext cx="285293" cy="285293"/>
          </a:xfrm>
          <a:prstGeom prst="rect">
            <a:avLst/>
          </a:prstGeom>
        </p:spPr>
      </p:pic>
      <p:sp>
        <p:nvSpPr>
          <p:cNvPr id="59" name="Text 42"/>
          <p:cNvSpPr txBox="1"/>
          <p:nvPr/>
        </p:nvSpPr>
        <p:spPr>
          <a:xfrm>
            <a:off x="8375904" y="3602736"/>
            <a:ext cx="3017520" cy="813816"/>
          </a:xfrm>
          <a:prstGeom prst="rect">
            <a:avLst/>
          </a:prstGeom>
          <a:noFill/>
          <a:ln/>
        </p:spPr>
        <p:txBody>
          <a:bodyPr wrap="square" lIns="0" tIns="0" rIns="0" bIns="0" rtlCol="0" anchor="ctr"/>
          <a:lstStyle/>
          <a:p>
            <a:pPr indent="0" marL="0">
              <a:buNone/>
            </a:pPr>
            <a:r>
              <a:rPr lang="en-US" sz="1500" b="1" dirty="0">
                <a:solidFill>
                  <a:schemeClr val="bg1"/>
                </a:solidFill>
              </a:rPr>
              <a:t>This deck: phase-2 project</a:t>
            </a:r>
            <a:endParaRPr lang="en-US" sz="1500" dirty="0"/>
          </a:p>
          <a:p>
            <a:pPr indent="0" marL="0">
              <a:buNone/>
            </a:pPr>
            <a:r>
              <a:rPr lang="en-US" sz="1500" dirty="0">
                <a:solidFill>
                  <a:schemeClr val="bg1"/>
                </a:solidFill>
              </a:rPr>
              <a:t>multicellularity with Ancestra</a:t>
            </a:r>
            <a:endParaRPr lang="en-US" sz="1500" dirty="0"/>
          </a:p>
        </p:txBody>
      </p:sp>
      <p:sp>
        <p:nvSpPr>
          <p:cNvPr id="60" name="arrow"/>
          <p:cNvSpPr/>
          <p:nvPr/>
        </p:nvSpPr>
        <p:spPr>
          <a:xfrm>
            <a:off x="7095744" y="4009644"/>
            <a:ext cx="466344" cy="914"/>
          </a:xfrm>
          <a:prstGeom prst="line">
            <a:avLst/>
          </a:prstGeom>
          <a:noFill/>
          <a:ln w="31750">
            <a:solidFill>
              <a:schemeClr val="accent4"/>
            </a:solidFill>
            <a:prstDash val="solid"/>
            <a:tailEnd type="triangle"/>
          </a:ln>
        </p:spPr>
      </p:sp>
      <p:sp>
        <p:nvSpPr>
          <p:cNvPr id="61" name="Text 44"/>
          <p:cNvSpPr txBox="1"/>
          <p:nvPr/>
        </p:nvSpPr>
        <p:spPr>
          <a:xfrm>
            <a:off x="548640" y="489204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Same recipe for all: one prompt, Claude as PI, subagents, human verification after the fact.</a:t>
            </a:r>
            <a:endParaRPr lang="en-US" sz="1100" dirty="0"/>
          </a:p>
        </p:txBody>
      </p:sp>
      <p:sp>
        <p:nvSpPr>
          <p:cNvPr id="62" name="Text 45"/>
          <p:cNvSpPr txBox="1"/>
          <p:nvPr/>
        </p:nvSpPr>
        <p:spPr>
          <a:xfrm>
            <a:off x="6528816" y="4507992"/>
            <a:ext cx="1554480" cy="274320"/>
          </a:xfrm>
          <a:prstGeom prst="rect">
            <a:avLst/>
          </a:prstGeom>
          <a:noFill/>
          <a:ln/>
        </p:spPr>
        <p:txBody>
          <a:bodyPr wrap="square" lIns="0" tIns="0" rIns="0" bIns="0" rtlCol="0" anchor="t"/>
          <a:lstStyle/>
          <a:p>
            <a:pPr algn="ctr" indent="0" marL="0">
              <a:buNone/>
            </a:pPr>
            <a:r>
              <a:rPr lang="en-US" sz="1200" dirty="0">
                <a:solidFill>
                  <a:schemeClr val="accent4"/>
                </a:solidFill>
              </a:rPr>
              <a:t>builds on</a:t>
            </a:r>
            <a:endParaRPr lang="en-US" sz="12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Every report opens with a human disclaimer</a:t>
            </a:r>
            <a:endParaRPr lang="en-US" sz="3200" dirty="0"/>
          </a:p>
        </p:txBody>
      </p:sp>
      <p:sp>
        <p:nvSpPr>
          <p:cNvPr id="4" name="quote-card"/>
          <p:cNvSpPr/>
          <p:nvPr/>
        </p:nvSpPr>
        <p:spPr>
          <a:xfrm>
            <a:off x="548640" y="1325880"/>
            <a:ext cx="6949440" cy="4480560"/>
          </a:xfrm>
          <a:prstGeom prst="roundRect">
            <a:avLst>
              <a:gd name="adj" fmla="val 2449"/>
            </a:avLst>
          </a:prstGeom>
          <a:solidFill>
            <a:schemeClr val="bg2"/>
          </a:solidFill>
          <a:ln w="12700">
            <a:solidFill>
              <a:schemeClr val="bg2"/>
            </a:solidFill>
            <a:prstDash val="solid"/>
          </a:ln>
        </p:spPr>
      </p:sp>
      <p:sp>
        <p:nvSpPr>
          <p:cNvPr id="5" name="Text 2"/>
          <p:cNvSpPr txBox="1"/>
          <p:nvPr/>
        </p:nvSpPr>
        <p:spPr>
          <a:xfrm>
            <a:off x="777240" y="1325880"/>
            <a:ext cx="914400" cy="914400"/>
          </a:xfrm>
          <a:prstGeom prst="rect">
            <a:avLst/>
          </a:prstGeom>
          <a:noFill/>
          <a:ln/>
        </p:spPr>
        <p:txBody>
          <a:bodyPr wrap="square" lIns="0" tIns="0" rIns="0" bIns="0" rtlCol="0" anchor="t"/>
          <a:lstStyle/>
          <a:p>
            <a:pPr indent="0" marL="0">
              <a:buNone/>
            </a:pPr>
            <a:r>
              <a:rPr lang="en-US" sz="7200" b="1" dirty="0">
                <a:solidFill>
                  <a:schemeClr val="accent1"/>
                </a:solidFill>
              </a:rPr>
              <a:t>“</a:t>
            </a:r>
            <a:endParaRPr lang="en-US" sz="7200" dirty="0"/>
          </a:p>
        </p:txBody>
      </p:sp>
      <p:sp>
        <p:nvSpPr>
          <p:cNvPr id="6" name="Text 3"/>
          <p:cNvSpPr txBox="1"/>
          <p:nvPr/>
        </p:nvSpPr>
        <p:spPr>
          <a:xfrm>
            <a:off x="914400" y="2148840"/>
            <a:ext cx="6309360" cy="2743200"/>
          </a:xfrm>
          <a:prstGeom prst="rect">
            <a:avLst/>
          </a:prstGeom>
          <a:noFill/>
          <a:ln/>
        </p:spPr>
        <p:txBody>
          <a:bodyPr wrap="square" lIns="0" tIns="0" rIns="0" bIns="0" rtlCol="0" anchor="t"/>
          <a:lstStyle/>
          <a:p>
            <a:pPr indent="0" marL="0">
              <a:buNone/>
            </a:pPr>
            <a:r>
              <a:rPr lang="en-US" sz="1800" i="1" dirty="0">
                <a:solidFill>
                  <a:schemeClr val="tx2"/>
                </a:solidFill>
              </a:rPr>
              <a:t>This is an exercise in assessing the bioinformatics capabilities of agentic AI … All results in this project were generated entirely by AI with minimal human intervention.</a:t>
            </a:r>
            <a:endParaRPr lang="en-US" sz="1800" dirty="0"/>
          </a:p>
          <a:p>
            <a:pPr indent="0" marL="0">
              <a:buNone/>
            </a:pPr>
            <a:r>
              <a:rPr lang="en-US" sz="800" i="1" dirty="0">
                <a:solidFill>
                  <a:schemeClr val="tx2"/>
                </a:solidFill>
              </a:rPr>
              <a:t> </a:t>
            </a:r>
            <a:endParaRPr lang="en-US" sz="1800" dirty="0"/>
          </a:p>
          <a:p>
            <a:pPr indent="0" marL="0">
              <a:buNone/>
            </a:pPr>
            <a:r>
              <a:rPr lang="en-US" sz="1800" b="1" i="1" dirty="0">
                <a:solidFill>
                  <a:schemeClr val="tx2"/>
                </a:solidFill>
              </a:rPr>
              <a:t>Currently none of the results have been verified by a human.</a:t>
            </a:r>
            <a:endParaRPr lang="en-US" sz="1800" dirty="0"/>
          </a:p>
        </p:txBody>
      </p:sp>
      <p:sp>
        <p:nvSpPr>
          <p:cNvPr id="7" name="Text 4"/>
          <p:cNvSpPr txBox="1"/>
          <p:nvPr/>
        </p:nvSpPr>
        <p:spPr>
          <a:xfrm>
            <a:off x="914400" y="5257800"/>
            <a:ext cx="6309360" cy="320040"/>
          </a:xfrm>
          <a:prstGeom prst="rect">
            <a:avLst/>
          </a:prstGeom>
          <a:noFill/>
          <a:ln/>
        </p:spPr>
        <p:txBody>
          <a:bodyPr wrap="square" lIns="0" tIns="0" rIns="0" bIns="0" rtlCol="0" anchor="t"/>
          <a:lstStyle/>
          <a:p>
            <a:pPr indent="0" marL="0">
              <a:buNone/>
            </a:pPr>
            <a:r>
              <a:rPr lang="en-US" sz="1100" i="1" dirty="0">
                <a:solidFill>
                  <a:schemeClr val="tx2"/>
                </a:solidFill>
              </a:rPr>
              <a:t>Shortened from the hackathon's human-written header.</a:t>
            </a:r>
            <a:endParaRPr lang="en-US" sz="1100" dirty="0"/>
          </a:p>
        </p:txBody>
      </p:sp>
      <p:sp>
        <p:nvSpPr>
          <p:cNvPr id="8" name="icon-circle-FaRobot"/>
          <p:cNvSpPr/>
          <p:nvPr/>
        </p:nvSpPr>
        <p:spPr>
          <a:xfrm>
            <a:off x="7955280" y="1417320"/>
            <a:ext cx="822960" cy="822960"/>
          </a:xfrm>
          <a:prstGeom prst="ellipse">
            <a:avLst/>
          </a:prstGeom>
          <a:solidFill>
            <a:schemeClr val="accent1"/>
          </a:solidFill>
          <a:ln w="12700">
            <a:solidFill>
              <a:schemeClr val="accent1"/>
            </a:solidFill>
            <a:prstDash val="solid"/>
          </a:ln>
        </p:spPr>
      </p:sp>
      <p:pic>
        <p:nvPicPr>
          <p:cNvPr id="9" name="icon-FaRobot" descr="FaRobot">    </p:cNvPr>
          <p:cNvPicPr>
            <a:picLocks noChangeAspect="1"/>
          </p:cNvPicPr>
          <p:nvPr/>
        </p:nvPicPr>
        <p:blipFill>
          <a:blip r:embed="rId1"/>
          <a:stretch>
            <a:fillRect/>
          </a:stretch>
        </p:blipFill>
        <p:spPr>
          <a:xfrm>
            <a:off x="8152790" y="1614830"/>
            <a:ext cx="427939" cy="427939"/>
          </a:xfrm>
          <a:prstGeom prst="rect">
            <a:avLst/>
          </a:prstGeom>
        </p:spPr>
      </p:pic>
      <p:sp>
        <p:nvSpPr>
          <p:cNvPr id="10" name="Text 6"/>
          <p:cNvSpPr txBox="1"/>
          <p:nvPr/>
        </p:nvSpPr>
        <p:spPr>
          <a:xfrm>
            <a:off x="8961120" y="1417320"/>
            <a:ext cx="2743200" cy="822960"/>
          </a:xfrm>
          <a:prstGeom prst="rect">
            <a:avLst/>
          </a:prstGeom>
          <a:noFill/>
          <a:ln/>
        </p:spPr>
        <p:txBody>
          <a:bodyPr wrap="square" lIns="0" tIns="0" rIns="0" bIns="0" rtlCol="0" anchor="ctr"/>
          <a:lstStyle/>
          <a:p>
            <a:pPr indent="0" marL="0">
              <a:buNone/>
            </a:pPr>
            <a:r>
              <a:rPr lang="en-US" sz="1600" b="1" dirty="0">
                <a:solidFill>
                  <a:schemeClr val="tx1"/>
                </a:solidFill>
              </a:rPr>
              <a:t>Generated by AI</a:t>
            </a:r>
            <a:endParaRPr lang="en-US" sz="1600" dirty="0"/>
          </a:p>
          <a:p>
            <a:pPr indent="0" marL="0">
              <a:buNone/>
            </a:pPr>
            <a:r>
              <a:rPr lang="en-US" sz="1600" dirty="0">
                <a:solidFill>
                  <a:schemeClr val="tx1"/>
                </a:solidFill>
              </a:rPr>
              <a:t>minimal human intervention</a:t>
            </a:r>
            <a:endParaRPr lang="en-US" sz="1600" dirty="0"/>
          </a:p>
        </p:txBody>
      </p:sp>
      <p:sp>
        <p:nvSpPr>
          <p:cNvPr id="11" name="icon-circle-FaFileAlt"/>
          <p:cNvSpPr/>
          <p:nvPr/>
        </p:nvSpPr>
        <p:spPr>
          <a:xfrm>
            <a:off x="7955280" y="2880360"/>
            <a:ext cx="822960" cy="822960"/>
          </a:xfrm>
          <a:prstGeom prst="ellipse">
            <a:avLst/>
          </a:prstGeom>
          <a:solidFill>
            <a:schemeClr val="accent3"/>
          </a:solidFill>
          <a:ln w="12700">
            <a:solidFill>
              <a:schemeClr val="accent3"/>
            </a:solidFill>
            <a:prstDash val="solid"/>
          </a:ln>
        </p:spPr>
      </p:sp>
      <p:pic>
        <p:nvPicPr>
          <p:cNvPr id="12" name="icon-FaFileAlt" descr="FaFileAlt">    </p:cNvPr>
          <p:cNvPicPr>
            <a:picLocks noChangeAspect="1"/>
          </p:cNvPicPr>
          <p:nvPr/>
        </p:nvPicPr>
        <p:blipFill>
          <a:blip r:embed="rId2"/>
          <a:stretch>
            <a:fillRect/>
          </a:stretch>
        </p:blipFill>
        <p:spPr>
          <a:xfrm>
            <a:off x="8152790" y="3077870"/>
            <a:ext cx="427939" cy="427939"/>
          </a:xfrm>
          <a:prstGeom prst="rect">
            <a:avLst/>
          </a:prstGeom>
        </p:spPr>
      </p:pic>
      <p:sp>
        <p:nvSpPr>
          <p:cNvPr id="13" name="Text 8"/>
          <p:cNvSpPr txBox="1"/>
          <p:nvPr/>
        </p:nvSpPr>
        <p:spPr>
          <a:xfrm>
            <a:off x="8961120" y="2880360"/>
            <a:ext cx="2743200" cy="822960"/>
          </a:xfrm>
          <a:prstGeom prst="rect">
            <a:avLst/>
          </a:prstGeom>
          <a:noFill/>
          <a:ln/>
        </p:spPr>
        <p:txBody>
          <a:bodyPr wrap="square" lIns="0" tIns="0" rIns="0" bIns="0" rtlCol="0" anchor="ctr"/>
          <a:lstStyle/>
          <a:p>
            <a:pPr indent="0" marL="0">
              <a:buNone/>
            </a:pPr>
            <a:r>
              <a:rPr lang="en-US" sz="1600" b="1" dirty="0">
                <a:solidFill>
                  <a:schemeClr val="tx1"/>
                </a:solidFill>
              </a:rPr>
              <a:t>Not a publication</a:t>
            </a:r>
            <a:endParaRPr lang="en-US" sz="1600" dirty="0"/>
          </a:p>
          <a:p>
            <a:pPr indent="0" marL="0">
              <a:buNone/>
            </a:pPr>
            <a:r>
              <a:rPr lang="en-US" sz="1600" dirty="0">
                <a:solidFill>
                  <a:schemeClr val="tx1"/>
                </a:solidFill>
              </a:rPr>
              <a:t>an exercise in agentic science</a:t>
            </a:r>
            <a:endParaRPr lang="en-US" sz="1600" dirty="0"/>
          </a:p>
        </p:txBody>
      </p:sp>
      <p:sp>
        <p:nvSpPr>
          <p:cNvPr id="14" name="icon-circle-FaUserCheck"/>
          <p:cNvSpPr/>
          <p:nvPr/>
        </p:nvSpPr>
        <p:spPr>
          <a:xfrm>
            <a:off x="7955280" y="4343400"/>
            <a:ext cx="822960" cy="822960"/>
          </a:xfrm>
          <a:prstGeom prst="ellipse">
            <a:avLst/>
          </a:prstGeom>
          <a:solidFill>
            <a:schemeClr val="accent4"/>
          </a:solidFill>
          <a:ln w="12700">
            <a:solidFill>
              <a:schemeClr val="accent4"/>
            </a:solidFill>
            <a:prstDash val="solid"/>
          </a:ln>
        </p:spPr>
      </p:sp>
      <p:pic>
        <p:nvPicPr>
          <p:cNvPr id="15" name="icon-FaUserCheck" descr="FaUserCheck">    </p:cNvPr>
          <p:cNvPicPr>
            <a:picLocks noChangeAspect="1"/>
          </p:cNvPicPr>
          <p:nvPr/>
        </p:nvPicPr>
        <p:blipFill>
          <a:blip r:embed="rId3"/>
          <a:stretch>
            <a:fillRect/>
          </a:stretch>
        </p:blipFill>
        <p:spPr>
          <a:xfrm>
            <a:off x="8152790" y="4540910"/>
            <a:ext cx="427939" cy="427939"/>
          </a:xfrm>
          <a:prstGeom prst="rect">
            <a:avLst/>
          </a:prstGeom>
        </p:spPr>
      </p:pic>
      <p:sp>
        <p:nvSpPr>
          <p:cNvPr id="16" name="Text 10"/>
          <p:cNvSpPr txBox="1"/>
          <p:nvPr/>
        </p:nvSpPr>
        <p:spPr>
          <a:xfrm>
            <a:off x="8961120" y="4343400"/>
            <a:ext cx="2743200" cy="822960"/>
          </a:xfrm>
          <a:prstGeom prst="rect">
            <a:avLst/>
          </a:prstGeom>
          <a:noFill/>
          <a:ln/>
        </p:spPr>
        <p:txBody>
          <a:bodyPr wrap="square" lIns="0" tIns="0" rIns="0" bIns="0" rtlCol="0" anchor="ctr"/>
          <a:lstStyle/>
          <a:p>
            <a:pPr indent="0" marL="0">
              <a:buNone/>
            </a:pPr>
            <a:r>
              <a:rPr lang="en-US" sz="1600" b="1" dirty="0">
                <a:solidFill>
                  <a:schemeClr val="tx1"/>
                </a:solidFill>
              </a:rPr>
              <a:t>Not yet verified</a:t>
            </a:r>
            <a:endParaRPr lang="en-US" sz="1600" dirty="0"/>
          </a:p>
          <a:p>
            <a:pPr indent="0" marL="0">
              <a:buNone/>
            </a:pPr>
            <a:r>
              <a:rPr lang="en-US" sz="1600" dirty="0">
                <a:solidFill>
                  <a:schemeClr val="tx1"/>
                </a:solidFill>
              </a:rPr>
              <a:t>human checks pending</a:t>
            </a:r>
            <a:endParaRPr lang="en-US" sz="16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B</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The initial prompt</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What the human asked for, which parts are generic, and what changed in round 2</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Anatomy of the round-1 prompt</a:t>
            </a:r>
            <a:endParaRPr lang="en-US" sz="3200" dirty="0"/>
          </a:p>
        </p:txBody>
      </p:sp>
      <p:sp>
        <p:nvSpPr>
          <p:cNvPr id="4" name="icon-circle-FaFileAlt"/>
          <p:cNvSpPr/>
          <p:nvPr/>
        </p:nvSpPr>
        <p:spPr>
          <a:xfrm>
            <a:off x="5532120" y="1371600"/>
            <a:ext cx="1097280" cy="1097280"/>
          </a:xfrm>
          <a:prstGeom prst="ellipse">
            <a:avLst/>
          </a:prstGeom>
          <a:solidFill>
            <a:schemeClr val="tx2"/>
          </a:solidFill>
          <a:ln w="12700">
            <a:solidFill>
              <a:schemeClr val="tx2"/>
            </a:solidFill>
            <a:prstDash val="solid"/>
          </a:ln>
        </p:spPr>
      </p:sp>
      <p:pic>
        <p:nvPicPr>
          <p:cNvPr id="5" name="icon-FaFileAlt" descr="FaFileAlt">    </p:cNvPr>
          <p:cNvPicPr>
            <a:picLocks noChangeAspect="1"/>
          </p:cNvPicPr>
          <p:nvPr/>
        </p:nvPicPr>
        <p:blipFill>
          <a:blip r:embed="rId1"/>
          <a:stretch>
            <a:fillRect/>
          </a:stretch>
        </p:blipFill>
        <p:spPr>
          <a:xfrm>
            <a:off x="5795467" y="1634947"/>
            <a:ext cx="570586" cy="570586"/>
          </a:xfrm>
          <a:prstGeom prst="rect">
            <a:avLst/>
          </a:prstGeom>
        </p:spPr>
      </p:pic>
      <p:sp>
        <p:nvSpPr>
          <p:cNvPr id="6" name="Text 2"/>
          <p:cNvSpPr txBox="1"/>
          <p:nvPr/>
        </p:nvSpPr>
        <p:spPr>
          <a:xfrm>
            <a:off x="4937760" y="2560320"/>
            <a:ext cx="2286000" cy="640080"/>
          </a:xfrm>
          <a:prstGeom prst="rect">
            <a:avLst/>
          </a:prstGeom>
          <a:noFill/>
          <a:ln/>
        </p:spPr>
        <p:txBody>
          <a:bodyPr wrap="square" lIns="0" tIns="0" rIns="0" bIns="0" rtlCol="0" anchor="t"/>
          <a:lstStyle/>
          <a:p>
            <a:pPr algn="ctr" indent="0" marL="0">
              <a:buNone/>
            </a:pPr>
            <a:r>
              <a:rPr lang="en-US" sz="1400" b="1" dirty="0">
                <a:solidFill>
                  <a:schemeClr val="tx2"/>
                </a:solidFill>
              </a:rPr>
              <a:t>PROMPT.md</a:t>
            </a:r>
            <a:endParaRPr lang="en-US" sz="1400" dirty="0"/>
          </a:p>
          <a:p>
            <a:pPr algn="ctr" indent="0" marL="0">
              <a:buNone/>
            </a:pPr>
            <a:r>
              <a:rPr lang="en-US" sz="1400" b="1" dirty="0">
                <a:solidFill>
                  <a:schemeClr val="tx2"/>
                </a:solidFill>
              </a:rPr>
              <a:t>≈1,470 words</a:t>
            </a:r>
            <a:endParaRPr lang="en-US" sz="1400" dirty="0"/>
          </a:p>
        </p:txBody>
      </p:sp>
      <p:sp>
        <p:nvSpPr>
          <p:cNvPr id="7" name="Text 3"/>
          <p:cNvSpPr txBox="1"/>
          <p:nvPr/>
        </p:nvSpPr>
        <p:spPr>
          <a:xfrm>
            <a:off x="548640" y="1234440"/>
            <a:ext cx="4389120" cy="365760"/>
          </a:xfrm>
          <a:prstGeom prst="rect">
            <a:avLst/>
          </a:prstGeom>
          <a:noFill/>
          <a:ln/>
        </p:spPr>
        <p:txBody>
          <a:bodyPr wrap="square" lIns="0" tIns="0" rIns="0" bIns="0" rtlCol="0" anchor="t"/>
          <a:lstStyle/>
          <a:p>
            <a:pPr indent="0" marL="0">
              <a:buNone/>
            </a:pPr>
            <a:r>
              <a:rPr lang="en-US" sz="1800" b="1" dirty="0">
                <a:solidFill>
                  <a:schemeClr val="accent1"/>
                </a:solidFill>
              </a:rPr>
              <a:t>GENERAL · reusable</a:t>
            </a:r>
            <a:endParaRPr lang="en-US" sz="1800" dirty="0"/>
          </a:p>
        </p:txBody>
      </p:sp>
      <p:sp>
        <p:nvSpPr>
          <p:cNvPr id="8" name="Text 4"/>
          <p:cNvSpPr txBox="1"/>
          <p:nvPr/>
        </p:nvSpPr>
        <p:spPr>
          <a:xfrm>
            <a:off x="7315200" y="1234440"/>
            <a:ext cx="4389120" cy="365760"/>
          </a:xfrm>
          <a:prstGeom prst="rect">
            <a:avLst/>
          </a:prstGeom>
          <a:noFill/>
          <a:ln/>
        </p:spPr>
        <p:txBody>
          <a:bodyPr wrap="square" lIns="0" tIns="0" rIns="0" bIns="0" rtlCol="0" anchor="t"/>
          <a:lstStyle/>
          <a:p>
            <a:pPr algn="r" indent="0" marL="0">
              <a:buNone/>
            </a:pPr>
            <a:r>
              <a:rPr lang="en-US" sz="1800" b="1" dirty="0">
                <a:solidFill>
                  <a:schemeClr val="accent4"/>
                </a:solidFill>
              </a:rPr>
              <a:t>PROJECT-SPECIFIC</a:t>
            </a:r>
            <a:endParaRPr lang="en-US" sz="1800" dirty="0"/>
          </a:p>
        </p:txBody>
      </p:sp>
      <p:sp>
        <p:nvSpPr>
          <p:cNvPr id="9" name="general-chip"/>
          <p:cNvSpPr/>
          <p:nvPr/>
        </p:nvSpPr>
        <p:spPr>
          <a:xfrm>
            <a:off x="548640" y="1691640"/>
            <a:ext cx="4206240" cy="420624"/>
          </a:xfrm>
          <a:prstGeom prst="roundRect">
            <a:avLst>
              <a:gd name="adj" fmla="val 26087"/>
            </a:avLst>
          </a:prstGeom>
          <a:solidFill>
            <a:schemeClr val="accent1"/>
          </a:solidFill>
          <a:ln w="12700">
            <a:solidFill>
              <a:schemeClr val="accent1"/>
            </a:solidFill>
            <a:prstDash val="solid"/>
          </a:ln>
        </p:spPr>
      </p:sp>
      <p:sp>
        <p:nvSpPr>
          <p:cNvPr id="10" name="Text 6"/>
          <p:cNvSpPr txBox="1"/>
          <p:nvPr/>
        </p:nvSpPr>
        <p:spPr>
          <a:xfrm>
            <a:off x="731520" y="1691640"/>
            <a:ext cx="3931920" cy="420624"/>
          </a:xfrm>
          <a:prstGeom prst="rect">
            <a:avLst/>
          </a:prstGeom>
          <a:noFill/>
          <a:ln/>
        </p:spPr>
        <p:txBody>
          <a:bodyPr wrap="square" lIns="0" tIns="0" rIns="0" bIns="0" rtlCol="0" anchor="ctr"/>
          <a:lstStyle/>
          <a:p>
            <a:pPr indent="0" marL="0">
              <a:buNone/>
            </a:pPr>
            <a:r>
              <a:rPr lang="en-US" sz="1500" dirty="0">
                <a:solidFill>
                  <a:schemeClr val="bg1"/>
                </a:solidFill>
              </a:rPr>
              <a:t>Role: PI agent who delegates</a:t>
            </a:r>
            <a:endParaRPr lang="en-US" sz="1500" dirty="0"/>
          </a:p>
        </p:txBody>
      </p:sp>
      <p:sp>
        <p:nvSpPr>
          <p:cNvPr id="11" name="general-chip"/>
          <p:cNvSpPr/>
          <p:nvPr/>
        </p:nvSpPr>
        <p:spPr>
          <a:xfrm>
            <a:off x="548640" y="2194560"/>
            <a:ext cx="4206240" cy="420624"/>
          </a:xfrm>
          <a:prstGeom prst="roundRect">
            <a:avLst>
              <a:gd name="adj" fmla="val 26087"/>
            </a:avLst>
          </a:prstGeom>
          <a:solidFill>
            <a:schemeClr val="accent1"/>
          </a:solidFill>
          <a:ln w="12700">
            <a:solidFill>
              <a:schemeClr val="accent1"/>
            </a:solidFill>
            <a:prstDash val="solid"/>
          </a:ln>
        </p:spPr>
      </p:sp>
      <p:sp>
        <p:nvSpPr>
          <p:cNvPr id="12" name="Text 8"/>
          <p:cNvSpPr txBox="1"/>
          <p:nvPr/>
        </p:nvSpPr>
        <p:spPr>
          <a:xfrm>
            <a:off x="731520" y="2194560"/>
            <a:ext cx="3931920" cy="420624"/>
          </a:xfrm>
          <a:prstGeom prst="rect">
            <a:avLst/>
          </a:prstGeom>
          <a:noFill/>
          <a:ln/>
        </p:spPr>
        <p:txBody>
          <a:bodyPr wrap="square" lIns="0" tIns="0" rIns="0" bIns="0" rtlCol="0" anchor="ctr"/>
          <a:lstStyle/>
          <a:p>
            <a:pPr indent="0" marL="0">
              <a:buNone/>
            </a:pPr>
            <a:r>
              <a:rPr lang="en-US" sz="1500" dirty="0">
                <a:solidFill>
                  <a:schemeClr val="bg1"/>
                </a:solidFill>
              </a:rPr>
              <a:t>Time budget + milestones</a:t>
            </a:r>
            <a:endParaRPr lang="en-US" sz="1500" dirty="0"/>
          </a:p>
        </p:txBody>
      </p:sp>
      <p:sp>
        <p:nvSpPr>
          <p:cNvPr id="13" name="general-chip"/>
          <p:cNvSpPr/>
          <p:nvPr/>
        </p:nvSpPr>
        <p:spPr>
          <a:xfrm>
            <a:off x="548640" y="2697480"/>
            <a:ext cx="4206240" cy="420624"/>
          </a:xfrm>
          <a:prstGeom prst="roundRect">
            <a:avLst>
              <a:gd name="adj" fmla="val 26087"/>
            </a:avLst>
          </a:prstGeom>
          <a:solidFill>
            <a:schemeClr val="accent1"/>
          </a:solidFill>
          <a:ln w="12700">
            <a:solidFill>
              <a:schemeClr val="accent1"/>
            </a:solidFill>
            <a:prstDash val="solid"/>
          </a:ln>
        </p:spPr>
      </p:sp>
      <p:sp>
        <p:nvSpPr>
          <p:cNvPr id="14" name="Text 10"/>
          <p:cNvSpPr txBox="1"/>
          <p:nvPr/>
        </p:nvSpPr>
        <p:spPr>
          <a:xfrm>
            <a:off x="731520" y="2697480"/>
            <a:ext cx="3931920" cy="420624"/>
          </a:xfrm>
          <a:prstGeom prst="rect">
            <a:avLst/>
          </a:prstGeom>
          <a:noFill/>
          <a:ln/>
        </p:spPr>
        <p:txBody>
          <a:bodyPr wrap="square" lIns="0" tIns="0" rIns="0" bIns="0" rtlCol="0" anchor="ctr"/>
          <a:lstStyle/>
          <a:p>
            <a:pPr indent="0" marL="0">
              <a:buNone/>
            </a:pPr>
            <a:r>
              <a:rPr lang="en-US" sz="1500" dirty="0">
                <a:solidFill>
                  <a:schemeClr val="bg1"/>
                </a:solidFill>
              </a:rPr>
              <a:t>Hardware and sandbox</a:t>
            </a:r>
            <a:endParaRPr lang="en-US" sz="1500" dirty="0"/>
          </a:p>
        </p:txBody>
      </p:sp>
      <p:sp>
        <p:nvSpPr>
          <p:cNvPr id="15" name="general-chip"/>
          <p:cNvSpPr/>
          <p:nvPr/>
        </p:nvSpPr>
        <p:spPr>
          <a:xfrm>
            <a:off x="548640" y="3200400"/>
            <a:ext cx="4206240" cy="420624"/>
          </a:xfrm>
          <a:prstGeom prst="roundRect">
            <a:avLst>
              <a:gd name="adj" fmla="val 26087"/>
            </a:avLst>
          </a:prstGeom>
          <a:solidFill>
            <a:schemeClr val="accent1"/>
          </a:solidFill>
          <a:ln w="12700">
            <a:solidFill>
              <a:schemeClr val="accent1"/>
            </a:solidFill>
            <a:prstDash val="solid"/>
          </a:ln>
        </p:spPr>
      </p:sp>
      <p:sp>
        <p:nvSpPr>
          <p:cNvPr id="16" name="Text 12"/>
          <p:cNvSpPr txBox="1"/>
          <p:nvPr/>
        </p:nvSpPr>
        <p:spPr>
          <a:xfrm>
            <a:off x="731520" y="3200400"/>
            <a:ext cx="3931920" cy="420624"/>
          </a:xfrm>
          <a:prstGeom prst="rect">
            <a:avLst/>
          </a:prstGeom>
          <a:noFill/>
          <a:ln/>
        </p:spPr>
        <p:txBody>
          <a:bodyPr wrap="square" lIns="0" tIns="0" rIns="0" bIns="0" rtlCol="0" anchor="ctr"/>
          <a:lstStyle/>
          <a:p>
            <a:pPr indent="0" marL="0">
              <a:buNone/>
            </a:pPr>
            <a:r>
              <a:rPr lang="en-US" sz="1500" dirty="0">
                <a:solidFill>
                  <a:schemeClr val="bg1"/>
                </a:solidFill>
              </a:rPr>
              <a:t>Literature + ≤3 design critiques</a:t>
            </a:r>
            <a:endParaRPr lang="en-US" sz="1500" dirty="0"/>
          </a:p>
        </p:txBody>
      </p:sp>
      <p:sp>
        <p:nvSpPr>
          <p:cNvPr id="17" name="general-chip"/>
          <p:cNvSpPr/>
          <p:nvPr/>
        </p:nvSpPr>
        <p:spPr>
          <a:xfrm>
            <a:off x="548640" y="3703320"/>
            <a:ext cx="4206240" cy="420624"/>
          </a:xfrm>
          <a:prstGeom prst="roundRect">
            <a:avLst>
              <a:gd name="adj" fmla="val 26087"/>
            </a:avLst>
          </a:prstGeom>
          <a:solidFill>
            <a:schemeClr val="accent1"/>
          </a:solidFill>
          <a:ln w="12700">
            <a:solidFill>
              <a:schemeClr val="accent1"/>
            </a:solidFill>
            <a:prstDash val="solid"/>
          </a:ln>
        </p:spPr>
      </p:sp>
      <p:sp>
        <p:nvSpPr>
          <p:cNvPr id="18" name="Text 14"/>
          <p:cNvSpPr txBox="1"/>
          <p:nvPr/>
        </p:nvSpPr>
        <p:spPr>
          <a:xfrm>
            <a:off x="731520" y="3703320"/>
            <a:ext cx="3931920" cy="420624"/>
          </a:xfrm>
          <a:prstGeom prst="rect">
            <a:avLst/>
          </a:prstGeom>
          <a:noFill/>
          <a:ln/>
        </p:spPr>
        <p:txBody>
          <a:bodyPr wrap="square" lIns="0" tIns="0" rIns="0" bIns="0" rtlCol="0" anchor="ctr"/>
          <a:lstStyle/>
          <a:p>
            <a:pPr indent="0" marL="0">
              <a:buNone/>
            </a:pPr>
            <a:r>
              <a:rPr lang="en-US" sz="1500" dirty="0">
                <a:solidFill>
                  <a:schemeClr val="bg1"/>
                </a:solidFill>
              </a:rPr>
              <a:t>Reproducibility rules</a:t>
            </a:r>
            <a:endParaRPr lang="en-US" sz="1500" dirty="0"/>
          </a:p>
        </p:txBody>
      </p:sp>
      <p:sp>
        <p:nvSpPr>
          <p:cNvPr id="19" name="general-chip"/>
          <p:cNvSpPr/>
          <p:nvPr/>
        </p:nvSpPr>
        <p:spPr>
          <a:xfrm>
            <a:off x="548640" y="4206240"/>
            <a:ext cx="4206240" cy="420624"/>
          </a:xfrm>
          <a:prstGeom prst="roundRect">
            <a:avLst>
              <a:gd name="adj" fmla="val 26087"/>
            </a:avLst>
          </a:prstGeom>
          <a:solidFill>
            <a:schemeClr val="accent1"/>
          </a:solidFill>
          <a:ln w="12700">
            <a:solidFill>
              <a:schemeClr val="accent1"/>
            </a:solidFill>
            <a:prstDash val="solid"/>
          </a:ln>
        </p:spPr>
      </p:sp>
      <p:sp>
        <p:nvSpPr>
          <p:cNvPr id="20" name="Text 16"/>
          <p:cNvSpPr txBox="1"/>
          <p:nvPr/>
        </p:nvSpPr>
        <p:spPr>
          <a:xfrm>
            <a:off x="731520" y="4206240"/>
            <a:ext cx="3931920" cy="420624"/>
          </a:xfrm>
          <a:prstGeom prst="rect">
            <a:avLst/>
          </a:prstGeom>
          <a:noFill/>
          <a:ln/>
        </p:spPr>
        <p:txBody>
          <a:bodyPr wrap="square" lIns="0" tIns="0" rIns="0" bIns="0" rtlCol="0" anchor="ctr"/>
          <a:lstStyle/>
          <a:p>
            <a:pPr indent="0" marL="0">
              <a:buNone/>
            </a:pPr>
            <a:r>
              <a:rPr lang="en-US" sz="1500" dirty="0">
                <a:solidFill>
                  <a:schemeClr val="bg1"/>
                </a:solidFill>
              </a:rPr>
              <a:t>Research tree</a:t>
            </a:r>
            <a:endParaRPr lang="en-US" sz="1500" dirty="0"/>
          </a:p>
        </p:txBody>
      </p:sp>
      <p:sp>
        <p:nvSpPr>
          <p:cNvPr id="21" name="general-chip"/>
          <p:cNvSpPr/>
          <p:nvPr/>
        </p:nvSpPr>
        <p:spPr>
          <a:xfrm>
            <a:off x="548640" y="4709160"/>
            <a:ext cx="4206240" cy="420624"/>
          </a:xfrm>
          <a:prstGeom prst="roundRect">
            <a:avLst>
              <a:gd name="adj" fmla="val 26087"/>
            </a:avLst>
          </a:prstGeom>
          <a:solidFill>
            <a:schemeClr val="accent1"/>
          </a:solidFill>
          <a:ln w="12700">
            <a:solidFill>
              <a:schemeClr val="accent1"/>
            </a:solidFill>
            <a:prstDash val="solid"/>
          </a:ln>
        </p:spPr>
      </p:sp>
      <p:sp>
        <p:nvSpPr>
          <p:cNvPr id="22" name="Text 18"/>
          <p:cNvSpPr txBox="1"/>
          <p:nvPr/>
        </p:nvSpPr>
        <p:spPr>
          <a:xfrm>
            <a:off x="731520" y="4709160"/>
            <a:ext cx="3931920" cy="420624"/>
          </a:xfrm>
          <a:prstGeom prst="rect">
            <a:avLst/>
          </a:prstGeom>
          <a:noFill/>
          <a:ln/>
        </p:spPr>
        <p:txBody>
          <a:bodyPr wrap="square" lIns="0" tIns="0" rIns="0" bIns="0" rtlCol="0" anchor="ctr"/>
          <a:lstStyle/>
          <a:p>
            <a:pPr indent="0" marL="0">
              <a:buNone/>
            </a:pPr>
            <a:r>
              <a:rPr lang="en-US" sz="1500" dirty="0">
                <a:solidFill>
                  <a:schemeClr val="bg1"/>
                </a:solidFill>
              </a:rPr>
              <a:t>AI lessons file</a:t>
            </a:r>
            <a:endParaRPr lang="en-US" sz="1500" dirty="0"/>
          </a:p>
        </p:txBody>
      </p:sp>
      <p:sp>
        <p:nvSpPr>
          <p:cNvPr id="23" name="general-chip"/>
          <p:cNvSpPr/>
          <p:nvPr/>
        </p:nvSpPr>
        <p:spPr>
          <a:xfrm>
            <a:off x="548640" y="5212080"/>
            <a:ext cx="4206240" cy="420624"/>
          </a:xfrm>
          <a:prstGeom prst="roundRect">
            <a:avLst>
              <a:gd name="adj" fmla="val 26087"/>
            </a:avLst>
          </a:prstGeom>
          <a:solidFill>
            <a:schemeClr val="accent1"/>
          </a:solidFill>
          <a:ln w="12700">
            <a:solidFill>
              <a:schemeClr val="accent1"/>
            </a:solidFill>
            <a:prstDash val="solid"/>
          </a:ln>
        </p:spPr>
      </p:sp>
      <p:sp>
        <p:nvSpPr>
          <p:cNvPr id="24" name="Text 20"/>
          <p:cNvSpPr txBox="1"/>
          <p:nvPr/>
        </p:nvSpPr>
        <p:spPr>
          <a:xfrm>
            <a:off x="731520" y="5212080"/>
            <a:ext cx="3931920" cy="420624"/>
          </a:xfrm>
          <a:prstGeom prst="rect">
            <a:avLst/>
          </a:prstGeom>
          <a:noFill/>
          <a:ln/>
        </p:spPr>
        <p:txBody>
          <a:bodyPr wrap="square" lIns="0" tIns="0" rIns="0" bIns="0" rtlCol="0" anchor="ctr"/>
          <a:lstStyle/>
          <a:p>
            <a:pPr indent="0" marL="0">
              <a:buNone/>
            </a:pPr>
            <a:r>
              <a:rPr lang="en-US" sz="1500" dirty="0">
                <a:solidFill>
                  <a:schemeClr val="bg1"/>
                </a:solidFill>
              </a:rPr>
              <a:t>Reporting + writing standards</a:t>
            </a:r>
            <a:endParaRPr lang="en-US" sz="1500" dirty="0"/>
          </a:p>
        </p:txBody>
      </p:sp>
      <p:sp>
        <p:nvSpPr>
          <p:cNvPr id="25" name="general-chip"/>
          <p:cNvSpPr/>
          <p:nvPr/>
        </p:nvSpPr>
        <p:spPr>
          <a:xfrm>
            <a:off x="548640" y="5715000"/>
            <a:ext cx="4206240" cy="420624"/>
          </a:xfrm>
          <a:prstGeom prst="roundRect">
            <a:avLst>
              <a:gd name="adj" fmla="val 26087"/>
            </a:avLst>
          </a:prstGeom>
          <a:solidFill>
            <a:schemeClr val="accent1"/>
          </a:solidFill>
          <a:ln w="12700">
            <a:solidFill>
              <a:schemeClr val="accent1"/>
            </a:solidFill>
            <a:prstDash val="solid"/>
          </a:ln>
        </p:spPr>
      </p:sp>
      <p:sp>
        <p:nvSpPr>
          <p:cNvPr id="26" name="Text 22"/>
          <p:cNvSpPr txBox="1"/>
          <p:nvPr/>
        </p:nvSpPr>
        <p:spPr>
          <a:xfrm>
            <a:off x="731520" y="5715000"/>
            <a:ext cx="3931920" cy="420624"/>
          </a:xfrm>
          <a:prstGeom prst="rect">
            <a:avLst/>
          </a:prstGeom>
          <a:noFill/>
          <a:ln/>
        </p:spPr>
        <p:txBody>
          <a:bodyPr wrap="square" lIns="0" tIns="0" rIns="0" bIns="0" rtlCol="0" anchor="ctr"/>
          <a:lstStyle/>
          <a:p>
            <a:pPr indent="0" marL="0">
              <a:buNone/>
            </a:pPr>
            <a:r>
              <a:rPr lang="en-US" sz="1500" dirty="0">
                <a:solidFill>
                  <a:schemeClr val="bg1"/>
                </a:solidFill>
              </a:rPr>
              <a:t>Human disclaimer</a:t>
            </a:r>
            <a:endParaRPr lang="en-US" sz="1500" dirty="0"/>
          </a:p>
        </p:txBody>
      </p:sp>
      <p:sp>
        <p:nvSpPr>
          <p:cNvPr id="27" name="specific-chip"/>
          <p:cNvSpPr/>
          <p:nvPr/>
        </p:nvSpPr>
        <p:spPr>
          <a:xfrm>
            <a:off x="7498080" y="1691640"/>
            <a:ext cx="4160520" cy="777240"/>
          </a:xfrm>
          <a:prstGeom prst="roundRect">
            <a:avLst>
              <a:gd name="adj" fmla="val 14118"/>
            </a:avLst>
          </a:prstGeom>
          <a:solidFill>
            <a:schemeClr val="accent4"/>
          </a:solidFill>
          <a:ln w="12700">
            <a:solidFill>
              <a:schemeClr val="accent4"/>
            </a:solidFill>
            <a:prstDash val="solid"/>
          </a:ln>
        </p:spPr>
      </p:sp>
      <p:sp>
        <p:nvSpPr>
          <p:cNvPr id="28" name="Text 24"/>
          <p:cNvSpPr txBox="1"/>
          <p:nvPr/>
        </p:nvSpPr>
        <p:spPr>
          <a:xfrm>
            <a:off x="7680960" y="1691640"/>
            <a:ext cx="3840480" cy="777240"/>
          </a:xfrm>
          <a:prstGeom prst="rect">
            <a:avLst/>
          </a:prstGeom>
          <a:noFill/>
          <a:ln/>
        </p:spPr>
        <p:txBody>
          <a:bodyPr wrap="square" lIns="0" tIns="0" rIns="0" bIns="0" rtlCol="0" anchor="ctr"/>
          <a:lstStyle/>
          <a:p>
            <a:pPr indent="0" marL="0">
              <a:buNone/>
            </a:pPr>
            <a:r>
              <a:rPr lang="en-US" sz="1600" b="1" dirty="0">
                <a:solidFill>
                  <a:schemeClr val="bg1"/>
                </a:solidFill>
              </a:rPr>
              <a:t>Kinds of multicellularity</a:t>
            </a:r>
            <a:endParaRPr lang="en-US" sz="1600" dirty="0"/>
          </a:p>
        </p:txBody>
      </p:sp>
      <p:sp>
        <p:nvSpPr>
          <p:cNvPr id="29" name="specific-chip"/>
          <p:cNvSpPr/>
          <p:nvPr/>
        </p:nvSpPr>
        <p:spPr>
          <a:xfrm>
            <a:off x="7498080" y="2596896"/>
            <a:ext cx="4160520" cy="777240"/>
          </a:xfrm>
          <a:prstGeom prst="roundRect">
            <a:avLst>
              <a:gd name="adj" fmla="val 14118"/>
            </a:avLst>
          </a:prstGeom>
          <a:solidFill>
            <a:schemeClr val="accent4"/>
          </a:solidFill>
          <a:ln w="12700">
            <a:solidFill>
              <a:schemeClr val="accent4"/>
            </a:solidFill>
            <a:prstDash val="solid"/>
          </a:ln>
        </p:spPr>
      </p:sp>
      <p:sp>
        <p:nvSpPr>
          <p:cNvPr id="30" name="Text 26"/>
          <p:cNvSpPr txBox="1"/>
          <p:nvPr/>
        </p:nvSpPr>
        <p:spPr>
          <a:xfrm>
            <a:off x="7680960" y="2596896"/>
            <a:ext cx="3840480" cy="777240"/>
          </a:xfrm>
          <a:prstGeom prst="rect">
            <a:avLst/>
          </a:prstGeom>
          <a:noFill/>
          <a:ln/>
        </p:spPr>
        <p:txBody>
          <a:bodyPr wrap="square" lIns="0" tIns="0" rIns="0" bIns="0" rtlCol="0" anchor="ctr"/>
          <a:lstStyle/>
          <a:p>
            <a:pPr indent="0" marL="0">
              <a:buNone/>
            </a:pPr>
            <a:r>
              <a:rPr lang="en-US" sz="1600" b="1" dirty="0">
                <a:solidFill>
                  <a:schemeClr val="bg1"/>
                </a:solidFill>
              </a:rPr>
              <a:t>Ancestra: ancestral genomes</a:t>
            </a:r>
            <a:endParaRPr lang="en-US" sz="1600" dirty="0"/>
          </a:p>
        </p:txBody>
      </p:sp>
      <p:sp>
        <p:nvSpPr>
          <p:cNvPr id="31" name="specific-chip"/>
          <p:cNvSpPr/>
          <p:nvPr/>
        </p:nvSpPr>
        <p:spPr>
          <a:xfrm>
            <a:off x="7498080" y="3502152"/>
            <a:ext cx="4160520" cy="777240"/>
          </a:xfrm>
          <a:prstGeom prst="roundRect">
            <a:avLst>
              <a:gd name="adj" fmla="val 14118"/>
            </a:avLst>
          </a:prstGeom>
          <a:solidFill>
            <a:schemeClr val="accent4"/>
          </a:solidFill>
          <a:ln w="12700">
            <a:solidFill>
              <a:schemeClr val="accent4"/>
            </a:solidFill>
            <a:prstDash val="solid"/>
          </a:ln>
        </p:spPr>
      </p:sp>
      <p:sp>
        <p:nvSpPr>
          <p:cNvPr id="32" name="Text 28"/>
          <p:cNvSpPr txBox="1"/>
          <p:nvPr/>
        </p:nvSpPr>
        <p:spPr>
          <a:xfrm>
            <a:off x="7680960" y="3502152"/>
            <a:ext cx="3840480" cy="777240"/>
          </a:xfrm>
          <a:prstGeom prst="rect">
            <a:avLst/>
          </a:prstGeom>
          <a:noFill/>
          <a:ln/>
        </p:spPr>
        <p:txBody>
          <a:bodyPr wrap="square" lIns="0" tIns="0" rIns="0" bIns="0" rtlCol="0" anchor="ctr"/>
          <a:lstStyle/>
          <a:p>
            <a:pPr indent="0" marL="0">
              <a:buNone/>
            </a:pPr>
            <a:r>
              <a:rPr lang="en-US" sz="1600" b="1" dirty="0">
                <a:solidFill>
                  <a:schemeClr val="bg1"/>
                </a:solidFill>
              </a:rPr>
              <a:t>EukProt, LukProt, 'Eukaryoma'</a:t>
            </a:r>
            <a:endParaRPr lang="en-US" sz="1600" dirty="0"/>
          </a:p>
        </p:txBody>
      </p:sp>
      <p:sp>
        <p:nvSpPr>
          <p:cNvPr id="33" name="specific-chip"/>
          <p:cNvSpPr/>
          <p:nvPr/>
        </p:nvSpPr>
        <p:spPr>
          <a:xfrm>
            <a:off x="7498080" y="4407408"/>
            <a:ext cx="4160520" cy="777240"/>
          </a:xfrm>
          <a:prstGeom prst="roundRect">
            <a:avLst>
              <a:gd name="adj" fmla="val 14118"/>
            </a:avLst>
          </a:prstGeom>
          <a:solidFill>
            <a:schemeClr val="accent4"/>
          </a:solidFill>
          <a:ln w="12700">
            <a:solidFill>
              <a:schemeClr val="accent4"/>
            </a:solidFill>
            <a:prstDash val="solid"/>
          </a:ln>
        </p:spPr>
      </p:sp>
      <p:sp>
        <p:nvSpPr>
          <p:cNvPr id="34" name="Text 30"/>
          <p:cNvSpPr txBox="1"/>
          <p:nvPr/>
        </p:nvSpPr>
        <p:spPr>
          <a:xfrm>
            <a:off x="7680960" y="4407408"/>
            <a:ext cx="3840480" cy="777240"/>
          </a:xfrm>
          <a:prstGeom prst="rect">
            <a:avLst/>
          </a:prstGeom>
          <a:noFill/>
          <a:ln/>
        </p:spPr>
        <p:txBody>
          <a:bodyPr wrap="square" lIns="0" tIns="0" rIns="0" bIns="0" rtlCol="0" anchor="ctr"/>
          <a:lstStyle/>
          <a:p>
            <a:pPr indent="0" marL="0">
              <a:buNone/>
            </a:pPr>
            <a:r>
              <a:rPr lang="en-US" sz="1600" b="1" dirty="0">
                <a:solidFill>
                  <a:schemeClr val="bg1"/>
                </a:solidFill>
              </a:rPr>
              <a:t>Menu of analyses</a:t>
            </a:r>
            <a:endParaRPr lang="en-US" sz="1600" dirty="0"/>
          </a:p>
        </p:txBody>
      </p:sp>
      <p:sp>
        <p:nvSpPr>
          <p:cNvPr id="35" name="specific-chip"/>
          <p:cNvSpPr/>
          <p:nvPr/>
        </p:nvSpPr>
        <p:spPr>
          <a:xfrm>
            <a:off x="7498080" y="5312664"/>
            <a:ext cx="4160520" cy="777240"/>
          </a:xfrm>
          <a:prstGeom prst="roundRect">
            <a:avLst>
              <a:gd name="adj" fmla="val 14118"/>
            </a:avLst>
          </a:prstGeom>
          <a:solidFill>
            <a:schemeClr val="accent4"/>
          </a:solidFill>
          <a:ln w="12700">
            <a:solidFill>
              <a:schemeClr val="accent4"/>
            </a:solidFill>
            <a:prstDash val="solid"/>
          </a:ln>
        </p:spPr>
      </p:sp>
      <p:sp>
        <p:nvSpPr>
          <p:cNvPr id="36" name="Text 32"/>
          <p:cNvSpPr txBox="1"/>
          <p:nvPr/>
        </p:nvSpPr>
        <p:spPr>
          <a:xfrm>
            <a:off x="7680960" y="5312664"/>
            <a:ext cx="3840480" cy="777240"/>
          </a:xfrm>
          <a:prstGeom prst="rect">
            <a:avLst/>
          </a:prstGeom>
          <a:noFill/>
          <a:ln/>
        </p:spPr>
        <p:txBody>
          <a:bodyPr wrap="square" lIns="0" tIns="0" rIns="0" bIns="0" rtlCol="0" anchor="ctr"/>
          <a:lstStyle/>
          <a:p>
            <a:pPr indent="0" marL="0">
              <a:buNone/>
            </a:pPr>
            <a:r>
              <a:rPr lang="en-US" sz="1600" b="1" dirty="0">
                <a:solidFill>
                  <a:schemeClr val="bg1"/>
                </a:solidFill>
              </a:rPr>
              <a:t>Selection-pressure question</a:t>
            </a:r>
            <a:endParaRPr lang="en-US" sz="1600" dirty="0"/>
          </a:p>
        </p:txBody>
      </p:sp>
      <p:sp>
        <p:nvSpPr>
          <p:cNvPr id="37" name="Text 33"/>
          <p:cNvSpPr txBox="1"/>
          <p:nvPr/>
        </p:nvSpPr>
        <p:spPr>
          <a:xfrm>
            <a:off x="4846320" y="3703320"/>
            <a:ext cx="2468880" cy="320040"/>
          </a:xfrm>
          <a:prstGeom prst="rect">
            <a:avLst/>
          </a:prstGeom>
          <a:noFill/>
          <a:ln/>
        </p:spPr>
        <p:txBody>
          <a:bodyPr wrap="square" lIns="0" tIns="0" rIns="0" bIns="0" rtlCol="0" anchor="t"/>
          <a:lstStyle/>
          <a:p>
            <a:pPr algn="ctr" indent="0" marL="0">
              <a:buNone/>
            </a:pPr>
            <a:r>
              <a:rPr lang="en-US" sz="1400" b="1" dirty="0">
                <a:solidFill>
                  <a:schemeClr val="accent1"/>
                </a:solidFill>
              </a:rPr>
              <a:t>9 generic blocks</a:t>
            </a:r>
            <a:endParaRPr lang="en-US" sz="1400" dirty="0"/>
          </a:p>
        </p:txBody>
      </p:sp>
      <p:sp>
        <p:nvSpPr>
          <p:cNvPr id="38" name="Text 34"/>
          <p:cNvSpPr txBox="1"/>
          <p:nvPr/>
        </p:nvSpPr>
        <p:spPr>
          <a:xfrm>
            <a:off x="4846320" y="4069080"/>
            <a:ext cx="2468880" cy="320040"/>
          </a:xfrm>
          <a:prstGeom prst="rect">
            <a:avLst/>
          </a:prstGeom>
          <a:noFill/>
          <a:ln/>
        </p:spPr>
        <p:txBody>
          <a:bodyPr wrap="square" lIns="0" tIns="0" rIns="0" bIns="0" rtlCol="0" anchor="t"/>
          <a:lstStyle/>
          <a:p>
            <a:pPr algn="ctr" indent="0" marL="0">
              <a:buNone/>
            </a:pPr>
            <a:r>
              <a:rPr lang="en-US" sz="1400" b="1" dirty="0">
                <a:solidFill>
                  <a:schemeClr val="accent4"/>
                </a:solidFill>
              </a:rPr>
              <a:t>5 science blocks</a:t>
            </a:r>
            <a:endParaRPr lang="en-US" sz="1400" dirty="0"/>
          </a:p>
        </p:txBody>
      </p:sp>
      <p:sp>
        <p:nvSpPr>
          <p:cNvPr id="39" name="Text 35"/>
          <p:cNvSpPr txBox="1"/>
          <p:nvPr/>
        </p:nvSpPr>
        <p:spPr>
          <a:xfrm>
            <a:off x="4892040" y="4572000"/>
            <a:ext cx="2377440" cy="1097280"/>
          </a:xfrm>
          <a:prstGeom prst="rect">
            <a:avLst/>
          </a:prstGeom>
          <a:noFill/>
          <a:ln/>
        </p:spPr>
        <p:txBody>
          <a:bodyPr wrap="square" lIns="0" tIns="0" rIns="0" bIns="0" rtlCol="0" anchor="t"/>
          <a:lstStyle/>
          <a:p>
            <a:pPr algn="ctr" indent="0" marL="0">
              <a:buNone/>
            </a:pPr>
            <a:r>
              <a:rPr lang="en-US" sz="1100" i="1" dirty="0">
                <a:solidFill>
                  <a:schemeClr val="tx2"/>
                </a:solidFill>
              </a:rPr>
              <a:t>Most of the prompt is a reusable research protocol; the science fits in one paragraph.</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Round 2: seven new scientific asks</a:t>
            </a:r>
            <a:endParaRPr lang="en-US" sz="3200" dirty="0"/>
          </a:p>
        </p:txBody>
      </p:sp>
      <p:sp>
        <p:nvSpPr>
          <p:cNvPr id="4" name="resources-strip"/>
          <p:cNvSpPr/>
          <p:nvPr/>
        </p:nvSpPr>
        <p:spPr>
          <a:xfrm>
            <a:off x="548640" y="1234440"/>
            <a:ext cx="11109960" cy="685800"/>
          </a:xfrm>
          <a:prstGeom prst="roundRect">
            <a:avLst>
              <a:gd name="adj" fmla="val 16000"/>
            </a:avLst>
          </a:prstGeom>
          <a:solidFill>
            <a:schemeClr val="tx2"/>
          </a:solidFill>
          <a:ln w="12700">
            <a:solidFill>
              <a:schemeClr val="tx2"/>
            </a:solidFill>
            <a:prstDash val="solid"/>
          </a:ln>
        </p:spPr>
      </p:sp>
      <p:sp>
        <p:nvSpPr>
          <p:cNvPr id="5" name="icon-circle-FaMicrochip"/>
          <p:cNvSpPr/>
          <p:nvPr/>
        </p:nvSpPr>
        <p:spPr>
          <a:xfrm>
            <a:off x="731520" y="1298448"/>
            <a:ext cx="548640" cy="548640"/>
          </a:xfrm>
          <a:prstGeom prst="ellipse">
            <a:avLst/>
          </a:prstGeom>
          <a:solidFill>
            <a:schemeClr val="accent5"/>
          </a:solidFill>
          <a:ln w="12700">
            <a:solidFill>
              <a:schemeClr val="accent5"/>
            </a:solidFill>
            <a:prstDash val="solid"/>
          </a:ln>
        </p:spPr>
      </p:sp>
      <p:pic>
        <p:nvPicPr>
          <p:cNvPr id="6" name="icon-FaMicrochip" descr="FaMicrochip">    </p:cNvPr>
          <p:cNvPicPr>
            <a:picLocks noChangeAspect="1"/>
          </p:cNvPicPr>
          <p:nvPr/>
        </p:nvPicPr>
        <p:blipFill>
          <a:blip r:embed="rId1"/>
          <a:stretch>
            <a:fillRect/>
          </a:stretch>
        </p:blipFill>
        <p:spPr>
          <a:xfrm>
            <a:off x="863194" y="1430122"/>
            <a:ext cx="285293" cy="285293"/>
          </a:xfrm>
          <a:prstGeom prst="rect">
            <a:avLst/>
          </a:prstGeom>
        </p:spPr>
      </p:pic>
      <p:sp>
        <p:nvSpPr>
          <p:cNvPr id="7" name="Text 3"/>
          <p:cNvSpPr txBox="1"/>
          <p:nvPr/>
        </p:nvSpPr>
        <p:spPr>
          <a:xfrm>
            <a:off x="1463040" y="1234440"/>
            <a:ext cx="10058400" cy="685800"/>
          </a:xfrm>
          <a:prstGeom prst="rect">
            <a:avLst/>
          </a:prstGeom>
          <a:noFill/>
          <a:ln/>
        </p:spPr>
        <p:txBody>
          <a:bodyPr wrap="square" lIns="0" tIns="0" rIns="0" bIns="0" rtlCol="0" anchor="ctr"/>
          <a:lstStyle/>
          <a:p>
            <a:pPr indent="0" marL="0">
              <a:buNone/>
            </a:pPr>
            <a:r>
              <a:rPr lang="en-US" sz="1700" b="1" dirty="0">
                <a:solidFill>
                  <a:schemeClr val="bg1"/>
                </a:solidFill>
              </a:rPr>
              <a:t>New resources: 48 CPU · 500 GB · one A100 GPU · ~30 h  —  and a department-head review first</a:t>
            </a:r>
            <a:endParaRPr lang="en-US" sz="1700" dirty="0"/>
          </a:p>
        </p:txBody>
      </p:sp>
      <p:sp>
        <p:nvSpPr>
          <p:cNvPr id="8" name="ask-card"/>
          <p:cNvSpPr/>
          <p:nvPr/>
        </p:nvSpPr>
        <p:spPr>
          <a:xfrm>
            <a:off x="548640" y="2240280"/>
            <a:ext cx="2651760" cy="1783080"/>
          </a:xfrm>
          <a:prstGeom prst="roundRect">
            <a:avLst>
              <a:gd name="adj" fmla="val 6154"/>
            </a:avLst>
          </a:prstGeom>
          <a:solidFill>
            <a:schemeClr val="bg2"/>
          </a:solidFill>
          <a:ln w="12700">
            <a:solidFill>
              <a:schemeClr val="bg2"/>
            </a:solidFill>
            <a:prstDash val="solid"/>
          </a:ln>
        </p:spPr>
      </p:sp>
      <p:sp>
        <p:nvSpPr>
          <p:cNvPr id="9" name="icon-circle-FaDatabase"/>
          <p:cNvSpPr/>
          <p:nvPr/>
        </p:nvSpPr>
        <p:spPr>
          <a:xfrm>
            <a:off x="713232" y="2423160"/>
            <a:ext cx="640080" cy="640080"/>
          </a:xfrm>
          <a:prstGeom prst="ellipse">
            <a:avLst/>
          </a:prstGeom>
          <a:solidFill>
            <a:schemeClr val="accent1"/>
          </a:solidFill>
          <a:ln w="12700">
            <a:solidFill>
              <a:schemeClr val="accent1"/>
            </a:solidFill>
            <a:prstDash val="solid"/>
          </a:ln>
        </p:spPr>
      </p:sp>
      <p:pic>
        <p:nvPicPr>
          <p:cNvPr id="10" name="icon-FaDatabase" descr="FaDatabase">    </p:cNvPr>
          <p:cNvPicPr>
            <a:picLocks noChangeAspect="1"/>
          </p:cNvPicPr>
          <p:nvPr/>
        </p:nvPicPr>
        <p:blipFill>
          <a:blip r:embed="rId2"/>
          <a:stretch>
            <a:fillRect/>
          </a:stretch>
        </p:blipFill>
        <p:spPr>
          <a:xfrm>
            <a:off x="866851" y="2576779"/>
            <a:ext cx="332842" cy="332842"/>
          </a:xfrm>
          <a:prstGeom prst="rect">
            <a:avLst/>
          </a:prstGeom>
        </p:spPr>
      </p:pic>
      <p:sp>
        <p:nvSpPr>
          <p:cNvPr id="11" name="Text 6"/>
          <p:cNvSpPr txBox="1"/>
          <p:nvPr/>
        </p:nvSpPr>
        <p:spPr>
          <a:xfrm>
            <a:off x="2651760" y="2377440"/>
            <a:ext cx="411480" cy="411480"/>
          </a:xfrm>
          <a:prstGeom prst="rect">
            <a:avLst/>
          </a:prstGeom>
          <a:noFill/>
          <a:ln/>
        </p:spPr>
        <p:txBody>
          <a:bodyPr wrap="square" lIns="0" tIns="0" rIns="0" bIns="0" rtlCol="0" anchor="t"/>
          <a:lstStyle/>
          <a:p>
            <a:pPr algn="r" indent="0" marL="0">
              <a:buNone/>
            </a:pPr>
            <a:r>
              <a:rPr lang="en-US" sz="2000" b="1" dirty="0">
                <a:solidFill>
                  <a:schemeClr val="accent4"/>
                </a:solidFill>
              </a:rPr>
              <a:t>1</a:t>
            </a:r>
            <a:endParaRPr lang="en-US" sz="2000" dirty="0"/>
          </a:p>
        </p:txBody>
      </p:sp>
      <p:sp>
        <p:nvSpPr>
          <p:cNvPr id="12" name="Text 7"/>
          <p:cNvSpPr txBox="1"/>
          <p:nvPr/>
        </p:nvSpPr>
        <p:spPr>
          <a:xfrm>
            <a:off x="713232" y="3154680"/>
            <a:ext cx="2377440" cy="822960"/>
          </a:xfrm>
          <a:prstGeom prst="rect">
            <a:avLst/>
          </a:prstGeom>
          <a:noFill/>
          <a:ln/>
        </p:spPr>
        <p:txBody>
          <a:bodyPr wrap="square" lIns="0" tIns="0" rIns="0" bIns="0" rtlCol="0" anchor="t"/>
          <a:lstStyle/>
          <a:p>
            <a:pPr indent="0" marL="0">
              <a:buNone/>
            </a:pPr>
            <a:r>
              <a:rPr lang="en-US" sz="1600" b="1" dirty="0">
                <a:solidFill>
                  <a:schemeClr val="tx1"/>
                </a:solidFill>
              </a:rPr>
              <a:t>EukaryOMA</a:t>
            </a:r>
            <a:endParaRPr lang="en-US" sz="1500" dirty="0"/>
          </a:p>
          <a:p>
            <a:pPr indent="0" marL="0">
              <a:buNone/>
            </a:pPr>
            <a:r>
              <a:rPr lang="en-US" sz="1400" dirty="0">
                <a:solidFill>
                  <a:schemeClr val="tx1"/>
                </a:solidFill>
              </a:rPr>
              <a:t>the database round 1 'could not find'</a:t>
            </a:r>
            <a:endParaRPr lang="en-US" sz="1500" dirty="0"/>
          </a:p>
        </p:txBody>
      </p:sp>
      <p:sp>
        <p:nvSpPr>
          <p:cNvPr id="13" name="ask-card"/>
          <p:cNvSpPr/>
          <p:nvPr/>
        </p:nvSpPr>
        <p:spPr>
          <a:xfrm>
            <a:off x="3355848" y="2240280"/>
            <a:ext cx="2651760" cy="1783080"/>
          </a:xfrm>
          <a:prstGeom prst="roundRect">
            <a:avLst>
              <a:gd name="adj" fmla="val 6154"/>
            </a:avLst>
          </a:prstGeom>
          <a:solidFill>
            <a:schemeClr val="bg2"/>
          </a:solidFill>
          <a:ln w="12700">
            <a:solidFill>
              <a:schemeClr val="bg2"/>
            </a:solidFill>
            <a:prstDash val="solid"/>
          </a:ln>
        </p:spPr>
      </p:sp>
      <p:sp>
        <p:nvSpPr>
          <p:cNvPr id="14" name="icon-circle-FaCubes"/>
          <p:cNvSpPr/>
          <p:nvPr/>
        </p:nvSpPr>
        <p:spPr>
          <a:xfrm>
            <a:off x="3520440" y="2423160"/>
            <a:ext cx="640080" cy="640080"/>
          </a:xfrm>
          <a:prstGeom prst="ellipse">
            <a:avLst/>
          </a:prstGeom>
          <a:solidFill>
            <a:schemeClr val="accent1"/>
          </a:solidFill>
          <a:ln w="12700">
            <a:solidFill>
              <a:schemeClr val="accent1"/>
            </a:solidFill>
            <a:prstDash val="solid"/>
          </a:ln>
        </p:spPr>
      </p:sp>
      <p:pic>
        <p:nvPicPr>
          <p:cNvPr id="15" name="icon-FaCubes" descr="FaCubes">    </p:cNvPr>
          <p:cNvPicPr>
            <a:picLocks noChangeAspect="1"/>
          </p:cNvPicPr>
          <p:nvPr/>
        </p:nvPicPr>
        <p:blipFill>
          <a:blip r:embed="rId3"/>
          <a:stretch>
            <a:fillRect/>
          </a:stretch>
        </p:blipFill>
        <p:spPr>
          <a:xfrm>
            <a:off x="3674059" y="2576779"/>
            <a:ext cx="332842" cy="332842"/>
          </a:xfrm>
          <a:prstGeom prst="rect">
            <a:avLst/>
          </a:prstGeom>
        </p:spPr>
      </p:pic>
      <p:sp>
        <p:nvSpPr>
          <p:cNvPr id="16" name="Text 10"/>
          <p:cNvSpPr txBox="1"/>
          <p:nvPr/>
        </p:nvSpPr>
        <p:spPr>
          <a:xfrm>
            <a:off x="5458968" y="2377440"/>
            <a:ext cx="411480" cy="411480"/>
          </a:xfrm>
          <a:prstGeom prst="rect">
            <a:avLst/>
          </a:prstGeom>
          <a:noFill/>
          <a:ln/>
        </p:spPr>
        <p:txBody>
          <a:bodyPr wrap="square" lIns="0" tIns="0" rIns="0" bIns="0" rtlCol="0" anchor="t"/>
          <a:lstStyle/>
          <a:p>
            <a:pPr algn="r" indent="0" marL="0">
              <a:buNone/>
            </a:pPr>
            <a:r>
              <a:rPr lang="en-US" sz="2000" b="1" dirty="0">
                <a:solidFill>
                  <a:schemeClr val="accent4"/>
                </a:solidFill>
              </a:rPr>
              <a:t>2</a:t>
            </a:r>
            <a:endParaRPr lang="en-US" sz="2000" dirty="0"/>
          </a:p>
        </p:txBody>
      </p:sp>
      <p:sp>
        <p:nvSpPr>
          <p:cNvPr id="17" name="Text 11"/>
          <p:cNvSpPr txBox="1"/>
          <p:nvPr/>
        </p:nvSpPr>
        <p:spPr>
          <a:xfrm>
            <a:off x="3520440" y="3154680"/>
            <a:ext cx="2377440" cy="822960"/>
          </a:xfrm>
          <a:prstGeom prst="rect">
            <a:avLst/>
          </a:prstGeom>
          <a:noFill/>
          <a:ln/>
        </p:spPr>
        <p:txBody>
          <a:bodyPr wrap="square" lIns="0" tIns="0" rIns="0" bIns="0" rtlCol="0" anchor="t"/>
          <a:lstStyle/>
          <a:p>
            <a:pPr indent="0" marL="0">
              <a:buNone/>
            </a:pPr>
            <a:r>
              <a:rPr lang="en-US" sz="1600" b="1" dirty="0">
                <a:solidFill>
                  <a:schemeClr val="tx1"/>
                </a:solidFill>
              </a:rPr>
              <a:t>3D structure</a:t>
            </a:r>
            <a:endParaRPr lang="en-US" sz="1500" dirty="0"/>
          </a:p>
          <a:p>
            <a:pPr indent="0" marL="0">
              <a:buNone/>
            </a:pPr>
            <a:r>
              <a:rPr lang="en-US" sz="1400" dirty="0">
                <a:solidFill>
                  <a:schemeClr val="tx1"/>
                </a:solidFill>
              </a:rPr>
              <a:t>ProstT5 structure letters on GPU</a:t>
            </a:r>
            <a:endParaRPr lang="en-US" sz="1500" dirty="0"/>
          </a:p>
        </p:txBody>
      </p:sp>
      <p:sp>
        <p:nvSpPr>
          <p:cNvPr id="18" name="ask-card"/>
          <p:cNvSpPr/>
          <p:nvPr/>
        </p:nvSpPr>
        <p:spPr>
          <a:xfrm>
            <a:off x="6163056" y="2240280"/>
            <a:ext cx="2651760" cy="1783080"/>
          </a:xfrm>
          <a:prstGeom prst="roundRect">
            <a:avLst>
              <a:gd name="adj" fmla="val 6154"/>
            </a:avLst>
          </a:prstGeom>
          <a:solidFill>
            <a:schemeClr val="bg2"/>
          </a:solidFill>
          <a:ln w="12700">
            <a:solidFill>
              <a:schemeClr val="bg2"/>
            </a:solidFill>
            <a:prstDash val="solid"/>
          </a:ln>
        </p:spPr>
      </p:sp>
      <p:sp>
        <p:nvSpPr>
          <p:cNvPr id="19" name="icon-circle-FaLayerGroup"/>
          <p:cNvSpPr/>
          <p:nvPr/>
        </p:nvSpPr>
        <p:spPr>
          <a:xfrm>
            <a:off x="6327648" y="2423160"/>
            <a:ext cx="640080" cy="640080"/>
          </a:xfrm>
          <a:prstGeom prst="ellipse">
            <a:avLst/>
          </a:prstGeom>
          <a:solidFill>
            <a:schemeClr val="accent1"/>
          </a:solidFill>
          <a:ln w="12700">
            <a:solidFill>
              <a:schemeClr val="accent1"/>
            </a:solidFill>
            <a:prstDash val="solid"/>
          </a:ln>
        </p:spPr>
      </p:sp>
      <p:pic>
        <p:nvPicPr>
          <p:cNvPr id="20" name="icon-FaLayerGroup" descr="FaLayerGroup">    </p:cNvPr>
          <p:cNvPicPr>
            <a:picLocks noChangeAspect="1"/>
          </p:cNvPicPr>
          <p:nvPr/>
        </p:nvPicPr>
        <p:blipFill>
          <a:blip r:embed="rId4"/>
          <a:stretch>
            <a:fillRect/>
          </a:stretch>
        </p:blipFill>
        <p:spPr>
          <a:xfrm>
            <a:off x="6481267" y="2576779"/>
            <a:ext cx="332842" cy="332842"/>
          </a:xfrm>
          <a:prstGeom prst="rect">
            <a:avLst/>
          </a:prstGeom>
        </p:spPr>
      </p:pic>
      <p:sp>
        <p:nvSpPr>
          <p:cNvPr id="21" name="Text 14"/>
          <p:cNvSpPr txBox="1"/>
          <p:nvPr/>
        </p:nvSpPr>
        <p:spPr>
          <a:xfrm>
            <a:off x="8266176" y="2377440"/>
            <a:ext cx="411480" cy="411480"/>
          </a:xfrm>
          <a:prstGeom prst="rect">
            <a:avLst/>
          </a:prstGeom>
          <a:noFill/>
          <a:ln/>
        </p:spPr>
        <p:txBody>
          <a:bodyPr wrap="square" lIns="0" tIns="0" rIns="0" bIns="0" rtlCol="0" anchor="t"/>
          <a:lstStyle/>
          <a:p>
            <a:pPr algn="r" indent="0" marL="0">
              <a:buNone/>
            </a:pPr>
            <a:r>
              <a:rPr lang="en-US" sz="2000" b="1" dirty="0">
                <a:solidFill>
                  <a:schemeClr val="accent4"/>
                </a:solidFill>
              </a:rPr>
              <a:t>3</a:t>
            </a:r>
            <a:endParaRPr lang="en-US" sz="2000" dirty="0"/>
          </a:p>
        </p:txBody>
      </p:sp>
      <p:sp>
        <p:nvSpPr>
          <p:cNvPr id="22" name="Text 15"/>
          <p:cNvSpPr txBox="1"/>
          <p:nvPr/>
        </p:nvSpPr>
        <p:spPr>
          <a:xfrm>
            <a:off x="6327648" y="3154680"/>
            <a:ext cx="2377440" cy="822960"/>
          </a:xfrm>
          <a:prstGeom prst="rect">
            <a:avLst/>
          </a:prstGeom>
          <a:noFill/>
          <a:ln/>
        </p:spPr>
        <p:txBody>
          <a:bodyPr wrap="square" lIns="0" tIns="0" rIns="0" bIns="0" rtlCol="0" anchor="t"/>
          <a:lstStyle/>
          <a:p>
            <a:pPr indent="0" marL="0">
              <a:buNone/>
            </a:pPr>
            <a:r>
              <a:rPr lang="en-US" sz="1600" b="1" dirty="0">
                <a:solidFill>
                  <a:schemeClr val="tx1"/>
                </a:solidFill>
              </a:rPr>
              <a:t>Simple → complex</a:t>
            </a:r>
            <a:endParaRPr lang="en-US" sz="1500" dirty="0"/>
          </a:p>
          <a:p>
            <a:pPr indent="0" marL="0">
              <a:buNone/>
            </a:pPr>
            <a:r>
              <a:rPr lang="en-US" sz="1400" dirty="0">
                <a:solidFill>
                  <a:schemeClr val="tx1"/>
                </a:solidFill>
              </a:rPr>
              <a:t>not only origins of multicellularity</a:t>
            </a:r>
            <a:endParaRPr lang="en-US" sz="1500" dirty="0"/>
          </a:p>
        </p:txBody>
      </p:sp>
      <p:sp>
        <p:nvSpPr>
          <p:cNvPr id="23" name="ask-card"/>
          <p:cNvSpPr/>
          <p:nvPr/>
        </p:nvSpPr>
        <p:spPr>
          <a:xfrm>
            <a:off x="8970264" y="2240280"/>
            <a:ext cx="2651760" cy="1783080"/>
          </a:xfrm>
          <a:prstGeom prst="roundRect">
            <a:avLst>
              <a:gd name="adj" fmla="val 6154"/>
            </a:avLst>
          </a:prstGeom>
          <a:solidFill>
            <a:schemeClr val="bg2"/>
          </a:solidFill>
          <a:ln w="12700">
            <a:solidFill>
              <a:schemeClr val="bg2"/>
            </a:solidFill>
            <a:prstDash val="solid"/>
          </a:ln>
        </p:spPr>
      </p:sp>
      <p:sp>
        <p:nvSpPr>
          <p:cNvPr id="24" name="icon-circle-FaSearch"/>
          <p:cNvSpPr/>
          <p:nvPr/>
        </p:nvSpPr>
        <p:spPr>
          <a:xfrm>
            <a:off x="9134856" y="2423160"/>
            <a:ext cx="640080" cy="640080"/>
          </a:xfrm>
          <a:prstGeom prst="ellipse">
            <a:avLst/>
          </a:prstGeom>
          <a:solidFill>
            <a:schemeClr val="accent1"/>
          </a:solidFill>
          <a:ln w="12700">
            <a:solidFill>
              <a:schemeClr val="accent1"/>
            </a:solidFill>
            <a:prstDash val="solid"/>
          </a:ln>
        </p:spPr>
      </p:sp>
      <p:pic>
        <p:nvPicPr>
          <p:cNvPr id="25" name="icon-FaSearch" descr="FaSearch">    </p:cNvPr>
          <p:cNvPicPr>
            <a:picLocks noChangeAspect="1"/>
          </p:cNvPicPr>
          <p:nvPr/>
        </p:nvPicPr>
        <p:blipFill>
          <a:blip r:embed="rId5"/>
          <a:stretch>
            <a:fillRect/>
          </a:stretch>
        </p:blipFill>
        <p:spPr>
          <a:xfrm>
            <a:off x="9288475" y="2576779"/>
            <a:ext cx="332842" cy="332842"/>
          </a:xfrm>
          <a:prstGeom prst="rect">
            <a:avLst/>
          </a:prstGeom>
        </p:spPr>
      </p:pic>
      <p:sp>
        <p:nvSpPr>
          <p:cNvPr id="26" name="Text 18"/>
          <p:cNvSpPr txBox="1"/>
          <p:nvPr/>
        </p:nvSpPr>
        <p:spPr>
          <a:xfrm>
            <a:off x="11073384" y="2377440"/>
            <a:ext cx="411480" cy="411480"/>
          </a:xfrm>
          <a:prstGeom prst="rect">
            <a:avLst/>
          </a:prstGeom>
          <a:noFill/>
          <a:ln/>
        </p:spPr>
        <p:txBody>
          <a:bodyPr wrap="square" lIns="0" tIns="0" rIns="0" bIns="0" rtlCol="0" anchor="t"/>
          <a:lstStyle/>
          <a:p>
            <a:pPr algn="r" indent="0" marL="0">
              <a:buNone/>
            </a:pPr>
            <a:r>
              <a:rPr lang="en-US" sz="2000" b="1" dirty="0">
                <a:solidFill>
                  <a:schemeClr val="accent4"/>
                </a:solidFill>
              </a:rPr>
              <a:t>4</a:t>
            </a:r>
            <a:endParaRPr lang="en-US" sz="2000" dirty="0"/>
          </a:p>
        </p:txBody>
      </p:sp>
      <p:sp>
        <p:nvSpPr>
          <p:cNvPr id="27" name="Text 19"/>
          <p:cNvSpPr txBox="1"/>
          <p:nvPr/>
        </p:nvSpPr>
        <p:spPr>
          <a:xfrm>
            <a:off x="9134856" y="3154680"/>
            <a:ext cx="2377440" cy="822960"/>
          </a:xfrm>
          <a:prstGeom prst="rect">
            <a:avLst/>
          </a:prstGeom>
          <a:noFill/>
          <a:ln/>
        </p:spPr>
        <p:txBody>
          <a:bodyPr wrap="square" lIns="0" tIns="0" rIns="0" bIns="0" rtlCol="0" anchor="t"/>
          <a:lstStyle/>
          <a:p>
            <a:pPr indent="0" marL="0">
              <a:buNone/>
            </a:pPr>
            <a:r>
              <a:rPr lang="en-US" sz="1600" b="1" dirty="0">
                <a:solidFill>
                  <a:schemeClr val="tx1"/>
                </a:solidFill>
              </a:rPr>
              <a:t>One run per event</a:t>
            </a:r>
            <a:endParaRPr lang="en-US" sz="1500" dirty="0"/>
          </a:p>
          <a:p>
            <a:pPr indent="0" marL="0">
              <a:buNone/>
            </a:pPr>
            <a:r>
              <a:rPr lang="en-US" sz="1400" dirty="0">
                <a:solidFill>
                  <a:schemeClr val="tx1"/>
                </a:solidFill>
              </a:rPr>
              <a:t>dense sampling around each origin</a:t>
            </a:r>
            <a:endParaRPr lang="en-US" sz="1500" dirty="0"/>
          </a:p>
        </p:txBody>
      </p:sp>
      <p:sp>
        <p:nvSpPr>
          <p:cNvPr id="28" name="ask-card"/>
          <p:cNvSpPr/>
          <p:nvPr/>
        </p:nvSpPr>
        <p:spPr>
          <a:xfrm>
            <a:off x="548640" y="4251960"/>
            <a:ext cx="2651760" cy="1783080"/>
          </a:xfrm>
          <a:prstGeom prst="roundRect">
            <a:avLst>
              <a:gd name="adj" fmla="val 6154"/>
            </a:avLst>
          </a:prstGeom>
          <a:solidFill>
            <a:schemeClr val="bg2"/>
          </a:solidFill>
          <a:ln w="12700">
            <a:solidFill>
              <a:schemeClr val="bg2"/>
            </a:solidFill>
            <a:prstDash val="solid"/>
          </a:ln>
        </p:spPr>
      </p:sp>
      <p:sp>
        <p:nvSpPr>
          <p:cNvPr id="29" name="icon-circle-FaPuzzlePiece"/>
          <p:cNvSpPr/>
          <p:nvPr/>
        </p:nvSpPr>
        <p:spPr>
          <a:xfrm>
            <a:off x="713232" y="4434840"/>
            <a:ext cx="640080" cy="640080"/>
          </a:xfrm>
          <a:prstGeom prst="ellipse">
            <a:avLst/>
          </a:prstGeom>
          <a:solidFill>
            <a:schemeClr val="accent1"/>
          </a:solidFill>
          <a:ln w="12700">
            <a:solidFill>
              <a:schemeClr val="accent1"/>
            </a:solidFill>
            <a:prstDash val="solid"/>
          </a:ln>
        </p:spPr>
      </p:sp>
      <p:pic>
        <p:nvPicPr>
          <p:cNvPr id="30" name="icon-FaPuzzlePiece" descr="FaPuzzlePiece">    </p:cNvPr>
          <p:cNvPicPr>
            <a:picLocks noChangeAspect="1"/>
          </p:cNvPicPr>
          <p:nvPr/>
        </p:nvPicPr>
        <p:blipFill>
          <a:blip r:embed="rId6"/>
          <a:stretch>
            <a:fillRect/>
          </a:stretch>
        </p:blipFill>
        <p:spPr>
          <a:xfrm>
            <a:off x="866851" y="4588459"/>
            <a:ext cx="332842" cy="332842"/>
          </a:xfrm>
          <a:prstGeom prst="rect">
            <a:avLst/>
          </a:prstGeom>
        </p:spPr>
      </p:pic>
      <p:sp>
        <p:nvSpPr>
          <p:cNvPr id="31" name="Text 22"/>
          <p:cNvSpPr txBox="1"/>
          <p:nvPr/>
        </p:nvSpPr>
        <p:spPr>
          <a:xfrm>
            <a:off x="2651760" y="4389120"/>
            <a:ext cx="411480" cy="411480"/>
          </a:xfrm>
          <a:prstGeom prst="rect">
            <a:avLst/>
          </a:prstGeom>
          <a:noFill/>
          <a:ln/>
        </p:spPr>
        <p:txBody>
          <a:bodyPr wrap="square" lIns="0" tIns="0" rIns="0" bIns="0" rtlCol="0" anchor="t"/>
          <a:lstStyle/>
          <a:p>
            <a:pPr algn="r" indent="0" marL="0">
              <a:buNone/>
            </a:pPr>
            <a:r>
              <a:rPr lang="en-US" sz="2000" b="1" dirty="0">
                <a:solidFill>
                  <a:schemeClr val="accent4"/>
                </a:solidFill>
              </a:rPr>
              <a:t>5</a:t>
            </a:r>
            <a:endParaRPr lang="en-US" sz="2000" dirty="0"/>
          </a:p>
        </p:txBody>
      </p:sp>
      <p:sp>
        <p:nvSpPr>
          <p:cNvPr id="32" name="Text 23"/>
          <p:cNvSpPr txBox="1"/>
          <p:nvPr/>
        </p:nvSpPr>
        <p:spPr>
          <a:xfrm>
            <a:off x="713232" y="5166360"/>
            <a:ext cx="2377440" cy="822960"/>
          </a:xfrm>
          <a:prstGeom prst="rect">
            <a:avLst/>
          </a:prstGeom>
          <a:noFill/>
          <a:ln/>
        </p:spPr>
        <p:txBody>
          <a:bodyPr wrap="square" lIns="0" tIns="0" rIns="0" bIns="0" rtlCol="0" anchor="t"/>
          <a:lstStyle/>
          <a:p>
            <a:pPr indent="0" marL="0">
              <a:buNone/>
            </a:pPr>
            <a:r>
              <a:rPr lang="en-US" sz="1600" b="1" dirty="0">
                <a:solidFill>
                  <a:schemeClr val="tx1"/>
                </a:solidFill>
              </a:rPr>
              <a:t>Motifs, death, TFs</a:t>
            </a:r>
            <a:endParaRPr lang="en-US" sz="1500" dirty="0"/>
          </a:p>
          <a:p>
            <a:pPr indent="0" marL="0">
              <a:buNone/>
            </a:pPr>
            <a:r>
              <a:rPr lang="en-US" sz="1400" dirty="0">
                <a:solidFill>
                  <a:schemeClr val="tx1"/>
                </a:solidFill>
              </a:rPr>
              <a:t>motif-binding, cell-death, cell-type TF genes</a:t>
            </a:r>
            <a:endParaRPr lang="en-US" sz="1500" dirty="0"/>
          </a:p>
        </p:txBody>
      </p:sp>
      <p:sp>
        <p:nvSpPr>
          <p:cNvPr id="33" name="ask-card"/>
          <p:cNvSpPr/>
          <p:nvPr/>
        </p:nvSpPr>
        <p:spPr>
          <a:xfrm>
            <a:off x="3355848" y="4251960"/>
            <a:ext cx="2651760" cy="1783080"/>
          </a:xfrm>
          <a:prstGeom prst="roundRect">
            <a:avLst>
              <a:gd name="adj" fmla="val 6154"/>
            </a:avLst>
          </a:prstGeom>
          <a:solidFill>
            <a:schemeClr val="bg2"/>
          </a:solidFill>
          <a:ln w="12700">
            <a:solidFill>
              <a:schemeClr val="bg2"/>
            </a:solidFill>
            <a:prstDash val="solid"/>
          </a:ln>
        </p:spPr>
      </p:sp>
      <p:sp>
        <p:nvSpPr>
          <p:cNvPr id="34" name="icon-circle-FaProjectDiagram"/>
          <p:cNvSpPr/>
          <p:nvPr/>
        </p:nvSpPr>
        <p:spPr>
          <a:xfrm>
            <a:off x="3520440" y="4434840"/>
            <a:ext cx="640080" cy="640080"/>
          </a:xfrm>
          <a:prstGeom prst="ellipse">
            <a:avLst/>
          </a:prstGeom>
          <a:solidFill>
            <a:schemeClr val="accent1"/>
          </a:solidFill>
          <a:ln w="12700">
            <a:solidFill>
              <a:schemeClr val="accent1"/>
            </a:solidFill>
            <a:prstDash val="solid"/>
          </a:ln>
        </p:spPr>
      </p:sp>
      <p:pic>
        <p:nvPicPr>
          <p:cNvPr id="35" name="icon-FaProjectDiagram" descr="FaProjectDiagram">    </p:cNvPr>
          <p:cNvPicPr>
            <a:picLocks noChangeAspect="1"/>
          </p:cNvPicPr>
          <p:nvPr/>
        </p:nvPicPr>
        <p:blipFill>
          <a:blip r:embed="rId7"/>
          <a:stretch>
            <a:fillRect/>
          </a:stretch>
        </p:blipFill>
        <p:spPr>
          <a:xfrm>
            <a:off x="3674059" y="4588459"/>
            <a:ext cx="332842" cy="332842"/>
          </a:xfrm>
          <a:prstGeom prst="rect">
            <a:avLst/>
          </a:prstGeom>
        </p:spPr>
      </p:pic>
      <p:sp>
        <p:nvSpPr>
          <p:cNvPr id="36" name="Text 26"/>
          <p:cNvSpPr txBox="1"/>
          <p:nvPr/>
        </p:nvSpPr>
        <p:spPr>
          <a:xfrm>
            <a:off x="5458968" y="4389120"/>
            <a:ext cx="411480" cy="411480"/>
          </a:xfrm>
          <a:prstGeom prst="rect">
            <a:avLst/>
          </a:prstGeom>
          <a:noFill/>
          <a:ln/>
        </p:spPr>
        <p:txBody>
          <a:bodyPr wrap="square" lIns="0" tIns="0" rIns="0" bIns="0" rtlCol="0" anchor="t"/>
          <a:lstStyle/>
          <a:p>
            <a:pPr algn="r" indent="0" marL="0">
              <a:buNone/>
            </a:pPr>
            <a:r>
              <a:rPr lang="en-US" sz="2000" b="1" dirty="0">
                <a:solidFill>
                  <a:schemeClr val="accent4"/>
                </a:solidFill>
              </a:rPr>
              <a:t>6</a:t>
            </a:r>
            <a:endParaRPr lang="en-US" sz="2000" dirty="0"/>
          </a:p>
        </p:txBody>
      </p:sp>
      <p:sp>
        <p:nvSpPr>
          <p:cNvPr id="37" name="Text 27"/>
          <p:cNvSpPr txBox="1"/>
          <p:nvPr/>
        </p:nvSpPr>
        <p:spPr>
          <a:xfrm>
            <a:off x="3520440" y="5166360"/>
            <a:ext cx="2377440" cy="822960"/>
          </a:xfrm>
          <a:prstGeom prst="rect">
            <a:avLst/>
          </a:prstGeom>
          <a:noFill/>
          <a:ln/>
        </p:spPr>
        <p:txBody>
          <a:bodyPr wrap="square" lIns="0" tIns="0" rIns="0" bIns="0" rtlCol="0" anchor="t"/>
          <a:lstStyle/>
          <a:p>
            <a:pPr indent="0" marL="0">
              <a:buNone/>
            </a:pPr>
            <a:r>
              <a:rPr lang="en-US" sz="1600" b="1" dirty="0">
                <a:solidFill>
                  <a:schemeClr val="tx1"/>
                </a:solidFill>
              </a:rPr>
              <a:t>Specific Pfam families</a:t>
            </a:r>
            <a:endParaRPr lang="en-US" sz="1500" dirty="0"/>
          </a:p>
          <a:p>
            <a:pPr indent="0" marL="0">
              <a:buNone/>
            </a:pPr>
            <a:r>
              <a:rPr lang="en-US" sz="1400" dirty="0">
                <a:solidFill>
                  <a:schemeClr val="tx1"/>
                </a:solidFill>
              </a:rPr>
              <a:t>domain architectures, functions</a:t>
            </a:r>
            <a:endParaRPr lang="en-US" sz="1500" dirty="0"/>
          </a:p>
        </p:txBody>
      </p:sp>
      <p:sp>
        <p:nvSpPr>
          <p:cNvPr id="38" name="ask-card"/>
          <p:cNvSpPr/>
          <p:nvPr/>
        </p:nvSpPr>
        <p:spPr>
          <a:xfrm>
            <a:off x="6163056" y="4251960"/>
            <a:ext cx="2651760" cy="1783080"/>
          </a:xfrm>
          <a:prstGeom prst="roundRect">
            <a:avLst>
              <a:gd name="adj" fmla="val 6154"/>
            </a:avLst>
          </a:prstGeom>
          <a:solidFill>
            <a:schemeClr val="bg2"/>
          </a:solidFill>
          <a:ln w="12700">
            <a:solidFill>
              <a:schemeClr val="bg2"/>
            </a:solidFill>
            <a:prstDash val="solid"/>
          </a:ln>
        </p:spPr>
      </p:sp>
      <p:sp>
        <p:nvSpPr>
          <p:cNvPr id="39" name="icon-circle-FaUsers"/>
          <p:cNvSpPr/>
          <p:nvPr/>
        </p:nvSpPr>
        <p:spPr>
          <a:xfrm>
            <a:off x="6327648" y="4434840"/>
            <a:ext cx="640080" cy="640080"/>
          </a:xfrm>
          <a:prstGeom prst="ellipse">
            <a:avLst/>
          </a:prstGeom>
          <a:solidFill>
            <a:schemeClr val="accent1"/>
          </a:solidFill>
          <a:ln w="12700">
            <a:solidFill>
              <a:schemeClr val="accent1"/>
            </a:solidFill>
            <a:prstDash val="solid"/>
          </a:ln>
        </p:spPr>
      </p:sp>
      <p:pic>
        <p:nvPicPr>
          <p:cNvPr id="40" name="icon-FaUsers" descr="FaUsers">    </p:cNvPr>
          <p:cNvPicPr>
            <a:picLocks noChangeAspect="1"/>
          </p:cNvPicPr>
          <p:nvPr/>
        </p:nvPicPr>
        <p:blipFill>
          <a:blip r:embed="rId8"/>
          <a:stretch>
            <a:fillRect/>
          </a:stretch>
        </p:blipFill>
        <p:spPr>
          <a:xfrm>
            <a:off x="6481267" y="4588459"/>
            <a:ext cx="332842" cy="332842"/>
          </a:xfrm>
          <a:prstGeom prst="rect">
            <a:avLst/>
          </a:prstGeom>
        </p:spPr>
      </p:pic>
      <p:sp>
        <p:nvSpPr>
          <p:cNvPr id="41" name="Text 30"/>
          <p:cNvSpPr txBox="1"/>
          <p:nvPr/>
        </p:nvSpPr>
        <p:spPr>
          <a:xfrm>
            <a:off x="8266176" y="4389120"/>
            <a:ext cx="411480" cy="411480"/>
          </a:xfrm>
          <a:prstGeom prst="rect">
            <a:avLst/>
          </a:prstGeom>
          <a:noFill/>
          <a:ln/>
        </p:spPr>
        <p:txBody>
          <a:bodyPr wrap="square" lIns="0" tIns="0" rIns="0" bIns="0" rtlCol="0" anchor="t"/>
          <a:lstStyle/>
          <a:p>
            <a:pPr algn="r" indent="0" marL="0">
              <a:buNone/>
            </a:pPr>
            <a:r>
              <a:rPr lang="en-US" sz="2000" b="1" dirty="0">
                <a:solidFill>
                  <a:schemeClr val="accent4"/>
                </a:solidFill>
              </a:rPr>
              <a:t>7</a:t>
            </a:r>
            <a:endParaRPr lang="en-US" sz="2000" dirty="0"/>
          </a:p>
        </p:txBody>
      </p:sp>
      <p:sp>
        <p:nvSpPr>
          <p:cNvPr id="42" name="Text 31"/>
          <p:cNvSpPr txBox="1"/>
          <p:nvPr/>
        </p:nvSpPr>
        <p:spPr>
          <a:xfrm>
            <a:off x="6327648" y="5166360"/>
            <a:ext cx="2377440" cy="822960"/>
          </a:xfrm>
          <a:prstGeom prst="rect">
            <a:avLst/>
          </a:prstGeom>
          <a:noFill/>
          <a:ln/>
        </p:spPr>
        <p:txBody>
          <a:bodyPr wrap="square" lIns="0" tIns="0" rIns="0" bIns="0" rtlCol="0" anchor="t"/>
          <a:lstStyle/>
          <a:p>
            <a:pPr indent="0" marL="0">
              <a:buNone/>
            </a:pPr>
            <a:r>
              <a:rPr lang="en-US" sz="1600" b="1" dirty="0">
                <a:solidFill>
                  <a:schemeClr val="tx1"/>
                </a:solidFill>
              </a:rPr>
              <a:t>Protein complexes</a:t>
            </a:r>
            <a:endParaRPr lang="en-US" sz="1500" dirty="0"/>
          </a:p>
          <a:p>
            <a:pPr indent="0" marL="0">
              <a:buNone/>
            </a:pPr>
            <a:r>
              <a:rPr lang="en-US" sz="1400" dirty="0">
                <a:solidFill>
                  <a:schemeClr val="tx1"/>
                </a:solidFill>
              </a:rPr>
              <a:t>co-fractionation map (Marcotte lab)</a:t>
            </a:r>
            <a:endParaRPr lang="en-US" sz="1500" dirty="0"/>
          </a:p>
        </p:txBody>
      </p:sp>
      <p:sp>
        <p:nvSpPr>
          <p:cNvPr id="43" name="review-card"/>
          <p:cNvSpPr/>
          <p:nvPr/>
        </p:nvSpPr>
        <p:spPr>
          <a:xfrm>
            <a:off x="8970264" y="4251960"/>
            <a:ext cx="2651760" cy="1783080"/>
          </a:xfrm>
          <a:prstGeom prst="roundRect">
            <a:avLst>
              <a:gd name="adj" fmla="val 6154"/>
            </a:avLst>
          </a:prstGeom>
          <a:solidFill>
            <a:schemeClr val="accent1"/>
          </a:solidFill>
          <a:ln w="12700">
            <a:solidFill>
              <a:schemeClr val="accent1"/>
            </a:solidFill>
            <a:prstDash val="solid"/>
          </a:ln>
        </p:spPr>
      </p:sp>
      <p:sp>
        <p:nvSpPr>
          <p:cNvPr id="44" name="icon-circle-FaUserTie"/>
          <p:cNvSpPr/>
          <p:nvPr/>
        </p:nvSpPr>
        <p:spPr>
          <a:xfrm>
            <a:off x="9134856" y="4434840"/>
            <a:ext cx="640080" cy="640080"/>
          </a:xfrm>
          <a:prstGeom prst="ellipse">
            <a:avLst/>
          </a:prstGeom>
          <a:solidFill>
            <a:schemeClr val="tx2"/>
          </a:solidFill>
          <a:ln w="12700">
            <a:solidFill>
              <a:schemeClr val="tx2"/>
            </a:solidFill>
            <a:prstDash val="solid"/>
          </a:ln>
        </p:spPr>
      </p:sp>
      <p:pic>
        <p:nvPicPr>
          <p:cNvPr id="45" name="icon-FaUserTie" descr="FaUserTie">    </p:cNvPr>
          <p:cNvPicPr>
            <a:picLocks noChangeAspect="1"/>
          </p:cNvPicPr>
          <p:nvPr/>
        </p:nvPicPr>
        <p:blipFill>
          <a:blip r:embed="rId9"/>
          <a:stretch>
            <a:fillRect/>
          </a:stretch>
        </p:blipFill>
        <p:spPr>
          <a:xfrm>
            <a:off x="9288475" y="4588459"/>
            <a:ext cx="332842" cy="332842"/>
          </a:xfrm>
          <a:prstGeom prst="rect">
            <a:avLst/>
          </a:prstGeom>
        </p:spPr>
      </p:pic>
      <p:sp>
        <p:nvSpPr>
          <p:cNvPr id="46" name="Text 34"/>
          <p:cNvSpPr txBox="1"/>
          <p:nvPr/>
        </p:nvSpPr>
        <p:spPr>
          <a:xfrm>
            <a:off x="9134856" y="5166360"/>
            <a:ext cx="2377440" cy="822960"/>
          </a:xfrm>
          <a:prstGeom prst="rect">
            <a:avLst/>
          </a:prstGeom>
          <a:noFill/>
          <a:ln/>
        </p:spPr>
        <p:txBody>
          <a:bodyPr wrap="square" lIns="0" tIns="0" rIns="0" bIns="0" rtlCol="0" anchor="t"/>
          <a:lstStyle/>
          <a:p>
            <a:pPr indent="0" marL="0">
              <a:buNone/>
            </a:pPr>
            <a:r>
              <a:rPr lang="en-US" sz="1600" b="1" dirty="0">
                <a:solidFill>
                  <a:schemeClr val="bg1"/>
                </a:solidFill>
              </a:rPr>
              <a:t>Head review</a:t>
            </a:r>
            <a:endParaRPr lang="en-US" sz="1500" dirty="0"/>
          </a:p>
          <a:p>
            <a:pPr indent="0" marL="0">
              <a:buNone/>
            </a:pPr>
            <a:r>
              <a:rPr lang="en-US" sz="1400" dirty="0">
                <a:solidFill>
                  <a:schemeClr val="bg1"/>
                </a:solidFill>
              </a:rPr>
              <a:t>Fable agent reads all of it, published</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An external review set the round-2 agenda</a:t>
            </a:r>
            <a:endParaRPr lang="en-US" sz="3200" dirty="0"/>
          </a:p>
        </p:txBody>
      </p:sp>
      <p:sp>
        <p:nvSpPr>
          <p:cNvPr id="4" name="review-col"/>
          <p:cNvSpPr/>
          <p:nvPr/>
        </p:nvSpPr>
        <p:spPr>
          <a:xfrm>
            <a:off x="548640" y="1325880"/>
            <a:ext cx="3566160" cy="4297680"/>
          </a:xfrm>
          <a:prstGeom prst="roundRect">
            <a:avLst>
              <a:gd name="adj" fmla="val 3077"/>
            </a:avLst>
          </a:prstGeom>
          <a:solidFill>
            <a:schemeClr val="bg2"/>
          </a:solidFill>
          <a:ln w="12700">
            <a:solidFill>
              <a:schemeClr val="bg2"/>
            </a:solidFill>
            <a:prstDash val="solid"/>
          </a:ln>
        </p:spPr>
      </p:sp>
      <p:sp>
        <p:nvSpPr>
          <p:cNvPr id="5" name="icon-circle-FaExclamationTriangle"/>
          <p:cNvSpPr/>
          <p:nvPr/>
        </p:nvSpPr>
        <p:spPr>
          <a:xfrm>
            <a:off x="777240" y="1508760"/>
            <a:ext cx="685800" cy="685800"/>
          </a:xfrm>
          <a:prstGeom prst="ellipse">
            <a:avLst/>
          </a:prstGeom>
          <a:solidFill>
            <a:schemeClr val="accent4"/>
          </a:solidFill>
          <a:ln w="12700">
            <a:solidFill>
              <a:schemeClr val="accent4"/>
            </a:solidFill>
            <a:prstDash val="solid"/>
          </a:ln>
        </p:spPr>
      </p:sp>
      <p:pic>
        <p:nvPicPr>
          <p:cNvPr id="6" name="icon-FaExclamationTriangle" descr="FaExclamationTriangle">    </p:cNvPr>
          <p:cNvPicPr>
            <a:picLocks noChangeAspect="1"/>
          </p:cNvPicPr>
          <p:nvPr/>
        </p:nvPicPr>
        <p:blipFill>
          <a:blip r:embed="rId1"/>
          <a:stretch>
            <a:fillRect/>
          </a:stretch>
        </p:blipFill>
        <p:spPr>
          <a:xfrm>
            <a:off x="941832" y="1673352"/>
            <a:ext cx="356616" cy="356616"/>
          </a:xfrm>
          <a:prstGeom prst="rect">
            <a:avLst/>
          </a:prstGeom>
        </p:spPr>
      </p:pic>
      <p:sp>
        <p:nvSpPr>
          <p:cNvPr id="7" name="Text 3"/>
          <p:cNvSpPr txBox="1"/>
          <p:nvPr/>
        </p:nvSpPr>
        <p:spPr>
          <a:xfrm>
            <a:off x="1600200" y="1508760"/>
            <a:ext cx="2377440" cy="685800"/>
          </a:xfrm>
          <a:prstGeom prst="rect">
            <a:avLst/>
          </a:prstGeom>
          <a:noFill/>
          <a:ln/>
        </p:spPr>
        <p:txBody>
          <a:bodyPr wrap="square" lIns="0" tIns="0" rIns="0" bIns="0" rtlCol="0" anchor="ctr"/>
          <a:lstStyle/>
          <a:p>
            <a:pPr indent="0" marL="0">
              <a:buNone/>
            </a:pPr>
            <a:r>
              <a:rPr lang="en-US" sz="1900" b="1" dirty="0">
                <a:solidFill>
                  <a:schemeClr val="tx2"/>
                </a:solidFill>
              </a:rPr>
              <a:t>What was wrong</a:t>
            </a:r>
            <a:endParaRPr lang="en-US" sz="1900" dirty="0"/>
          </a:p>
        </p:txBody>
      </p:sp>
      <p:sp>
        <p:nvSpPr>
          <p:cNvPr id="8" name="Text 4"/>
          <p:cNvSpPr txBox="1"/>
          <p:nvPr/>
        </p:nvSpPr>
        <p:spPr>
          <a:xfrm>
            <a:off x="777240" y="242316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7 heterogeneous origins averaged: 13–35% power</a:t>
            </a:r>
            <a:endParaRPr lang="en-US" sz="1600" dirty="0"/>
          </a:p>
          <a:p>
            <a:pPr marL="342900" indent="-342900">
              <a:spcAft>
                <a:spcPts val="1000"/>
              </a:spcAft>
              <a:buSzPct val="100000"/>
              <a:buChar char="•"/>
            </a:pPr>
            <a:r>
              <a:rPr lang="en-US" sz="1600" dirty="0">
                <a:solidFill>
                  <a:schemeClr val="tx1"/>
                </a:solidFill>
              </a:rPr>
              <a:t>Validation overstated: deep-node controls 0 of 3</a:t>
            </a:r>
            <a:endParaRPr lang="en-US" sz="1600" dirty="0"/>
          </a:p>
          <a:p>
            <a:pPr marL="342900" indent="-342900">
              <a:spcAft>
                <a:spcPts val="1000"/>
              </a:spcAft>
              <a:buSzPct val="100000"/>
              <a:buChar char="•"/>
            </a:pPr>
            <a:r>
              <a:rPr lang="en-US" sz="1600" dirty="0">
                <a:solidFill>
                  <a:schemeClr val="tx1"/>
                </a:solidFill>
              </a:rPr>
              <a:t>EukaryOMA wrongly 'not found'</a:t>
            </a:r>
            <a:endParaRPr lang="en-US" sz="1600" dirty="0"/>
          </a:p>
        </p:txBody>
      </p:sp>
      <p:sp>
        <p:nvSpPr>
          <p:cNvPr id="9" name="review-col"/>
          <p:cNvSpPr/>
          <p:nvPr/>
        </p:nvSpPr>
        <p:spPr>
          <a:xfrm>
            <a:off x="4297680" y="1325880"/>
            <a:ext cx="3566160" cy="4297680"/>
          </a:xfrm>
          <a:prstGeom prst="roundRect">
            <a:avLst>
              <a:gd name="adj" fmla="val 3077"/>
            </a:avLst>
          </a:prstGeom>
          <a:solidFill>
            <a:schemeClr val="bg2"/>
          </a:solidFill>
          <a:ln w="12700">
            <a:solidFill>
              <a:schemeClr val="bg2"/>
            </a:solidFill>
            <a:prstDash val="solid"/>
          </a:ln>
        </p:spPr>
      </p:sp>
      <p:sp>
        <p:nvSpPr>
          <p:cNvPr id="10" name="icon-circle-FaThumbsUp"/>
          <p:cNvSpPr/>
          <p:nvPr/>
        </p:nvSpPr>
        <p:spPr>
          <a:xfrm>
            <a:off x="4526280" y="1508760"/>
            <a:ext cx="685800" cy="685800"/>
          </a:xfrm>
          <a:prstGeom prst="ellipse">
            <a:avLst/>
          </a:prstGeom>
          <a:solidFill>
            <a:schemeClr val="accent2"/>
          </a:solidFill>
          <a:ln w="12700">
            <a:solidFill>
              <a:schemeClr val="accent2"/>
            </a:solidFill>
            <a:prstDash val="solid"/>
          </a:ln>
        </p:spPr>
      </p:sp>
      <p:pic>
        <p:nvPicPr>
          <p:cNvPr id="11" name="icon-FaThumbsUp" descr="FaThumbsUp">    </p:cNvPr>
          <p:cNvPicPr>
            <a:picLocks noChangeAspect="1"/>
          </p:cNvPicPr>
          <p:nvPr/>
        </p:nvPicPr>
        <p:blipFill>
          <a:blip r:embed="rId2"/>
          <a:stretch>
            <a:fillRect/>
          </a:stretch>
        </p:blipFill>
        <p:spPr>
          <a:xfrm>
            <a:off x="4690872" y="1673352"/>
            <a:ext cx="356616" cy="356616"/>
          </a:xfrm>
          <a:prstGeom prst="rect">
            <a:avLst/>
          </a:prstGeom>
        </p:spPr>
      </p:pic>
      <p:sp>
        <p:nvSpPr>
          <p:cNvPr id="12" name="Text 7"/>
          <p:cNvSpPr txBox="1"/>
          <p:nvPr/>
        </p:nvSpPr>
        <p:spPr>
          <a:xfrm>
            <a:off x="5349240" y="1508760"/>
            <a:ext cx="2377440" cy="685800"/>
          </a:xfrm>
          <a:prstGeom prst="rect">
            <a:avLst/>
          </a:prstGeom>
          <a:noFill/>
          <a:ln/>
        </p:spPr>
        <p:txBody>
          <a:bodyPr wrap="square" lIns="0" tIns="0" rIns="0" bIns="0" rtlCol="0" anchor="ctr"/>
          <a:lstStyle/>
          <a:p>
            <a:pPr indent="0" marL="0">
              <a:buNone/>
            </a:pPr>
            <a:r>
              <a:rPr lang="en-US" sz="1900" b="1" dirty="0">
                <a:solidFill>
                  <a:schemeClr val="tx2"/>
                </a:solidFill>
              </a:rPr>
              <a:t>What was good</a:t>
            </a:r>
            <a:endParaRPr lang="en-US" sz="1900" dirty="0"/>
          </a:p>
        </p:txBody>
      </p:sp>
      <p:sp>
        <p:nvSpPr>
          <p:cNvPr id="13" name="Text 8"/>
          <p:cNvSpPr txBox="1"/>
          <p:nvPr/>
        </p:nvSpPr>
        <p:spPr>
          <a:xfrm>
            <a:off x="4526280" y="242316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Hashed pre-registration, calibrated null</a:t>
            </a:r>
            <a:endParaRPr lang="en-US" sz="1600" dirty="0"/>
          </a:p>
          <a:p>
            <a:pPr marL="342900" indent="-342900">
              <a:spcAft>
                <a:spcPts val="1000"/>
              </a:spcAft>
              <a:buSzPct val="100000"/>
              <a:buChar char="•"/>
            </a:pPr>
            <a:r>
              <a:rPr lang="en-US" sz="1600" dirty="0">
                <a:solidFill>
                  <a:schemeClr val="tx1"/>
                </a:solidFill>
              </a:rPr>
              <a:t>Diagnosis of why controls failed</a:t>
            </a:r>
            <a:endParaRPr lang="en-US" sz="1600" dirty="0"/>
          </a:p>
          <a:p>
            <a:pPr marL="342900" indent="-342900">
              <a:spcAft>
                <a:spcPts val="1000"/>
              </a:spcAft>
              <a:buSzPct val="100000"/>
              <a:buChar char="•"/>
            </a:pPr>
            <a:r>
              <a:rPr lang="en-US" sz="1600" dirty="0">
                <a:solidFill>
                  <a:schemeClr val="tx1"/>
                </a:solidFill>
              </a:rPr>
              <a:t>Lead: novelty at simple → complex</a:t>
            </a:r>
            <a:endParaRPr lang="en-US" sz="1600" dirty="0"/>
          </a:p>
        </p:txBody>
      </p:sp>
      <p:sp>
        <p:nvSpPr>
          <p:cNvPr id="14" name="review-col"/>
          <p:cNvSpPr/>
          <p:nvPr/>
        </p:nvSpPr>
        <p:spPr>
          <a:xfrm>
            <a:off x="8046720" y="1325880"/>
            <a:ext cx="3566160" cy="4297680"/>
          </a:xfrm>
          <a:prstGeom prst="roundRect">
            <a:avLst>
              <a:gd name="adj" fmla="val 3077"/>
            </a:avLst>
          </a:prstGeom>
          <a:solidFill>
            <a:schemeClr val="bg2"/>
          </a:solidFill>
          <a:ln w="12700">
            <a:solidFill>
              <a:schemeClr val="bg2"/>
            </a:solidFill>
            <a:prstDash val="solid"/>
          </a:ln>
        </p:spPr>
      </p:sp>
      <p:sp>
        <p:nvSpPr>
          <p:cNvPr id="15" name="icon-circle-FaCompass"/>
          <p:cNvSpPr/>
          <p:nvPr/>
        </p:nvSpPr>
        <p:spPr>
          <a:xfrm>
            <a:off x="8275320" y="1508760"/>
            <a:ext cx="685800" cy="685800"/>
          </a:xfrm>
          <a:prstGeom prst="ellipse">
            <a:avLst/>
          </a:prstGeom>
          <a:solidFill>
            <a:schemeClr val="accent3"/>
          </a:solidFill>
          <a:ln w="12700">
            <a:solidFill>
              <a:schemeClr val="accent3"/>
            </a:solidFill>
            <a:prstDash val="solid"/>
          </a:ln>
        </p:spPr>
      </p:sp>
      <p:pic>
        <p:nvPicPr>
          <p:cNvPr id="16" name="icon-FaCompass" descr="FaCompass">    </p:cNvPr>
          <p:cNvPicPr>
            <a:picLocks noChangeAspect="1"/>
          </p:cNvPicPr>
          <p:nvPr/>
        </p:nvPicPr>
        <p:blipFill>
          <a:blip r:embed="rId3"/>
          <a:stretch>
            <a:fillRect/>
          </a:stretch>
        </p:blipFill>
        <p:spPr>
          <a:xfrm>
            <a:off x="8439912" y="1673352"/>
            <a:ext cx="356616" cy="356616"/>
          </a:xfrm>
          <a:prstGeom prst="rect">
            <a:avLst/>
          </a:prstGeom>
        </p:spPr>
      </p:pic>
      <p:sp>
        <p:nvSpPr>
          <p:cNvPr id="17" name="Text 11"/>
          <p:cNvSpPr txBox="1"/>
          <p:nvPr/>
        </p:nvSpPr>
        <p:spPr>
          <a:xfrm>
            <a:off x="9098280" y="1508760"/>
            <a:ext cx="2377440" cy="685800"/>
          </a:xfrm>
          <a:prstGeom prst="rect">
            <a:avLst/>
          </a:prstGeom>
          <a:noFill/>
          <a:ln/>
        </p:spPr>
        <p:txBody>
          <a:bodyPr wrap="square" lIns="0" tIns="0" rIns="0" bIns="0" rtlCol="0" anchor="ctr"/>
          <a:lstStyle/>
          <a:p>
            <a:pPr indent="0" marL="0">
              <a:buNone/>
            </a:pPr>
            <a:r>
              <a:rPr lang="en-US" sz="1900" b="1" dirty="0">
                <a:solidFill>
                  <a:schemeClr val="tx2"/>
                </a:solidFill>
              </a:rPr>
              <a:t>What to do next</a:t>
            </a:r>
            <a:endParaRPr lang="en-US" sz="1900" dirty="0"/>
          </a:p>
        </p:txBody>
      </p:sp>
      <p:sp>
        <p:nvSpPr>
          <p:cNvPr id="18" name="Text 12"/>
          <p:cNvSpPr txBox="1"/>
          <p:nvPr/>
        </p:nvSpPr>
        <p:spPr>
          <a:xfrm>
            <a:off x="8275320" y="242316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Cross-check with EukaryOMA</a:t>
            </a:r>
            <a:endParaRPr lang="en-US" sz="1600" dirty="0"/>
          </a:p>
          <a:p>
            <a:pPr marL="342900" indent="-342900">
              <a:spcAft>
                <a:spcPts val="1000"/>
              </a:spcAft>
              <a:buSzPct val="100000"/>
              <a:buChar char="•"/>
            </a:pPr>
            <a:r>
              <a:rPr lang="en-US" sz="1600" dirty="0">
                <a:solidFill>
                  <a:schemeClr val="tx1"/>
                </a:solidFill>
              </a:rPr>
              <a:t>Dense per-event Ancestra runs</a:t>
            </a:r>
            <a:endParaRPr lang="en-US" sz="1600" dirty="0"/>
          </a:p>
          <a:p>
            <a:pPr marL="342900" indent="-342900">
              <a:spcAft>
                <a:spcPts val="1000"/>
              </a:spcAft>
              <a:buSzPct val="100000"/>
              <a:buChar char="•"/>
            </a:pPr>
            <a:r>
              <a:rPr lang="en-US" sz="1600" dirty="0">
                <a:solidFill>
                  <a:schemeClr val="tx1"/>
                </a:solidFill>
              </a:rPr>
              <a:t>Simple → complex, specific families</a:t>
            </a:r>
            <a:endParaRPr lang="en-US" sz="1600" dirty="0"/>
          </a:p>
        </p:txBody>
      </p:sp>
      <p:sp>
        <p:nvSpPr>
          <p:cNvPr id="19" name="Text 13"/>
          <p:cNvSpPr txBox="1"/>
          <p:nvPr/>
        </p:nvSpPr>
        <p:spPr>
          <a:xfrm>
            <a:off x="548640" y="580644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Fable agent as department head · reviews/round2_department_head_review.txt · public page linked at the end</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C</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Overview</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Two rounds, one AI team, about 31 hours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Two rounds in about 31 hours</a:t>
            </a:r>
            <a:endParaRPr lang="en-US" sz="3200" dirty="0"/>
          </a:p>
        </p:txBody>
      </p:sp>
      <p:pic>
        <p:nvPicPr>
          <p:cNvPr id="4" name="gantt.png" descr="Gantt chart of both rounds">    </p:cNvPr>
          <p:cNvPicPr>
            <a:picLocks noChangeAspect="1"/>
          </p:cNvPicPr>
          <p:nvPr/>
        </p:nvPicPr>
        <p:blipFill>
          <a:blip r:embed="rId1"/>
          <a:stretch>
            <a:fillRect/>
          </a:stretch>
        </p:blipFill>
        <p:spPr>
          <a:xfrm>
            <a:off x="548640" y="1463868"/>
            <a:ext cx="11109960" cy="3930264"/>
          </a:xfrm>
          <a:prstGeom prst="rect">
            <a:avLst/>
          </a:prstGeom>
        </p:spPr>
      </p:pic>
      <p:sp>
        <p:nvSpPr>
          <p:cNvPr id="5" name="Text 1"/>
          <p:cNvSpPr txBox="1"/>
          <p:nvPr/>
        </p:nvSpPr>
        <p:spPr>
          <a:xfrm>
            <a:off x="548640" y="580644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Milestones from RESEARCH_TREE.md. Wall-clock time; the agent team worked in parallel inside each round.</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One PI agent, many specialised agents</a:t>
            </a:r>
            <a:endParaRPr lang="en-US" sz="3200" dirty="0"/>
          </a:p>
        </p:txBody>
      </p:sp>
      <p:sp>
        <p:nvSpPr>
          <p:cNvPr id="4" name="human"/>
          <p:cNvSpPr/>
          <p:nvPr/>
        </p:nvSpPr>
        <p:spPr>
          <a:xfrm>
            <a:off x="4480560" y="1234440"/>
            <a:ext cx="3200400" cy="777240"/>
          </a:xfrm>
          <a:prstGeom prst="roundRect">
            <a:avLst>
              <a:gd name="adj" fmla="val 14118"/>
            </a:avLst>
          </a:prstGeom>
          <a:solidFill>
            <a:schemeClr val="bg2"/>
          </a:solidFill>
          <a:ln w="12700">
            <a:solidFill>
              <a:schemeClr val="bg2"/>
            </a:solidFill>
            <a:prstDash val="solid"/>
          </a:ln>
        </p:spPr>
      </p:sp>
      <p:sp>
        <p:nvSpPr>
          <p:cNvPr id="5" name="icon-circle-FaUser"/>
          <p:cNvSpPr/>
          <p:nvPr/>
        </p:nvSpPr>
        <p:spPr>
          <a:xfrm>
            <a:off x="4617720" y="1307592"/>
            <a:ext cx="621792" cy="621792"/>
          </a:xfrm>
          <a:prstGeom prst="ellipse">
            <a:avLst/>
          </a:prstGeom>
          <a:solidFill>
            <a:schemeClr val="accent4"/>
          </a:solidFill>
          <a:ln w="12700">
            <a:solidFill>
              <a:schemeClr val="accent4"/>
            </a:solidFill>
            <a:prstDash val="solid"/>
          </a:ln>
        </p:spPr>
      </p:sp>
      <p:pic>
        <p:nvPicPr>
          <p:cNvPr id="6" name="icon-FaUser" descr="FaUser">    </p:cNvPr>
          <p:cNvPicPr>
            <a:picLocks noChangeAspect="1"/>
          </p:cNvPicPr>
          <p:nvPr/>
        </p:nvPicPr>
        <p:blipFill>
          <a:blip r:embed="rId1"/>
          <a:stretch>
            <a:fillRect/>
          </a:stretch>
        </p:blipFill>
        <p:spPr>
          <a:xfrm>
            <a:off x="4766950" y="1456822"/>
            <a:ext cx="323332" cy="323332"/>
          </a:xfrm>
          <a:prstGeom prst="rect">
            <a:avLst/>
          </a:prstGeom>
        </p:spPr>
      </p:pic>
      <p:sp>
        <p:nvSpPr>
          <p:cNvPr id="7" name="Text 3"/>
          <p:cNvSpPr txBox="1"/>
          <p:nvPr/>
        </p:nvSpPr>
        <p:spPr>
          <a:xfrm>
            <a:off x="5349240" y="1261872"/>
            <a:ext cx="2286000" cy="731520"/>
          </a:xfrm>
          <a:prstGeom prst="rect">
            <a:avLst/>
          </a:prstGeom>
          <a:noFill/>
          <a:ln/>
        </p:spPr>
        <p:txBody>
          <a:bodyPr wrap="square" lIns="0" tIns="0" rIns="0" bIns="0" rtlCol="0" anchor="ctr"/>
          <a:lstStyle/>
          <a:p>
            <a:pPr indent="0" marL="0">
              <a:buNone/>
            </a:pPr>
            <a:r>
              <a:rPr lang="en-US" sz="1600" b="1" dirty="0">
                <a:solidFill>
                  <a:schemeClr val="tx1"/>
                </a:solidFill>
              </a:rPr>
              <a:t>Human</a:t>
            </a:r>
            <a:endParaRPr lang="en-US" sz="1600" dirty="0"/>
          </a:p>
          <a:p>
            <a:pPr indent="0" marL="0">
              <a:buNone/>
            </a:pPr>
            <a:r>
              <a:rPr lang="en-US" sz="1300" dirty="0">
                <a:solidFill>
                  <a:schemeClr val="tx1"/>
                </a:solidFill>
              </a:rPr>
              <a:t>2 prompts, verifies later</a:t>
            </a:r>
            <a:endParaRPr lang="en-US" sz="1600" dirty="0"/>
          </a:p>
        </p:txBody>
      </p:sp>
      <p:sp>
        <p:nvSpPr>
          <p:cNvPr id="8" name="arrow"/>
          <p:cNvSpPr/>
          <p:nvPr/>
        </p:nvSpPr>
        <p:spPr>
          <a:xfrm>
            <a:off x="6080760" y="2029968"/>
            <a:ext cx="914" cy="347472"/>
          </a:xfrm>
          <a:prstGeom prst="line">
            <a:avLst/>
          </a:prstGeom>
          <a:noFill/>
          <a:ln w="25400">
            <a:solidFill>
              <a:schemeClr val="tx2"/>
            </a:solidFill>
            <a:prstDash val="solid"/>
            <a:tailEnd type="triangle"/>
          </a:ln>
        </p:spPr>
      </p:sp>
      <p:sp>
        <p:nvSpPr>
          <p:cNvPr id="9" name="pi"/>
          <p:cNvSpPr/>
          <p:nvPr/>
        </p:nvSpPr>
        <p:spPr>
          <a:xfrm>
            <a:off x="3931920" y="2423160"/>
            <a:ext cx="4297680" cy="1051560"/>
          </a:xfrm>
          <a:prstGeom prst="roundRect">
            <a:avLst>
              <a:gd name="adj" fmla="val 10435"/>
            </a:avLst>
          </a:prstGeom>
          <a:solidFill>
            <a:schemeClr val="tx2"/>
          </a:solidFill>
          <a:ln w="12700">
            <a:solidFill>
              <a:schemeClr val="tx2"/>
            </a:solidFill>
            <a:prstDash val="solid"/>
          </a:ln>
        </p:spPr>
      </p:sp>
      <p:sp>
        <p:nvSpPr>
          <p:cNvPr id="10" name="icon-circle-FaRobot"/>
          <p:cNvSpPr/>
          <p:nvPr/>
        </p:nvSpPr>
        <p:spPr>
          <a:xfrm>
            <a:off x="4114800" y="2587752"/>
            <a:ext cx="731520" cy="731520"/>
          </a:xfrm>
          <a:prstGeom prst="ellipse">
            <a:avLst/>
          </a:prstGeom>
          <a:solidFill>
            <a:schemeClr val="accent1"/>
          </a:solidFill>
          <a:ln w="12700">
            <a:solidFill>
              <a:schemeClr val="accent1"/>
            </a:solidFill>
            <a:prstDash val="solid"/>
          </a:ln>
        </p:spPr>
      </p:sp>
      <p:pic>
        <p:nvPicPr>
          <p:cNvPr id="11" name="icon-FaRobot" descr="FaRobot">    </p:cNvPr>
          <p:cNvPicPr>
            <a:picLocks noChangeAspect="1"/>
          </p:cNvPicPr>
          <p:nvPr/>
        </p:nvPicPr>
        <p:blipFill>
          <a:blip r:embed="rId2"/>
          <a:stretch>
            <a:fillRect/>
          </a:stretch>
        </p:blipFill>
        <p:spPr>
          <a:xfrm>
            <a:off x="4290365" y="2763317"/>
            <a:ext cx="380390" cy="380390"/>
          </a:xfrm>
          <a:prstGeom prst="rect">
            <a:avLst/>
          </a:prstGeom>
        </p:spPr>
      </p:pic>
      <p:sp>
        <p:nvSpPr>
          <p:cNvPr id="12" name="Text 7"/>
          <p:cNvSpPr txBox="1"/>
          <p:nvPr/>
        </p:nvSpPr>
        <p:spPr>
          <a:xfrm>
            <a:off x="4983480" y="2468880"/>
            <a:ext cx="3200400" cy="960120"/>
          </a:xfrm>
          <a:prstGeom prst="rect">
            <a:avLst/>
          </a:prstGeom>
          <a:noFill/>
          <a:ln/>
        </p:spPr>
        <p:txBody>
          <a:bodyPr wrap="square" lIns="0" tIns="0" rIns="0" bIns="0" rtlCol="0" anchor="ctr"/>
          <a:lstStyle/>
          <a:p>
            <a:pPr indent="0" marL="0">
              <a:buNone/>
            </a:pPr>
            <a:r>
              <a:rPr lang="en-US" sz="1700" b="1" dirty="0">
                <a:solidFill>
                  <a:schemeClr val="bg1"/>
                </a:solidFill>
              </a:rPr>
              <a:t>PI agent · Claude Opus 5.5</a:t>
            </a:r>
            <a:endParaRPr lang="en-US" sz="1700" dirty="0"/>
          </a:p>
          <a:p>
            <a:pPr indent="0" marL="0">
              <a:buNone/>
            </a:pPr>
            <a:r>
              <a:rPr lang="en-US" sz="1400" dirty="0">
                <a:solidFill>
                  <a:schemeClr val="bg1"/>
                </a:solidFill>
              </a:rPr>
              <a:t>plans, delegates, decides, keeps the record</a:t>
            </a:r>
            <a:endParaRPr lang="en-US" sz="1700" dirty="0"/>
          </a:p>
        </p:txBody>
      </p:sp>
      <p:sp>
        <p:nvSpPr>
          <p:cNvPr id="13" name="fable"/>
          <p:cNvSpPr/>
          <p:nvPr/>
        </p:nvSpPr>
        <p:spPr>
          <a:xfrm>
            <a:off x="8778240" y="2423160"/>
            <a:ext cx="2880360" cy="1051560"/>
          </a:xfrm>
          <a:prstGeom prst="roundRect">
            <a:avLst>
              <a:gd name="adj" fmla="val 10435"/>
            </a:avLst>
          </a:prstGeom>
          <a:solidFill>
            <a:schemeClr val="accent4"/>
          </a:solidFill>
          <a:ln w="12700">
            <a:solidFill>
              <a:schemeClr val="accent4"/>
            </a:solidFill>
            <a:prstDash val="solid"/>
          </a:ln>
        </p:spPr>
      </p:sp>
      <p:sp>
        <p:nvSpPr>
          <p:cNvPr id="14" name="icon-circle-FaUserTie"/>
          <p:cNvSpPr/>
          <p:nvPr/>
        </p:nvSpPr>
        <p:spPr>
          <a:xfrm>
            <a:off x="8915400" y="2606040"/>
            <a:ext cx="685800" cy="685800"/>
          </a:xfrm>
          <a:prstGeom prst="ellipse">
            <a:avLst/>
          </a:prstGeom>
          <a:solidFill>
            <a:schemeClr val="tx2"/>
          </a:solidFill>
          <a:ln w="12700">
            <a:solidFill>
              <a:schemeClr val="tx2"/>
            </a:solidFill>
            <a:prstDash val="solid"/>
          </a:ln>
        </p:spPr>
      </p:sp>
      <p:pic>
        <p:nvPicPr>
          <p:cNvPr id="15" name="icon-FaUserTie" descr="FaUserTie">    </p:cNvPr>
          <p:cNvPicPr>
            <a:picLocks noChangeAspect="1"/>
          </p:cNvPicPr>
          <p:nvPr/>
        </p:nvPicPr>
        <p:blipFill>
          <a:blip r:embed="rId3"/>
          <a:stretch>
            <a:fillRect/>
          </a:stretch>
        </p:blipFill>
        <p:spPr>
          <a:xfrm>
            <a:off x="9079992" y="2770632"/>
            <a:ext cx="356616" cy="356616"/>
          </a:xfrm>
          <a:prstGeom prst="rect">
            <a:avLst/>
          </a:prstGeom>
        </p:spPr>
      </p:pic>
      <p:sp>
        <p:nvSpPr>
          <p:cNvPr id="16" name="Text 10"/>
          <p:cNvSpPr txBox="1"/>
          <p:nvPr/>
        </p:nvSpPr>
        <p:spPr>
          <a:xfrm>
            <a:off x="9692640" y="2468880"/>
            <a:ext cx="1920240" cy="960120"/>
          </a:xfrm>
          <a:prstGeom prst="rect">
            <a:avLst/>
          </a:prstGeom>
          <a:noFill/>
          <a:ln/>
        </p:spPr>
        <p:txBody>
          <a:bodyPr wrap="square" lIns="0" tIns="0" rIns="0" bIns="0" rtlCol="0" anchor="ctr"/>
          <a:lstStyle/>
          <a:p>
            <a:pPr indent="0" marL="0">
              <a:buNone/>
            </a:pPr>
            <a:r>
              <a:rPr lang="en-US" sz="1500" b="1" dirty="0">
                <a:solidFill>
                  <a:schemeClr val="bg1"/>
                </a:solidFill>
              </a:rPr>
              <a:t>Department head</a:t>
            </a:r>
            <a:endParaRPr lang="en-US" sz="1500" dirty="0"/>
          </a:p>
          <a:p>
            <a:pPr indent="0" marL="0">
              <a:buNone/>
            </a:pPr>
            <a:r>
              <a:rPr lang="en-US" sz="1300" dirty="0">
                <a:solidFill>
                  <a:schemeClr val="bg1"/>
                </a:solidFill>
              </a:rPr>
              <a:t>Fable agent, external</a:t>
            </a:r>
            <a:endParaRPr lang="en-US" sz="1500" dirty="0"/>
          </a:p>
        </p:txBody>
      </p:sp>
      <p:sp>
        <p:nvSpPr>
          <p:cNvPr id="17" name="arrow"/>
          <p:cNvSpPr/>
          <p:nvPr/>
        </p:nvSpPr>
        <p:spPr>
          <a:xfrm flipH="1">
            <a:off x="8275320" y="2944368"/>
            <a:ext cx="484632" cy="914"/>
          </a:xfrm>
          <a:prstGeom prst="line">
            <a:avLst/>
          </a:prstGeom>
          <a:noFill/>
          <a:ln w="25400">
            <a:solidFill>
              <a:schemeClr val="accent4"/>
            </a:solidFill>
            <a:prstDash val="solid"/>
            <a:tailEnd type="triangle"/>
          </a:ln>
        </p:spPr>
      </p:sp>
      <p:sp>
        <p:nvSpPr>
          <p:cNvPr id="18" name="icon-circle-FaBookOpen"/>
          <p:cNvSpPr/>
          <p:nvPr/>
        </p:nvSpPr>
        <p:spPr>
          <a:xfrm>
            <a:off x="932688" y="4343400"/>
            <a:ext cx="685800" cy="685800"/>
          </a:xfrm>
          <a:prstGeom prst="ellipse">
            <a:avLst/>
          </a:prstGeom>
          <a:solidFill>
            <a:schemeClr val="accent1"/>
          </a:solidFill>
          <a:ln w="12700">
            <a:solidFill>
              <a:schemeClr val="accent1"/>
            </a:solidFill>
            <a:prstDash val="solid"/>
          </a:ln>
        </p:spPr>
      </p:sp>
      <p:pic>
        <p:nvPicPr>
          <p:cNvPr id="19" name="icon-FaBookOpen" descr="FaBookOpen">    </p:cNvPr>
          <p:cNvPicPr>
            <a:picLocks noChangeAspect="1"/>
          </p:cNvPicPr>
          <p:nvPr/>
        </p:nvPicPr>
        <p:blipFill>
          <a:blip r:embed="rId4"/>
          <a:stretch>
            <a:fillRect/>
          </a:stretch>
        </p:blipFill>
        <p:spPr>
          <a:xfrm>
            <a:off x="1097280" y="4507992"/>
            <a:ext cx="356616" cy="356616"/>
          </a:xfrm>
          <a:prstGeom prst="rect">
            <a:avLst/>
          </a:prstGeom>
        </p:spPr>
      </p:pic>
      <p:sp>
        <p:nvSpPr>
          <p:cNvPr id="20" name="Text 13"/>
          <p:cNvSpPr txBox="1"/>
          <p:nvPr/>
        </p:nvSpPr>
        <p:spPr>
          <a:xfrm>
            <a:off x="548640" y="512064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Literature</a:t>
            </a:r>
            <a:endParaRPr lang="en-US" sz="1400" dirty="0"/>
          </a:p>
        </p:txBody>
      </p:sp>
      <p:sp>
        <p:nvSpPr>
          <p:cNvPr id="21" name="arrow"/>
          <p:cNvSpPr/>
          <p:nvPr/>
        </p:nvSpPr>
        <p:spPr>
          <a:xfrm flipH="1">
            <a:off x="1280160" y="3520440"/>
            <a:ext cx="4800600" cy="777240"/>
          </a:xfrm>
          <a:prstGeom prst="line">
            <a:avLst/>
          </a:prstGeom>
          <a:noFill/>
          <a:ln w="15875">
            <a:solidFill>
              <a:schemeClr val="accent6"/>
            </a:solidFill>
            <a:prstDash val="solid"/>
            <a:tailEnd type="triangle"/>
          </a:ln>
        </p:spPr>
      </p:sp>
      <p:sp>
        <p:nvSpPr>
          <p:cNvPr id="22" name="icon-circle-FaDatabase"/>
          <p:cNvSpPr/>
          <p:nvPr/>
        </p:nvSpPr>
        <p:spPr>
          <a:xfrm>
            <a:off x="2532888" y="4343400"/>
            <a:ext cx="685800" cy="685800"/>
          </a:xfrm>
          <a:prstGeom prst="ellipse">
            <a:avLst/>
          </a:prstGeom>
          <a:solidFill>
            <a:schemeClr val="accent1"/>
          </a:solidFill>
          <a:ln w="12700">
            <a:solidFill>
              <a:schemeClr val="accent1"/>
            </a:solidFill>
            <a:prstDash val="solid"/>
          </a:ln>
        </p:spPr>
      </p:sp>
      <p:pic>
        <p:nvPicPr>
          <p:cNvPr id="23" name="icon-FaDatabase" descr="FaDatabase">    </p:cNvPr>
          <p:cNvPicPr>
            <a:picLocks noChangeAspect="1"/>
          </p:cNvPicPr>
          <p:nvPr/>
        </p:nvPicPr>
        <p:blipFill>
          <a:blip r:embed="rId5"/>
          <a:stretch>
            <a:fillRect/>
          </a:stretch>
        </p:blipFill>
        <p:spPr>
          <a:xfrm>
            <a:off x="2697480" y="4507992"/>
            <a:ext cx="356616" cy="356616"/>
          </a:xfrm>
          <a:prstGeom prst="rect">
            <a:avLst/>
          </a:prstGeom>
        </p:spPr>
      </p:pic>
      <p:sp>
        <p:nvSpPr>
          <p:cNvPr id="24" name="Text 16"/>
          <p:cNvSpPr txBox="1"/>
          <p:nvPr/>
        </p:nvSpPr>
        <p:spPr>
          <a:xfrm>
            <a:off x="2148840" y="512064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Data</a:t>
            </a:r>
            <a:endParaRPr lang="en-US" sz="1400" dirty="0"/>
          </a:p>
        </p:txBody>
      </p:sp>
      <p:sp>
        <p:nvSpPr>
          <p:cNvPr id="25" name="arrow"/>
          <p:cNvSpPr/>
          <p:nvPr/>
        </p:nvSpPr>
        <p:spPr>
          <a:xfrm flipH="1">
            <a:off x="2880360" y="3520440"/>
            <a:ext cx="3200400" cy="777240"/>
          </a:xfrm>
          <a:prstGeom prst="line">
            <a:avLst/>
          </a:prstGeom>
          <a:noFill/>
          <a:ln w="15875">
            <a:solidFill>
              <a:schemeClr val="accent6"/>
            </a:solidFill>
            <a:prstDash val="solid"/>
            <a:tailEnd type="triangle"/>
          </a:ln>
        </p:spPr>
      </p:sp>
      <p:sp>
        <p:nvSpPr>
          <p:cNvPr id="26" name="icon-circle-FaChartBar"/>
          <p:cNvSpPr/>
          <p:nvPr/>
        </p:nvSpPr>
        <p:spPr>
          <a:xfrm>
            <a:off x="4133088" y="4343400"/>
            <a:ext cx="685800" cy="685800"/>
          </a:xfrm>
          <a:prstGeom prst="ellipse">
            <a:avLst/>
          </a:prstGeom>
          <a:solidFill>
            <a:schemeClr val="accent1"/>
          </a:solidFill>
          <a:ln w="12700">
            <a:solidFill>
              <a:schemeClr val="accent1"/>
            </a:solidFill>
            <a:prstDash val="solid"/>
          </a:ln>
        </p:spPr>
      </p:sp>
      <p:pic>
        <p:nvPicPr>
          <p:cNvPr id="27" name="icon-FaChartBar" descr="FaChartBar">    </p:cNvPr>
          <p:cNvPicPr>
            <a:picLocks noChangeAspect="1"/>
          </p:cNvPicPr>
          <p:nvPr/>
        </p:nvPicPr>
        <p:blipFill>
          <a:blip r:embed="rId6"/>
          <a:stretch>
            <a:fillRect/>
          </a:stretch>
        </p:blipFill>
        <p:spPr>
          <a:xfrm>
            <a:off x="4297680" y="4507992"/>
            <a:ext cx="356616" cy="356616"/>
          </a:xfrm>
          <a:prstGeom prst="rect">
            <a:avLst/>
          </a:prstGeom>
        </p:spPr>
      </p:pic>
      <p:sp>
        <p:nvSpPr>
          <p:cNvPr id="28" name="Text 19"/>
          <p:cNvSpPr txBox="1"/>
          <p:nvPr/>
        </p:nvSpPr>
        <p:spPr>
          <a:xfrm>
            <a:off x="3749040" y="512064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Analysis</a:t>
            </a:r>
            <a:endParaRPr lang="en-US" sz="1400" dirty="0"/>
          </a:p>
        </p:txBody>
      </p:sp>
      <p:sp>
        <p:nvSpPr>
          <p:cNvPr id="29" name="arrow"/>
          <p:cNvSpPr/>
          <p:nvPr/>
        </p:nvSpPr>
        <p:spPr>
          <a:xfrm flipH="1">
            <a:off x="4480560" y="3520440"/>
            <a:ext cx="1600200" cy="777240"/>
          </a:xfrm>
          <a:prstGeom prst="line">
            <a:avLst/>
          </a:prstGeom>
          <a:noFill/>
          <a:ln w="15875">
            <a:solidFill>
              <a:schemeClr val="accent6"/>
            </a:solidFill>
            <a:prstDash val="solid"/>
            <a:tailEnd type="triangle"/>
          </a:ln>
        </p:spPr>
      </p:sp>
      <p:sp>
        <p:nvSpPr>
          <p:cNvPr id="30" name="icon-circle-FaBalanceScale"/>
          <p:cNvSpPr/>
          <p:nvPr/>
        </p:nvSpPr>
        <p:spPr>
          <a:xfrm>
            <a:off x="5733288" y="4343400"/>
            <a:ext cx="685800" cy="685800"/>
          </a:xfrm>
          <a:prstGeom prst="ellipse">
            <a:avLst/>
          </a:prstGeom>
          <a:solidFill>
            <a:schemeClr val="accent1"/>
          </a:solidFill>
          <a:ln w="12700">
            <a:solidFill>
              <a:schemeClr val="accent1"/>
            </a:solidFill>
            <a:prstDash val="solid"/>
          </a:ln>
        </p:spPr>
      </p:sp>
      <p:pic>
        <p:nvPicPr>
          <p:cNvPr id="31" name="icon-FaBalanceScale" descr="FaBalanceScale">    </p:cNvPr>
          <p:cNvPicPr>
            <a:picLocks noChangeAspect="1"/>
          </p:cNvPicPr>
          <p:nvPr/>
        </p:nvPicPr>
        <p:blipFill>
          <a:blip r:embed="rId7"/>
          <a:stretch>
            <a:fillRect/>
          </a:stretch>
        </p:blipFill>
        <p:spPr>
          <a:xfrm>
            <a:off x="5897880" y="4507992"/>
            <a:ext cx="356616" cy="356616"/>
          </a:xfrm>
          <a:prstGeom prst="rect">
            <a:avLst/>
          </a:prstGeom>
        </p:spPr>
      </p:pic>
      <p:sp>
        <p:nvSpPr>
          <p:cNvPr id="32" name="Text 22"/>
          <p:cNvSpPr txBox="1"/>
          <p:nvPr/>
        </p:nvSpPr>
        <p:spPr>
          <a:xfrm>
            <a:off x="5349240" y="512064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Design reviewers</a:t>
            </a:r>
            <a:endParaRPr lang="en-US" sz="1400" dirty="0"/>
          </a:p>
        </p:txBody>
      </p:sp>
      <p:sp>
        <p:nvSpPr>
          <p:cNvPr id="33" name="arrow"/>
          <p:cNvSpPr/>
          <p:nvPr/>
        </p:nvSpPr>
        <p:spPr>
          <a:xfrm flipH="1">
            <a:off x="6080760" y="3520440"/>
            <a:ext cx="914" cy="777240"/>
          </a:xfrm>
          <a:prstGeom prst="line">
            <a:avLst/>
          </a:prstGeom>
          <a:noFill/>
          <a:ln w="15875">
            <a:solidFill>
              <a:schemeClr val="accent6"/>
            </a:solidFill>
            <a:prstDash val="solid"/>
            <a:tailEnd type="triangle"/>
          </a:ln>
        </p:spPr>
      </p:sp>
      <p:sp>
        <p:nvSpPr>
          <p:cNvPr id="34" name="icon-circle-FaCheckDouble"/>
          <p:cNvSpPr/>
          <p:nvPr/>
        </p:nvSpPr>
        <p:spPr>
          <a:xfrm>
            <a:off x="7333488" y="4343400"/>
            <a:ext cx="685800" cy="685800"/>
          </a:xfrm>
          <a:prstGeom prst="ellipse">
            <a:avLst/>
          </a:prstGeom>
          <a:solidFill>
            <a:schemeClr val="accent4"/>
          </a:solidFill>
          <a:ln w="12700">
            <a:solidFill>
              <a:schemeClr val="accent4"/>
            </a:solidFill>
            <a:prstDash val="solid"/>
          </a:ln>
        </p:spPr>
      </p:sp>
      <p:pic>
        <p:nvPicPr>
          <p:cNvPr id="35" name="icon-FaCheckDouble" descr="FaCheckDouble">    </p:cNvPr>
          <p:cNvPicPr>
            <a:picLocks noChangeAspect="1"/>
          </p:cNvPicPr>
          <p:nvPr/>
        </p:nvPicPr>
        <p:blipFill>
          <a:blip r:embed="rId8"/>
          <a:stretch>
            <a:fillRect/>
          </a:stretch>
        </p:blipFill>
        <p:spPr>
          <a:xfrm>
            <a:off x="7498080" y="4507992"/>
            <a:ext cx="356616" cy="356616"/>
          </a:xfrm>
          <a:prstGeom prst="rect">
            <a:avLst/>
          </a:prstGeom>
        </p:spPr>
      </p:pic>
      <p:sp>
        <p:nvSpPr>
          <p:cNvPr id="36" name="Text 25"/>
          <p:cNvSpPr txBox="1"/>
          <p:nvPr/>
        </p:nvSpPr>
        <p:spPr>
          <a:xfrm>
            <a:off x="6949440" y="512064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Verifiers</a:t>
            </a:r>
            <a:endParaRPr lang="en-US" sz="1400" dirty="0"/>
          </a:p>
        </p:txBody>
      </p:sp>
      <p:sp>
        <p:nvSpPr>
          <p:cNvPr id="37" name="arrow"/>
          <p:cNvSpPr/>
          <p:nvPr/>
        </p:nvSpPr>
        <p:spPr>
          <a:xfrm>
            <a:off x="6080760" y="3520440"/>
            <a:ext cx="1600200" cy="777240"/>
          </a:xfrm>
          <a:prstGeom prst="line">
            <a:avLst/>
          </a:prstGeom>
          <a:noFill/>
          <a:ln w="15875">
            <a:solidFill>
              <a:schemeClr val="accent6"/>
            </a:solidFill>
            <a:prstDash val="solid"/>
            <a:tailEnd type="triangle"/>
          </a:ln>
        </p:spPr>
      </p:sp>
      <p:sp>
        <p:nvSpPr>
          <p:cNvPr id="38" name="icon-circle-FaClipboardCheck"/>
          <p:cNvSpPr/>
          <p:nvPr/>
        </p:nvSpPr>
        <p:spPr>
          <a:xfrm>
            <a:off x="8933688" y="4343400"/>
            <a:ext cx="685800" cy="685800"/>
          </a:xfrm>
          <a:prstGeom prst="ellipse">
            <a:avLst/>
          </a:prstGeom>
          <a:solidFill>
            <a:schemeClr val="accent1"/>
          </a:solidFill>
          <a:ln w="12700">
            <a:solidFill>
              <a:schemeClr val="accent1"/>
            </a:solidFill>
            <a:prstDash val="solid"/>
          </a:ln>
        </p:spPr>
      </p:sp>
      <p:pic>
        <p:nvPicPr>
          <p:cNvPr id="39" name="icon-FaClipboardCheck" descr="FaClipboardCheck">    </p:cNvPr>
          <p:cNvPicPr>
            <a:picLocks noChangeAspect="1"/>
          </p:cNvPicPr>
          <p:nvPr/>
        </p:nvPicPr>
        <p:blipFill>
          <a:blip r:embed="rId9"/>
          <a:stretch>
            <a:fillRect/>
          </a:stretch>
        </p:blipFill>
        <p:spPr>
          <a:xfrm>
            <a:off x="9098280" y="4507992"/>
            <a:ext cx="356616" cy="356616"/>
          </a:xfrm>
          <a:prstGeom prst="rect">
            <a:avLst/>
          </a:prstGeom>
        </p:spPr>
      </p:pic>
      <p:sp>
        <p:nvSpPr>
          <p:cNvPr id="40" name="Text 28"/>
          <p:cNvSpPr txBox="1"/>
          <p:nvPr/>
        </p:nvSpPr>
        <p:spPr>
          <a:xfrm>
            <a:off x="8549640" y="512064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Audits</a:t>
            </a:r>
            <a:endParaRPr lang="en-US" sz="1400" dirty="0"/>
          </a:p>
        </p:txBody>
      </p:sp>
      <p:sp>
        <p:nvSpPr>
          <p:cNvPr id="41" name="arrow"/>
          <p:cNvSpPr/>
          <p:nvPr/>
        </p:nvSpPr>
        <p:spPr>
          <a:xfrm>
            <a:off x="6080760" y="3520440"/>
            <a:ext cx="3200400" cy="777240"/>
          </a:xfrm>
          <a:prstGeom prst="line">
            <a:avLst/>
          </a:prstGeom>
          <a:noFill/>
          <a:ln w="15875">
            <a:solidFill>
              <a:schemeClr val="accent6"/>
            </a:solidFill>
            <a:prstDash val="solid"/>
            <a:tailEnd type="triangle"/>
          </a:ln>
        </p:spPr>
      </p:sp>
      <p:sp>
        <p:nvSpPr>
          <p:cNvPr id="42" name="icon-circle-FaPenNib"/>
          <p:cNvSpPr/>
          <p:nvPr/>
        </p:nvSpPr>
        <p:spPr>
          <a:xfrm>
            <a:off x="10533888" y="4343400"/>
            <a:ext cx="685800" cy="685800"/>
          </a:xfrm>
          <a:prstGeom prst="ellipse">
            <a:avLst/>
          </a:prstGeom>
          <a:solidFill>
            <a:schemeClr val="accent1"/>
          </a:solidFill>
          <a:ln w="12700">
            <a:solidFill>
              <a:schemeClr val="accent1"/>
            </a:solidFill>
            <a:prstDash val="solid"/>
          </a:ln>
        </p:spPr>
      </p:sp>
      <p:pic>
        <p:nvPicPr>
          <p:cNvPr id="43" name="icon-FaPenNib" descr="FaPenNib">    </p:cNvPr>
          <p:cNvPicPr>
            <a:picLocks noChangeAspect="1"/>
          </p:cNvPicPr>
          <p:nvPr/>
        </p:nvPicPr>
        <p:blipFill>
          <a:blip r:embed="rId10"/>
          <a:stretch>
            <a:fillRect/>
          </a:stretch>
        </p:blipFill>
        <p:spPr>
          <a:xfrm>
            <a:off x="10698480" y="4507992"/>
            <a:ext cx="356616" cy="356616"/>
          </a:xfrm>
          <a:prstGeom prst="rect">
            <a:avLst/>
          </a:prstGeom>
        </p:spPr>
      </p:pic>
      <p:sp>
        <p:nvSpPr>
          <p:cNvPr id="44" name="Text 31"/>
          <p:cNvSpPr txBox="1"/>
          <p:nvPr/>
        </p:nvSpPr>
        <p:spPr>
          <a:xfrm>
            <a:off x="10149840" y="512064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Writing, figures</a:t>
            </a:r>
            <a:endParaRPr lang="en-US" sz="1400" dirty="0"/>
          </a:p>
        </p:txBody>
      </p:sp>
      <p:sp>
        <p:nvSpPr>
          <p:cNvPr id="45" name="arrow"/>
          <p:cNvSpPr/>
          <p:nvPr/>
        </p:nvSpPr>
        <p:spPr>
          <a:xfrm>
            <a:off x="6080760" y="3520440"/>
            <a:ext cx="4800600" cy="777240"/>
          </a:xfrm>
          <a:prstGeom prst="line">
            <a:avLst/>
          </a:prstGeom>
          <a:noFill/>
          <a:ln w="15875">
            <a:solidFill>
              <a:schemeClr val="accent6"/>
            </a:solidFill>
            <a:prstDash val="solid"/>
            <a:tailEnd type="triangle"/>
          </a:ln>
        </p:spPr>
      </p:sp>
      <p:sp>
        <p:nvSpPr>
          <p:cNvPr id="46" name="Text 33"/>
          <p:cNvSpPr txBox="1"/>
          <p:nvPr/>
        </p:nvSpPr>
        <p:spPr>
          <a:xfrm>
            <a:off x="548640" y="585216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Subagents: Opus 5.5 or Sonnet 5.5, chosen by the PI · verifiers never checked their own work</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The experiment in numbers</a:t>
            </a:r>
            <a:endParaRPr lang="en-US" sz="3200" dirty="0"/>
          </a:p>
        </p:txBody>
      </p:sp>
      <p:sp>
        <p:nvSpPr>
          <p:cNvPr id="4" name="stat-card"/>
          <p:cNvSpPr/>
          <p:nvPr/>
        </p:nvSpPr>
        <p:spPr>
          <a:xfrm>
            <a:off x="548640" y="1371600"/>
            <a:ext cx="2651760" cy="2103120"/>
          </a:xfrm>
          <a:prstGeom prst="roundRect">
            <a:avLst>
              <a:gd name="adj" fmla="val 5217"/>
            </a:avLst>
          </a:prstGeom>
          <a:solidFill>
            <a:schemeClr val="bg2"/>
          </a:solidFill>
          <a:ln w="12700">
            <a:solidFill>
              <a:schemeClr val="bg2"/>
            </a:solidFill>
            <a:prstDash val="solid"/>
          </a:ln>
        </p:spPr>
      </p:sp>
      <p:sp>
        <p:nvSpPr>
          <p:cNvPr id="5" name="Text 2"/>
          <p:cNvSpPr txBox="1"/>
          <p:nvPr/>
        </p:nvSpPr>
        <p:spPr>
          <a:xfrm>
            <a:off x="731520" y="155448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187 + 82</a:t>
            </a:r>
            <a:endParaRPr lang="en-US" sz="3600" dirty="0"/>
          </a:p>
        </p:txBody>
      </p:sp>
      <p:sp>
        <p:nvSpPr>
          <p:cNvPr id="6" name="Text 3"/>
          <p:cNvSpPr txBox="1"/>
          <p:nvPr/>
        </p:nvSpPr>
        <p:spPr>
          <a:xfrm>
            <a:off x="731520" y="2286000"/>
            <a:ext cx="2377440" cy="685800"/>
          </a:xfrm>
          <a:prstGeom prst="rect">
            <a:avLst/>
          </a:prstGeom>
          <a:noFill/>
          <a:ln/>
        </p:spPr>
        <p:txBody>
          <a:bodyPr wrap="square" lIns="0" tIns="0" rIns="0" bIns="0" rtlCol="0" anchor="t"/>
          <a:lstStyle/>
          <a:p>
            <a:pPr indent="0" marL="0">
              <a:buNone/>
            </a:pPr>
            <a:r>
              <a:rPr lang="en-US" sz="1400" dirty="0">
                <a:solidFill>
                  <a:schemeClr val="tx1"/>
                </a:solidFill>
              </a:rPr>
              <a:t>eukaryotic + prokaryotic proteomes (round 1)</a:t>
            </a:r>
            <a:endParaRPr lang="en-US" sz="1400" dirty="0"/>
          </a:p>
        </p:txBody>
      </p:sp>
      <p:sp>
        <p:nvSpPr>
          <p:cNvPr id="7" name="stat-card"/>
          <p:cNvSpPr/>
          <p:nvPr/>
        </p:nvSpPr>
        <p:spPr>
          <a:xfrm>
            <a:off x="3355848" y="1371600"/>
            <a:ext cx="2651760" cy="2103120"/>
          </a:xfrm>
          <a:prstGeom prst="roundRect">
            <a:avLst>
              <a:gd name="adj" fmla="val 5217"/>
            </a:avLst>
          </a:prstGeom>
          <a:solidFill>
            <a:schemeClr val="bg2"/>
          </a:solidFill>
          <a:ln w="12700">
            <a:solidFill>
              <a:schemeClr val="bg2"/>
            </a:solidFill>
            <a:prstDash val="solid"/>
          </a:ln>
        </p:spPr>
      </p:sp>
      <p:sp>
        <p:nvSpPr>
          <p:cNvPr id="8" name="Text 5"/>
          <p:cNvSpPr txBox="1"/>
          <p:nvPr/>
        </p:nvSpPr>
        <p:spPr>
          <a:xfrm>
            <a:off x="3538728" y="155448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2.97 M</a:t>
            </a:r>
            <a:endParaRPr lang="en-US" sz="3600" dirty="0"/>
          </a:p>
        </p:txBody>
      </p:sp>
      <p:sp>
        <p:nvSpPr>
          <p:cNvPr id="9" name="Text 6"/>
          <p:cNvSpPr txBox="1"/>
          <p:nvPr/>
        </p:nvSpPr>
        <p:spPr>
          <a:xfrm>
            <a:off x="3538728" y="2286000"/>
            <a:ext cx="2377440" cy="685800"/>
          </a:xfrm>
          <a:prstGeom prst="rect">
            <a:avLst/>
          </a:prstGeom>
          <a:noFill/>
          <a:ln/>
        </p:spPr>
        <p:txBody>
          <a:bodyPr wrap="square" lIns="0" tIns="0" rIns="0" bIns="0" rtlCol="0" anchor="t"/>
          <a:lstStyle/>
          <a:p>
            <a:pPr indent="0" marL="0">
              <a:buNone/>
            </a:pPr>
            <a:r>
              <a:rPr lang="en-US" sz="1400" dirty="0">
                <a:solidFill>
                  <a:schemeClr val="tx1"/>
                </a:solidFill>
              </a:rPr>
              <a:t>eukaryotic proteins in round 1</a:t>
            </a:r>
            <a:endParaRPr lang="en-US" sz="1400" dirty="0"/>
          </a:p>
        </p:txBody>
      </p:sp>
      <p:sp>
        <p:nvSpPr>
          <p:cNvPr id="10" name="stat-card"/>
          <p:cNvSpPr/>
          <p:nvPr/>
        </p:nvSpPr>
        <p:spPr>
          <a:xfrm>
            <a:off x="6163056" y="1371600"/>
            <a:ext cx="2651760" cy="2103120"/>
          </a:xfrm>
          <a:prstGeom prst="roundRect">
            <a:avLst>
              <a:gd name="adj" fmla="val 5217"/>
            </a:avLst>
          </a:prstGeom>
          <a:solidFill>
            <a:schemeClr val="bg2"/>
          </a:solidFill>
          <a:ln w="12700">
            <a:solidFill>
              <a:schemeClr val="bg2"/>
            </a:solidFill>
            <a:prstDash val="solid"/>
          </a:ln>
        </p:spPr>
      </p:sp>
      <p:sp>
        <p:nvSpPr>
          <p:cNvPr id="11" name="Text 8"/>
          <p:cNvSpPr txBox="1"/>
          <p:nvPr/>
        </p:nvSpPr>
        <p:spPr>
          <a:xfrm>
            <a:off x="6345936" y="155448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8 · 227</a:t>
            </a:r>
            <a:endParaRPr lang="en-US" sz="3600" dirty="0"/>
          </a:p>
        </p:txBody>
      </p:sp>
      <p:sp>
        <p:nvSpPr>
          <p:cNvPr id="12" name="Text 9"/>
          <p:cNvSpPr txBox="1"/>
          <p:nvPr/>
        </p:nvSpPr>
        <p:spPr>
          <a:xfrm>
            <a:off x="6345936" y="2286000"/>
            <a:ext cx="2377440" cy="685800"/>
          </a:xfrm>
          <a:prstGeom prst="rect">
            <a:avLst/>
          </a:prstGeom>
          <a:noFill/>
          <a:ln/>
        </p:spPr>
        <p:txBody>
          <a:bodyPr wrap="square" lIns="0" tIns="0" rIns="0" bIns="0" rtlCol="0" anchor="t"/>
          <a:lstStyle/>
          <a:p>
            <a:pPr indent="0" marL="0">
              <a:buNone/>
            </a:pPr>
            <a:r>
              <a:rPr lang="en-US" sz="1400" dirty="0">
                <a:solidFill>
                  <a:schemeClr val="tx1"/>
                </a:solidFill>
              </a:rPr>
              <a:t>dense panels · proteomes (round 2)</a:t>
            </a:r>
            <a:endParaRPr lang="en-US" sz="1400" dirty="0"/>
          </a:p>
        </p:txBody>
      </p:sp>
      <p:sp>
        <p:nvSpPr>
          <p:cNvPr id="13" name="stat-card"/>
          <p:cNvSpPr/>
          <p:nvPr/>
        </p:nvSpPr>
        <p:spPr>
          <a:xfrm>
            <a:off x="8970264" y="1371600"/>
            <a:ext cx="2651760" cy="2103120"/>
          </a:xfrm>
          <a:prstGeom prst="roundRect">
            <a:avLst>
              <a:gd name="adj" fmla="val 5217"/>
            </a:avLst>
          </a:prstGeom>
          <a:solidFill>
            <a:schemeClr val="bg2"/>
          </a:solidFill>
          <a:ln w="12700">
            <a:solidFill>
              <a:schemeClr val="bg2"/>
            </a:solidFill>
            <a:prstDash val="solid"/>
          </a:ln>
        </p:spPr>
      </p:sp>
      <p:sp>
        <p:nvSpPr>
          <p:cNvPr id="14" name="Text 11"/>
          <p:cNvSpPr txBox="1"/>
          <p:nvPr/>
        </p:nvSpPr>
        <p:spPr>
          <a:xfrm>
            <a:off x="9153144" y="155448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2 + 9</a:t>
            </a:r>
            <a:endParaRPr lang="en-US" sz="3600" dirty="0"/>
          </a:p>
        </p:txBody>
      </p:sp>
      <p:sp>
        <p:nvSpPr>
          <p:cNvPr id="15" name="Text 12"/>
          <p:cNvSpPr txBox="1"/>
          <p:nvPr/>
        </p:nvSpPr>
        <p:spPr>
          <a:xfrm>
            <a:off x="9153144" y="2286000"/>
            <a:ext cx="2377440" cy="685800"/>
          </a:xfrm>
          <a:prstGeom prst="rect">
            <a:avLst/>
          </a:prstGeom>
          <a:noFill/>
          <a:ln/>
        </p:spPr>
        <p:txBody>
          <a:bodyPr wrap="square" lIns="0" tIns="0" rIns="0" bIns="0" rtlCol="0" anchor="t"/>
          <a:lstStyle/>
          <a:p>
            <a:pPr indent="0" marL="0">
              <a:buNone/>
            </a:pPr>
            <a:r>
              <a:rPr lang="en-US" sz="1400" dirty="0">
                <a:solidFill>
                  <a:schemeClr val="tx1"/>
                </a:solidFill>
              </a:rPr>
              <a:t>Ancestra runs, round 1 + round 2</a:t>
            </a:r>
            <a:endParaRPr lang="en-US" sz="1400" dirty="0"/>
          </a:p>
        </p:txBody>
      </p:sp>
      <p:sp>
        <p:nvSpPr>
          <p:cNvPr id="16" name="stat-card"/>
          <p:cNvSpPr/>
          <p:nvPr/>
        </p:nvSpPr>
        <p:spPr>
          <a:xfrm>
            <a:off x="548640" y="3703320"/>
            <a:ext cx="2651760" cy="2103120"/>
          </a:xfrm>
          <a:prstGeom prst="roundRect">
            <a:avLst>
              <a:gd name="adj" fmla="val 5217"/>
            </a:avLst>
          </a:prstGeom>
          <a:solidFill>
            <a:schemeClr val="bg2"/>
          </a:solidFill>
          <a:ln w="12700">
            <a:solidFill>
              <a:schemeClr val="bg2"/>
            </a:solidFill>
            <a:prstDash val="solid"/>
          </a:ln>
        </p:spPr>
      </p:sp>
      <p:sp>
        <p:nvSpPr>
          <p:cNvPr id="17" name="Text 14"/>
          <p:cNvSpPr txBox="1"/>
          <p:nvPr/>
        </p:nvSpPr>
        <p:spPr>
          <a:xfrm>
            <a:off x="731520" y="388620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16</a:t>
            </a:r>
            <a:endParaRPr lang="en-US" sz="3600" dirty="0"/>
          </a:p>
        </p:txBody>
      </p:sp>
      <p:sp>
        <p:nvSpPr>
          <p:cNvPr id="18" name="Text 15"/>
          <p:cNvSpPr txBox="1"/>
          <p:nvPr/>
        </p:nvSpPr>
        <p:spPr>
          <a:xfrm>
            <a:off x="731520" y="4617720"/>
            <a:ext cx="2377440" cy="685800"/>
          </a:xfrm>
          <a:prstGeom prst="rect">
            <a:avLst/>
          </a:prstGeom>
          <a:noFill/>
          <a:ln/>
        </p:spPr>
        <p:txBody>
          <a:bodyPr wrap="square" lIns="0" tIns="0" rIns="0" bIns="0" rtlCol="0" anchor="t"/>
          <a:lstStyle/>
          <a:p>
            <a:pPr indent="0" marL="0">
              <a:buNone/>
            </a:pPr>
            <a:r>
              <a:rPr lang="en-US" sz="1400" dirty="0">
                <a:solidFill>
                  <a:schemeClr val="tx1"/>
                </a:solidFill>
              </a:rPr>
              <a:t>literature hypotheses (~250 references)</a:t>
            </a:r>
            <a:endParaRPr lang="en-US" sz="1400" dirty="0"/>
          </a:p>
        </p:txBody>
      </p:sp>
      <p:sp>
        <p:nvSpPr>
          <p:cNvPr id="19" name="stat-card"/>
          <p:cNvSpPr/>
          <p:nvPr/>
        </p:nvSpPr>
        <p:spPr>
          <a:xfrm>
            <a:off x="3355848" y="3703320"/>
            <a:ext cx="2651760" cy="2103120"/>
          </a:xfrm>
          <a:prstGeom prst="roundRect">
            <a:avLst>
              <a:gd name="adj" fmla="val 5217"/>
            </a:avLst>
          </a:prstGeom>
          <a:solidFill>
            <a:schemeClr val="bg2"/>
          </a:solidFill>
          <a:ln w="12700">
            <a:solidFill>
              <a:schemeClr val="bg2"/>
            </a:solidFill>
            <a:prstDash val="solid"/>
          </a:ln>
        </p:spPr>
      </p:sp>
      <p:sp>
        <p:nvSpPr>
          <p:cNvPr id="20" name="Text 17"/>
          <p:cNvSpPr txBox="1"/>
          <p:nvPr/>
        </p:nvSpPr>
        <p:spPr>
          <a:xfrm>
            <a:off x="3538728" y="388620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3</a:t>
            </a:r>
            <a:endParaRPr lang="en-US" sz="3600" dirty="0"/>
          </a:p>
        </p:txBody>
      </p:sp>
      <p:sp>
        <p:nvSpPr>
          <p:cNvPr id="21" name="Text 18"/>
          <p:cNvSpPr txBox="1"/>
          <p:nvPr/>
        </p:nvSpPr>
        <p:spPr>
          <a:xfrm>
            <a:off x="3538728" y="4617720"/>
            <a:ext cx="2377440" cy="685800"/>
          </a:xfrm>
          <a:prstGeom prst="rect">
            <a:avLst/>
          </a:prstGeom>
          <a:noFill/>
          <a:ln/>
        </p:spPr>
        <p:txBody>
          <a:bodyPr wrap="square" lIns="0" tIns="0" rIns="0" bIns="0" rtlCol="0" anchor="t"/>
          <a:lstStyle/>
          <a:p>
            <a:pPr indent="0" marL="0">
              <a:buNone/>
            </a:pPr>
            <a:r>
              <a:rPr lang="en-US" sz="1400" dirty="0">
                <a:solidFill>
                  <a:schemeClr val="tx1"/>
                </a:solidFill>
              </a:rPr>
              <a:t>frozen pre-registrations (git tags)</a:t>
            </a:r>
            <a:endParaRPr lang="en-US" sz="1400" dirty="0"/>
          </a:p>
        </p:txBody>
      </p:sp>
      <p:sp>
        <p:nvSpPr>
          <p:cNvPr id="22" name="stat-card"/>
          <p:cNvSpPr/>
          <p:nvPr/>
        </p:nvSpPr>
        <p:spPr>
          <a:xfrm>
            <a:off x="6163056" y="3703320"/>
            <a:ext cx="2651760" cy="2103120"/>
          </a:xfrm>
          <a:prstGeom prst="roundRect">
            <a:avLst>
              <a:gd name="adj" fmla="val 5217"/>
            </a:avLst>
          </a:prstGeom>
          <a:solidFill>
            <a:schemeClr val="bg2"/>
          </a:solidFill>
          <a:ln w="12700">
            <a:solidFill>
              <a:schemeClr val="bg2"/>
            </a:solidFill>
            <a:prstDash val="solid"/>
          </a:ln>
        </p:spPr>
      </p:sp>
      <p:sp>
        <p:nvSpPr>
          <p:cNvPr id="23" name="Text 20"/>
          <p:cNvSpPr txBox="1"/>
          <p:nvPr/>
        </p:nvSpPr>
        <p:spPr>
          <a:xfrm>
            <a:off x="6345936" y="3886200"/>
            <a:ext cx="2377440" cy="685800"/>
          </a:xfrm>
          <a:prstGeom prst="rect">
            <a:avLst/>
          </a:prstGeom>
          <a:noFill/>
          <a:ln/>
        </p:spPr>
        <p:txBody>
          <a:bodyPr wrap="square" lIns="0" tIns="0" rIns="0" bIns="0" rtlCol="0" anchor="b"/>
          <a:lstStyle/>
          <a:p>
            <a:pPr indent="0" marL="0">
              <a:buNone/>
            </a:pPr>
            <a:r>
              <a:rPr lang="en-US" sz="3600" b="1" dirty="0">
                <a:solidFill>
                  <a:schemeClr val="accent4"/>
                </a:solidFill>
              </a:rPr>
              <a:t>2</a:t>
            </a:r>
            <a:endParaRPr lang="en-US" sz="3600" dirty="0"/>
          </a:p>
        </p:txBody>
      </p:sp>
      <p:sp>
        <p:nvSpPr>
          <p:cNvPr id="24" name="Text 21"/>
          <p:cNvSpPr txBox="1"/>
          <p:nvPr/>
        </p:nvSpPr>
        <p:spPr>
          <a:xfrm>
            <a:off x="6345936" y="4617720"/>
            <a:ext cx="2377440" cy="685800"/>
          </a:xfrm>
          <a:prstGeom prst="rect">
            <a:avLst/>
          </a:prstGeom>
          <a:noFill/>
          <a:ln/>
        </p:spPr>
        <p:txBody>
          <a:bodyPr wrap="square" lIns="0" tIns="0" rIns="0" bIns="0" rtlCol="0" anchor="t"/>
          <a:lstStyle/>
          <a:p>
            <a:pPr indent="0" marL="0">
              <a:buNone/>
            </a:pPr>
            <a:r>
              <a:rPr lang="en-US" sz="1400" dirty="0">
                <a:solidFill>
                  <a:schemeClr val="tx1"/>
                </a:solidFill>
              </a:rPr>
              <a:t>own claims overturned by verification</a:t>
            </a:r>
            <a:endParaRPr lang="en-US" sz="1400" dirty="0"/>
          </a:p>
        </p:txBody>
      </p:sp>
      <p:sp>
        <p:nvSpPr>
          <p:cNvPr id="25" name="stat-card"/>
          <p:cNvSpPr/>
          <p:nvPr/>
        </p:nvSpPr>
        <p:spPr>
          <a:xfrm>
            <a:off x="8970264" y="3703320"/>
            <a:ext cx="2651760" cy="2103120"/>
          </a:xfrm>
          <a:prstGeom prst="roundRect">
            <a:avLst>
              <a:gd name="adj" fmla="val 5217"/>
            </a:avLst>
          </a:prstGeom>
          <a:solidFill>
            <a:schemeClr val="bg2"/>
          </a:solidFill>
          <a:ln w="12700">
            <a:solidFill>
              <a:schemeClr val="bg2"/>
            </a:solidFill>
            <a:prstDash val="solid"/>
          </a:ln>
        </p:spPr>
      </p:sp>
      <p:sp>
        <p:nvSpPr>
          <p:cNvPr id="26" name="Text 23"/>
          <p:cNvSpPr txBox="1"/>
          <p:nvPr/>
        </p:nvSpPr>
        <p:spPr>
          <a:xfrm>
            <a:off x="9153144" y="388620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≈31 h</a:t>
            </a:r>
            <a:endParaRPr lang="en-US" sz="3600" dirty="0"/>
          </a:p>
        </p:txBody>
      </p:sp>
      <p:sp>
        <p:nvSpPr>
          <p:cNvPr id="27" name="Text 24"/>
          <p:cNvSpPr txBox="1"/>
          <p:nvPr/>
        </p:nvSpPr>
        <p:spPr>
          <a:xfrm>
            <a:off x="9153144" y="4617720"/>
            <a:ext cx="2377440" cy="685800"/>
          </a:xfrm>
          <a:prstGeom prst="rect">
            <a:avLst/>
          </a:prstGeom>
          <a:noFill/>
          <a:ln/>
        </p:spPr>
        <p:txBody>
          <a:bodyPr wrap="square" lIns="0" tIns="0" rIns="0" bIns="0" rtlCol="0" anchor="t"/>
          <a:lstStyle/>
          <a:p>
            <a:pPr indent="0" marL="0">
              <a:buNone/>
            </a:pPr>
            <a:r>
              <a:rPr lang="en-US" sz="1400" dirty="0">
                <a:solidFill>
                  <a:schemeClr val="tx1"/>
                </a:solidFill>
              </a:rPr>
              <a:t>total wall time, two rounds</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D</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How the method was decided</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Literature, critique, pre-registration, calibration, verification</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A pipeline of checks before any claim</a:t>
            </a:r>
            <a:endParaRPr lang="en-US" sz="3200" dirty="0"/>
          </a:p>
        </p:txBody>
      </p:sp>
      <p:sp>
        <p:nvSpPr>
          <p:cNvPr id="4" name="flow-step"/>
          <p:cNvSpPr/>
          <p:nvPr/>
        </p:nvSpPr>
        <p:spPr>
          <a:xfrm>
            <a:off x="548640" y="1417320"/>
            <a:ext cx="2057400" cy="1691640"/>
          </a:xfrm>
          <a:prstGeom prst="roundRect">
            <a:avLst>
              <a:gd name="adj" fmla="val 6486"/>
            </a:avLst>
          </a:prstGeom>
          <a:solidFill>
            <a:schemeClr val="bg2"/>
          </a:solidFill>
          <a:ln w="12700">
            <a:solidFill>
              <a:schemeClr val="bg2"/>
            </a:solidFill>
            <a:prstDash val="solid"/>
          </a:ln>
        </p:spPr>
      </p:sp>
      <p:sp>
        <p:nvSpPr>
          <p:cNvPr id="5" name="icon-circle-FaBookOpen"/>
          <p:cNvSpPr/>
          <p:nvPr/>
        </p:nvSpPr>
        <p:spPr>
          <a:xfrm>
            <a:off x="1234440" y="1554480"/>
            <a:ext cx="658368" cy="658368"/>
          </a:xfrm>
          <a:prstGeom prst="ellipse">
            <a:avLst/>
          </a:prstGeom>
          <a:solidFill>
            <a:schemeClr val="accent1"/>
          </a:solidFill>
          <a:ln w="12700">
            <a:solidFill>
              <a:schemeClr val="accent1"/>
            </a:solidFill>
            <a:prstDash val="solid"/>
          </a:ln>
        </p:spPr>
      </p:sp>
      <p:pic>
        <p:nvPicPr>
          <p:cNvPr id="6" name="icon-FaBookOpen" descr="FaBookOpen">    </p:cNvPr>
          <p:cNvPicPr>
            <a:picLocks noChangeAspect="1"/>
          </p:cNvPicPr>
          <p:nvPr/>
        </p:nvPicPr>
        <p:blipFill>
          <a:blip r:embed="rId1"/>
          <a:stretch>
            <a:fillRect/>
          </a:stretch>
        </p:blipFill>
        <p:spPr>
          <a:xfrm>
            <a:off x="1392448" y="1712488"/>
            <a:ext cx="342351" cy="342351"/>
          </a:xfrm>
          <a:prstGeom prst="rect">
            <a:avLst/>
          </a:prstGeom>
        </p:spPr>
      </p:pic>
      <p:sp>
        <p:nvSpPr>
          <p:cNvPr id="7" name="Text 3"/>
          <p:cNvSpPr txBox="1"/>
          <p:nvPr/>
        </p:nvSpPr>
        <p:spPr>
          <a:xfrm>
            <a:off x="640080" y="2286000"/>
            <a:ext cx="1874520" cy="777240"/>
          </a:xfrm>
          <a:prstGeom prst="rect">
            <a:avLst/>
          </a:prstGeom>
          <a:noFill/>
          <a:ln/>
        </p:spPr>
        <p:txBody>
          <a:bodyPr wrap="square" lIns="0" tIns="0" rIns="0" bIns="0" rtlCol="0" anchor="t"/>
          <a:lstStyle/>
          <a:p>
            <a:pPr algn="ctr" indent="0" marL="0">
              <a:buNone/>
            </a:pPr>
            <a:r>
              <a:rPr lang="en-US" sz="1600" b="1" dirty="0">
                <a:solidFill>
                  <a:schemeClr val="tx1"/>
                </a:solidFill>
              </a:rPr>
              <a:t>Literature</a:t>
            </a:r>
            <a:endParaRPr lang="en-US" sz="1600" dirty="0"/>
          </a:p>
          <a:p>
            <a:pPr algn="ctr" indent="0" marL="0">
              <a:buNone/>
            </a:pPr>
            <a:r>
              <a:rPr lang="en-US" sz="1300" dirty="0">
                <a:solidFill>
                  <a:schemeClr val="tx1"/>
                </a:solidFill>
              </a:rPr>
              <a:t>16 hypotheses</a:t>
            </a:r>
            <a:endParaRPr lang="en-US" sz="1600" dirty="0"/>
          </a:p>
        </p:txBody>
      </p:sp>
      <p:sp>
        <p:nvSpPr>
          <p:cNvPr id="8" name="arrow"/>
          <p:cNvSpPr/>
          <p:nvPr/>
        </p:nvSpPr>
        <p:spPr>
          <a:xfrm>
            <a:off x="2624328" y="2258568"/>
            <a:ext cx="164592" cy="914"/>
          </a:xfrm>
          <a:prstGeom prst="line">
            <a:avLst/>
          </a:prstGeom>
          <a:noFill/>
          <a:ln w="25400">
            <a:solidFill>
              <a:schemeClr val="tx2"/>
            </a:solidFill>
            <a:prstDash val="solid"/>
            <a:tailEnd type="triangle"/>
          </a:ln>
        </p:spPr>
      </p:sp>
      <p:sp>
        <p:nvSpPr>
          <p:cNvPr id="9" name="flow-step"/>
          <p:cNvSpPr/>
          <p:nvPr/>
        </p:nvSpPr>
        <p:spPr>
          <a:xfrm>
            <a:off x="2807208" y="1417320"/>
            <a:ext cx="2057400" cy="1691640"/>
          </a:xfrm>
          <a:prstGeom prst="roundRect">
            <a:avLst>
              <a:gd name="adj" fmla="val 6486"/>
            </a:avLst>
          </a:prstGeom>
          <a:solidFill>
            <a:schemeClr val="bg2"/>
          </a:solidFill>
          <a:ln w="12700">
            <a:solidFill>
              <a:schemeClr val="bg2"/>
            </a:solidFill>
            <a:prstDash val="solid"/>
          </a:ln>
        </p:spPr>
      </p:sp>
      <p:sp>
        <p:nvSpPr>
          <p:cNvPr id="10" name="icon-circle-FaPenNib"/>
          <p:cNvSpPr/>
          <p:nvPr/>
        </p:nvSpPr>
        <p:spPr>
          <a:xfrm>
            <a:off x="3493008" y="1554480"/>
            <a:ext cx="658368" cy="658368"/>
          </a:xfrm>
          <a:prstGeom prst="ellipse">
            <a:avLst/>
          </a:prstGeom>
          <a:solidFill>
            <a:schemeClr val="accent1"/>
          </a:solidFill>
          <a:ln w="12700">
            <a:solidFill>
              <a:schemeClr val="accent1"/>
            </a:solidFill>
            <a:prstDash val="solid"/>
          </a:ln>
        </p:spPr>
      </p:sp>
      <p:pic>
        <p:nvPicPr>
          <p:cNvPr id="11" name="icon-FaPenNib" descr="FaPenNib">    </p:cNvPr>
          <p:cNvPicPr>
            <a:picLocks noChangeAspect="1"/>
          </p:cNvPicPr>
          <p:nvPr/>
        </p:nvPicPr>
        <p:blipFill>
          <a:blip r:embed="rId2"/>
          <a:stretch>
            <a:fillRect/>
          </a:stretch>
        </p:blipFill>
        <p:spPr>
          <a:xfrm>
            <a:off x="3651016" y="1712488"/>
            <a:ext cx="342351" cy="342351"/>
          </a:xfrm>
          <a:prstGeom prst="rect">
            <a:avLst/>
          </a:prstGeom>
        </p:spPr>
      </p:pic>
      <p:sp>
        <p:nvSpPr>
          <p:cNvPr id="12" name="Text 7"/>
          <p:cNvSpPr txBox="1"/>
          <p:nvPr/>
        </p:nvSpPr>
        <p:spPr>
          <a:xfrm>
            <a:off x="2898648" y="2286000"/>
            <a:ext cx="1874520" cy="777240"/>
          </a:xfrm>
          <a:prstGeom prst="rect">
            <a:avLst/>
          </a:prstGeom>
          <a:noFill/>
          <a:ln/>
        </p:spPr>
        <p:txBody>
          <a:bodyPr wrap="square" lIns="0" tIns="0" rIns="0" bIns="0" rtlCol="0" anchor="t"/>
          <a:lstStyle/>
          <a:p>
            <a:pPr algn="ctr" indent="0" marL="0">
              <a:buNone/>
            </a:pPr>
            <a:r>
              <a:rPr lang="en-US" sz="1600" b="1" dirty="0">
                <a:solidFill>
                  <a:schemeClr val="tx1"/>
                </a:solidFill>
              </a:rPr>
              <a:t>Design</a:t>
            </a:r>
            <a:endParaRPr lang="en-US" sz="1600" dirty="0"/>
          </a:p>
          <a:p>
            <a:pPr algn="ctr" indent="0" marL="0">
              <a:buNone/>
            </a:pPr>
            <a:r>
              <a:rPr lang="en-US" sz="1300" dirty="0">
                <a:solidFill>
                  <a:schemeClr val="tx1"/>
                </a:solidFill>
              </a:rPr>
              <a:t>DESIGN.md</a:t>
            </a:r>
            <a:endParaRPr lang="en-US" sz="1600" dirty="0"/>
          </a:p>
        </p:txBody>
      </p:sp>
      <p:sp>
        <p:nvSpPr>
          <p:cNvPr id="13" name="arrow"/>
          <p:cNvSpPr/>
          <p:nvPr/>
        </p:nvSpPr>
        <p:spPr>
          <a:xfrm>
            <a:off x="4882896" y="2258568"/>
            <a:ext cx="164592" cy="914"/>
          </a:xfrm>
          <a:prstGeom prst="line">
            <a:avLst/>
          </a:prstGeom>
          <a:noFill/>
          <a:ln w="25400">
            <a:solidFill>
              <a:schemeClr val="tx2"/>
            </a:solidFill>
            <a:prstDash val="solid"/>
            <a:tailEnd type="triangle"/>
          </a:ln>
        </p:spPr>
      </p:sp>
      <p:sp>
        <p:nvSpPr>
          <p:cNvPr id="14" name="flow-step"/>
          <p:cNvSpPr/>
          <p:nvPr/>
        </p:nvSpPr>
        <p:spPr>
          <a:xfrm>
            <a:off x="5065776" y="1417320"/>
            <a:ext cx="2057400" cy="1691640"/>
          </a:xfrm>
          <a:prstGeom prst="roundRect">
            <a:avLst>
              <a:gd name="adj" fmla="val 6486"/>
            </a:avLst>
          </a:prstGeom>
          <a:solidFill>
            <a:schemeClr val="bg2"/>
          </a:solidFill>
          <a:ln w="12700">
            <a:solidFill>
              <a:schemeClr val="bg2"/>
            </a:solidFill>
            <a:prstDash val="solid"/>
          </a:ln>
        </p:spPr>
      </p:sp>
      <p:sp>
        <p:nvSpPr>
          <p:cNvPr id="15" name="icon-circle-FaBalanceScale"/>
          <p:cNvSpPr/>
          <p:nvPr/>
        </p:nvSpPr>
        <p:spPr>
          <a:xfrm>
            <a:off x="5751576" y="1554480"/>
            <a:ext cx="658368" cy="658368"/>
          </a:xfrm>
          <a:prstGeom prst="ellipse">
            <a:avLst/>
          </a:prstGeom>
          <a:solidFill>
            <a:schemeClr val="accent1"/>
          </a:solidFill>
          <a:ln w="12700">
            <a:solidFill>
              <a:schemeClr val="accent1"/>
            </a:solidFill>
            <a:prstDash val="solid"/>
          </a:ln>
        </p:spPr>
      </p:sp>
      <p:pic>
        <p:nvPicPr>
          <p:cNvPr id="16" name="icon-FaBalanceScale" descr="FaBalanceScale">    </p:cNvPr>
          <p:cNvPicPr>
            <a:picLocks noChangeAspect="1"/>
          </p:cNvPicPr>
          <p:nvPr/>
        </p:nvPicPr>
        <p:blipFill>
          <a:blip r:embed="rId3"/>
          <a:stretch>
            <a:fillRect/>
          </a:stretch>
        </p:blipFill>
        <p:spPr>
          <a:xfrm>
            <a:off x="5909584" y="1712488"/>
            <a:ext cx="342351" cy="342351"/>
          </a:xfrm>
          <a:prstGeom prst="rect">
            <a:avLst/>
          </a:prstGeom>
        </p:spPr>
      </p:pic>
      <p:sp>
        <p:nvSpPr>
          <p:cNvPr id="17" name="Text 11"/>
          <p:cNvSpPr txBox="1"/>
          <p:nvPr/>
        </p:nvSpPr>
        <p:spPr>
          <a:xfrm>
            <a:off x="5157216" y="2286000"/>
            <a:ext cx="1874520" cy="777240"/>
          </a:xfrm>
          <a:prstGeom prst="rect">
            <a:avLst/>
          </a:prstGeom>
          <a:noFill/>
          <a:ln/>
        </p:spPr>
        <p:txBody>
          <a:bodyPr wrap="square" lIns="0" tIns="0" rIns="0" bIns="0" rtlCol="0" anchor="t"/>
          <a:lstStyle/>
          <a:p>
            <a:pPr algn="ctr" indent="0" marL="0">
              <a:buNone/>
            </a:pPr>
            <a:r>
              <a:rPr lang="en-US" sz="1600" b="1" dirty="0">
                <a:solidFill>
                  <a:schemeClr val="tx1"/>
                </a:solidFill>
              </a:rPr>
              <a:t>Critique</a:t>
            </a:r>
            <a:endParaRPr lang="en-US" sz="1600" dirty="0"/>
          </a:p>
          <a:p>
            <a:pPr algn="ctr" indent="0" marL="0">
              <a:buNone/>
            </a:pPr>
            <a:r>
              <a:rPr lang="en-US" sz="1300" dirty="0">
                <a:solidFill>
                  <a:schemeClr val="tx1"/>
                </a:solidFill>
              </a:rPr>
              <a:t>3 rounds R1 · 1 round R2</a:t>
            </a:r>
            <a:endParaRPr lang="en-US" sz="1600" dirty="0"/>
          </a:p>
        </p:txBody>
      </p:sp>
      <p:sp>
        <p:nvSpPr>
          <p:cNvPr id="18" name="arrow"/>
          <p:cNvSpPr/>
          <p:nvPr/>
        </p:nvSpPr>
        <p:spPr>
          <a:xfrm>
            <a:off x="7141464" y="2258568"/>
            <a:ext cx="164592" cy="914"/>
          </a:xfrm>
          <a:prstGeom prst="line">
            <a:avLst/>
          </a:prstGeom>
          <a:noFill/>
          <a:ln w="25400">
            <a:solidFill>
              <a:schemeClr val="tx2"/>
            </a:solidFill>
            <a:prstDash val="solid"/>
            <a:tailEnd type="triangle"/>
          </a:ln>
        </p:spPr>
      </p:sp>
      <p:sp>
        <p:nvSpPr>
          <p:cNvPr id="19" name="flow-step"/>
          <p:cNvSpPr/>
          <p:nvPr/>
        </p:nvSpPr>
        <p:spPr>
          <a:xfrm>
            <a:off x="7324344" y="1417320"/>
            <a:ext cx="2057400" cy="1691640"/>
          </a:xfrm>
          <a:prstGeom prst="roundRect">
            <a:avLst>
              <a:gd name="adj" fmla="val 6486"/>
            </a:avLst>
          </a:prstGeom>
          <a:solidFill>
            <a:schemeClr val="bg2"/>
          </a:solidFill>
          <a:ln w="12700">
            <a:solidFill>
              <a:schemeClr val="bg2"/>
            </a:solidFill>
            <a:prstDash val="solid"/>
          </a:ln>
        </p:spPr>
      </p:sp>
      <p:sp>
        <p:nvSpPr>
          <p:cNvPr id="20" name="icon-circle-FaLock"/>
          <p:cNvSpPr/>
          <p:nvPr/>
        </p:nvSpPr>
        <p:spPr>
          <a:xfrm>
            <a:off x="8010144" y="1554480"/>
            <a:ext cx="658368" cy="658368"/>
          </a:xfrm>
          <a:prstGeom prst="ellipse">
            <a:avLst/>
          </a:prstGeom>
          <a:solidFill>
            <a:schemeClr val="accent1"/>
          </a:solidFill>
          <a:ln w="12700">
            <a:solidFill>
              <a:schemeClr val="accent1"/>
            </a:solidFill>
            <a:prstDash val="solid"/>
          </a:ln>
        </p:spPr>
      </p:sp>
      <p:pic>
        <p:nvPicPr>
          <p:cNvPr id="21" name="icon-FaLock" descr="FaLock">    </p:cNvPr>
          <p:cNvPicPr>
            <a:picLocks noChangeAspect="1"/>
          </p:cNvPicPr>
          <p:nvPr/>
        </p:nvPicPr>
        <p:blipFill>
          <a:blip r:embed="rId4"/>
          <a:stretch>
            <a:fillRect/>
          </a:stretch>
        </p:blipFill>
        <p:spPr>
          <a:xfrm>
            <a:off x="8168152" y="1712488"/>
            <a:ext cx="342351" cy="342351"/>
          </a:xfrm>
          <a:prstGeom prst="rect">
            <a:avLst/>
          </a:prstGeom>
        </p:spPr>
      </p:pic>
      <p:sp>
        <p:nvSpPr>
          <p:cNvPr id="22" name="Text 15"/>
          <p:cNvSpPr txBox="1"/>
          <p:nvPr/>
        </p:nvSpPr>
        <p:spPr>
          <a:xfrm>
            <a:off x="7415784" y="2286000"/>
            <a:ext cx="1874520" cy="777240"/>
          </a:xfrm>
          <a:prstGeom prst="rect">
            <a:avLst/>
          </a:prstGeom>
          <a:noFill/>
          <a:ln/>
        </p:spPr>
        <p:txBody>
          <a:bodyPr wrap="square" lIns="0" tIns="0" rIns="0" bIns="0" rtlCol="0" anchor="t"/>
          <a:lstStyle/>
          <a:p>
            <a:pPr algn="ctr" indent="0" marL="0">
              <a:buNone/>
            </a:pPr>
            <a:r>
              <a:rPr lang="en-US" sz="1600" b="1" dirty="0">
                <a:solidFill>
                  <a:schemeClr val="tx1"/>
                </a:solidFill>
              </a:rPr>
              <a:t>Pre-register</a:t>
            </a:r>
            <a:endParaRPr lang="en-US" sz="1600" dirty="0"/>
          </a:p>
          <a:p>
            <a:pPr algn="ctr" indent="0" marL="0">
              <a:buNone/>
            </a:pPr>
            <a:r>
              <a:rPr lang="en-US" sz="1300" dirty="0">
                <a:solidFill>
                  <a:schemeClr val="tx1"/>
                </a:solidFill>
              </a:rPr>
              <a:t>hash + git tag</a:t>
            </a:r>
            <a:endParaRPr lang="en-US" sz="1600" dirty="0"/>
          </a:p>
        </p:txBody>
      </p:sp>
      <p:sp>
        <p:nvSpPr>
          <p:cNvPr id="23" name="arrow"/>
          <p:cNvSpPr/>
          <p:nvPr/>
        </p:nvSpPr>
        <p:spPr>
          <a:xfrm>
            <a:off x="9400032" y="2258568"/>
            <a:ext cx="164592" cy="914"/>
          </a:xfrm>
          <a:prstGeom prst="line">
            <a:avLst/>
          </a:prstGeom>
          <a:noFill/>
          <a:ln w="25400">
            <a:solidFill>
              <a:schemeClr val="tx2"/>
            </a:solidFill>
            <a:prstDash val="solid"/>
            <a:tailEnd type="triangle"/>
          </a:ln>
        </p:spPr>
      </p:sp>
      <p:sp>
        <p:nvSpPr>
          <p:cNvPr id="24" name="flow-step"/>
          <p:cNvSpPr/>
          <p:nvPr/>
        </p:nvSpPr>
        <p:spPr>
          <a:xfrm>
            <a:off x="9582912" y="1417320"/>
            <a:ext cx="2057400" cy="1691640"/>
          </a:xfrm>
          <a:prstGeom prst="roundRect">
            <a:avLst>
              <a:gd name="adj" fmla="val 6486"/>
            </a:avLst>
          </a:prstGeom>
          <a:solidFill>
            <a:schemeClr val="bg2"/>
          </a:solidFill>
          <a:ln w="12700">
            <a:solidFill>
              <a:schemeClr val="bg2"/>
            </a:solidFill>
            <a:prstDash val="solid"/>
          </a:ln>
        </p:spPr>
      </p:sp>
      <p:sp>
        <p:nvSpPr>
          <p:cNvPr id="25" name="icon-circle-FaVial"/>
          <p:cNvSpPr/>
          <p:nvPr/>
        </p:nvSpPr>
        <p:spPr>
          <a:xfrm>
            <a:off x="10268712" y="1554480"/>
            <a:ext cx="658368" cy="658368"/>
          </a:xfrm>
          <a:prstGeom prst="ellipse">
            <a:avLst/>
          </a:prstGeom>
          <a:solidFill>
            <a:schemeClr val="accent1"/>
          </a:solidFill>
          <a:ln w="12700">
            <a:solidFill>
              <a:schemeClr val="accent1"/>
            </a:solidFill>
            <a:prstDash val="solid"/>
          </a:ln>
        </p:spPr>
      </p:sp>
      <p:pic>
        <p:nvPicPr>
          <p:cNvPr id="26" name="icon-FaVial" descr="FaVial">    </p:cNvPr>
          <p:cNvPicPr>
            <a:picLocks noChangeAspect="1"/>
          </p:cNvPicPr>
          <p:nvPr/>
        </p:nvPicPr>
        <p:blipFill>
          <a:blip r:embed="rId5"/>
          <a:stretch>
            <a:fillRect/>
          </a:stretch>
        </p:blipFill>
        <p:spPr>
          <a:xfrm>
            <a:off x="10426720" y="1712488"/>
            <a:ext cx="342351" cy="342351"/>
          </a:xfrm>
          <a:prstGeom prst="rect">
            <a:avLst/>
          </a:prstGeom>
        </p:spPr>
      </p:pic>
      <p:sp>
        <p:nvSpPr>
          <p:cNvPr id="27" name="Text 19"/>
          <p:cNvSpPr txBox="1"/>
          <p:nvPr/>
        </p:nvSpPr>
        <p:spPr>
          <a:xfrm>
            <a:off x="9674352" y="2286000"/>
            <a:ext cx="1874520" cy="777240"/>
          </a:xfrm>
          <a:prstGeom prst="rect">
            <a:avLst/>
          </a:prstGeom>
          <a:noFill/>
          <a:ln/>
        </p:spPr>
        <p:txBody>
          <a:bodyPr wrap="square" lIns="0" tIns="0" rIns="0" bIns="0" rtlCol="0" anchor="t"/>
          <a:lstStyle/>
          <a:p>
            <a:pPr algn="ctr" indent="0" marL="0">
              <a:buNone/>
            </a:pPr>
            <a:r>
              <a:rPr lang="en-US" sz="1600" b="1" dirty="0">
                <a:solidFill>
                  <a:schemeClr val="tx1"/>
                </a:solidFill>
              </a:rPr>
              <a:t>Pilot + calibrate</a:t>
            </a:r>
            <a:endParaRPr lang="en-US" sz="1600" dirty="0"/>
          </a:p>
          <a:p>
            <a:pPr algn="ctr" indent="0" marL="0">
              <a:buNone/>
            </a:pPr>
            <a:r>
              <a:rPr lang="en-US" sz="1300" dirty="0">
                <a:solidFill>
                  <a:schemeClr val="tx1"/>
                </a:solidFill>
              </a:rPr>
              <a:t>simulations, nulls, GPU</a:t>
            </a:r>
            <a:endParaRPr lang="en-US" sz="1600" dirty="0"/>
          </a:p>
        </p:txBody>
      </p:sp>
      <p:sp>
        <p:nvSpPr>
          <p:cNvPr id="28" name="arrow"/>
          <p:cNvSpPr/>
          <p:nvPr/>
        </p:nvSpPr>
        <p:spPr>
          <a:xfrm>
            <a:off x="10611612" y="3154680"/>
            <a:ext cx="914" cy="457200"/>
          </a:xfrm>
          <a:prstGeom prst="line">
            <a:avLst/>
          </a:prstGeom>
          <a:noFill/>
          <a:ln w="25400">
            <a:solidFill>
              <a:schemeClr val="tx2"/>
            </a:solidFill>
            <a:prstDash val="solid"/>
            <a:tailEnd type="triangle"/>
          </a:ln>
        </p:spPr>
      </p:sp>
      <p:sp>
        <p:nvSpPr>
          <p:cNvPr id="29" name="flow-step"/>
          <p:cNvSpPr/>
          <p:nvPr/>
        </p:nvSpPr>
        <p:spPr>
          <a:xfrm>
            <a:off x="9582912" y="3657600"/>
            <a:ext cx="2057400" cy="1691640"/>
          </a:xfrm>
          <a:prstGeom prst="roundRect">
            <a:avLst>
              <a:gd name="adj" fmla="val 6486"/>
            </a:avLst>
          </a:prstGeom>
          <a:solidFill>
            <a:schemeClr val="bg2"/>
          </a:solidFill>
          <a:ln w="12700">
            <a:solidFill>
              <a:schemeClr val="bg2"/>
            </a:solidFill>
            <a:prstDash val="solid"/>
          </a:ln>
        </p:spPr>
      </p:sp>
      <p:sp>
        <p:nvSpPr>
          <p:cNvPr id="30" name="icon-circle-FaCogs"/>
          <p:cNvSpPr/>
          <p:nvPr/>
        </p:nvSpPr>
        <p:spPr>
          <a:xfrm>
            <a:off x="10268712" y="3794760"/>
            <a:ext cx="658368" cy="658368"/>
          </a:xfrm>
          <a:prstGeom prst="ellipse">
            <a:avLst/>
          </a:prstGeom>
          <a:solidFill>
            <a:schemeClr val="accent1"/>
          </a:solidFill>
          <a:ln w="12700">
            <a:solidFill>
              <a:schemeClr val="accent1"/>
            </a:solidFill>
            <a:prstDash val="solid"/>
          </a:ln>
        </p:spPr>
      </p:sp>
      <p:pic>
        <p:nvPicPr>
          <p:cNvPr id="31" name="icon-FaCogs" descr="FaCogs">    </p:cNvPr>
          <p:cNvPicPr>
            <a:picLocks noChangeAspect="1"/>
          </p:cNvPicPr>
          <p:nvPr/>
        </p:nvPicPr>
        <p:blipFill>
          <a:blip r:embed="rId6"/>
          <a:stretch>
            <a:fillRect/>
          </a:stretch>
        </p:blipFill>
        <p:spPr>
          <a:xfrm>
            <a:off x="10426720" y="3952768"/>
            <a:ext cx="342351" cy="342351"/>
          </a:xfrm>
          <a:prstGeom prst="rect">
            <a:avLst/>
          </a:prstGeom>
        </p:spPr>
      </p:pic>
      <p:sp>
        <p:nvSpPr>
          <p:cNvPr id="32" name="Text 23"/>
          <p:cNvSpPr txBox="1"/>
          <p:nvPr/>
        </p:nvSpPr>
        <p:spPr>
          <a:xfrm>
            <a:off x="9674352" y="4526280"/>
            <a:ext cx="1874520" cy="777240"/>
          </a:xfrm>
          <a:prstGeom prst="rect">
            <a:avLst/>
          </a:prstGeom>
          <a:noFill/>
          <a:ln/>
        </p:spPr>
        <p:txBody>
          <a:bodyPr wrap="square" lIns="0" tIns="0" rIns="0" bIns="0" rtlCol="0" anchor="t"/>
          <a:lstStyle/>
          <a:p>
            <a:pPr algn="ctr" indent="0" marL="0">
              <a:buNone/>
            </a:pPr>
            <a:r>
              <a:rPr lang="en-US" sz="1600" b="1" dirty="0">
                <a:solidFill>
                  <a:schemeClr val="tx1"/>
                </a:solidFill>
              </a:rPr>
              <a:t>Run</a:t>
            </a:r>
            <a:endParaRPr lang="en-US" sz="1600" dirty="0"/>
          </a:p>
          <a:p>
            <a:pPr algn="ctr" indent="0" marL="0">
              <a:buNone/>
            </a:pPr>
            <a:r>
              <a:rPr lang="en-US" sz="1300" dirty="0">
                <a:solidFill>
                  <a:schemeClr val="tx1"/>
                </a:solidFill>
              </a:rPr>
              <a:t>Ancestra + tests</a:t>
            </a:r>
            <a:endParaRPr lang="en-US" sz="1600" dirty="0"/>
          </a:p>
        </p:txBody>
      </p:sp>
      <p:sp>
        <p:nvSpPr>
          <p:cNvPr id="33" name="arrow"/>
          <p:cNvSpPr/>
          <p:nvPr/>
        </p:nvSpPr>
        <p:spPr>
          <a:xfrm flipH="1">
            <a:off x="9400032" y="4498848"/>
            <a:ext cx="164592" cy="914"/>
          </a:xfrm>
          <a:prstGeom prst="line">
            <a:avLst/>
          </a:prstGeom>
          <a:noFill/>
          <a:ln w="25400">
            <a:solidFill>
              <a:schemeClr val="tx2"/>
            </a:solidFill>
            <a:prstDash val="solid"/>
            <a:tailEnd type="triangle"/>
          </a:ln>
        </p:spPr>
      </p:sp>
      <p:sp>
        <p:nvSpPr>
          <p:cNvPr id="34" name="flow-step"/>
          <p:cNvSpPr/>
          <p:nvPr/>
        </p:nvSpPr>
        <p:spPr>
          <a:xfrm>
            <a:off x="7324344" y="3657600"/>
            <a:ext cx="2057400" cy="1691640"/>
          </a:xfrm>
          <a:prstGeom prst="roundRect">
            <a:avLst>
              <a:gd name="adj" fmla="val 6486"/>
            </a:avLst>
          </a:prstGeom>
          <a:solidFill>
            <a:schemeClr val="accent4"/>
          </a:solidFill>
          <a:ln w="12700">
            <a:solidFill>
              <a:schemeClr val="accent4"/>
            </a:solidFill>
            <a:prstDash val="solid"/>
          </a:ln>
        </p:spPr>
      </p:sp>
      <p:sp>
        <p:nvSpPr>
          <p:cNvPr id="35" name="icon-circle-FaCheckDouble"/>
          <p:cNvSpPr/>
          <p:nvPr/>
        </p:nvSpPr>
        <p:spPr>
          <a:xfrm>
            <a:off x="8010144" y="3794760"/>
            <a:ext cx="658368" cy="658368"/>
          </a:xfrm>
          <a:prstGeom prst="ellipse">
            <a:avLst/>
          </a:prstGeom>
          <a:solidFill>
            <a:schemeClr val="tx2"/>
          </a:solidFill>
          <a:ln w="12700">
            <a:solidFill>
              <a:schemeClr val="tx2"/>
            </a:solidFill>
            <a:prstDash val="solid"/>
          </a:ln>
        </p:spPr>
      </p:sp>
      <p:pic>
        <p:nvPicPr>
          <p:cNvPr id="36" name="icon-FaCheckDouble" descr="FaCheckDouble">    </p:cNvPr>
          <p:cNvPicPr>
            <a:picLocks noChangeAspect="1"/>
          </p:cNvPicPr>
          <p:nvPr/>
        </p:nvPicPr>
        <p:blipFill>
          <a:blip r:embed="rId7"/>
          <a:stretch>
            <a:fillRect/>
          </a:stretch>
        </p:blipFill>
        <p:spPr>
          <a:xfrm>
            <a:off x="8168152" y="3952768"/>
            <a:ext cx="342351" cy="342351"/>
          </a:xfrm>
          <a:prstGeom prst="rect">
            <a:avLst/>
          </a:prstGeom>
        </p:spPr>
      </p:pic>
      <p:sp>
        <p:nvSpPr>
          <p:cNvPr id="37" name="Text 27"/>
          <p:cNvSpPr txBox="1"/>
          <p:nvPr/>
        </p:nvSpPr>
        <p:spPr>
          <a:xfrm>
            <a:off x="7415784" y="4526280"/>
            <a:ext cx="1874520" cy="777240"/>
          </a:xfrm>
          <a:prstGeom prst="rect">
            <a:avLst/>
          </a:prstGeom>
          <a:noFill/>
          <a:ln/>
        </p:spPr>
        <p:txBody>
          <a:bodyPr wrap="square" lIns="0" tIns="0" rIns="0" bIns="0" rtlCol="0" anchor="t"/>
          <a:lstStyle/>
          <a:p>
            <a:pPr algn="ctr" indent="0" marL="0">
              <a:buNone/>
            </a:pPr>
            <a:r>
              <a:rPr lang="en-US" sz="1600" b="1" dirty="0">
                <a:solidFill>
                  <a:schemeClr val="bg1"/>
                </a:solidFill>
              </a:rPr>
              <a:t>Verify</a:t>
            </a:r>
            <a:endParaRPr lang="en-US" sz="1600" dirty="0"/>
          </a:p>
          <a:p>
            <a:pPr algn="ctr" indent="0" marL="0">
              <a:buNone/>
            </a:pPr>
            <a:r>
              <a:rPr lang="en-US" sz="1300" dirty="0">
                <a:solidFill>
                  <a:schemeClr val="bg1"/>
                </a:solidFill>
              </a:rPr>
              <a:t>independent agent</a:t>
            </a:r>
            <a:endParaRPr lang="en-US" sz="1600" dirty="0"/>
          </a:p>
        </p:txBody>
      </p:sp>
      <p:sp>
        <p:nvSpPr>
          <p:cNvPr id="38" name="arrow"/>
          <p:cNvSpPr/>
          <p:nvPr/>
        </p:nvSpPr>
        <p:spPr>
          <a:xfrm flipH="1">
            <a:off x="7141464" y="4498848"/>
            <a:ext cx="164592" cy="914"/>
          </a:xfrm>
          <a:prstGeom prst="line">
            <a:avLst/>
          </a:prstGeom>
          <a:noFill/>
          <a:ln w="25400">
            <a:solidFill>
              <a:schemeClr val="tx2"/>
            </a:solidFill>
            <a:prstDash val="solid"/>
            <a:tailEnd type="triangle"/>
          </a:ln>
        </p:spPr>
      </p:sp>
      <p:sp>
        <p:nvSpPr>
          <p:cNvPr id="39" name="flow-step"/>
          <p:cNvSpPr/>
          <p:nvPr/>
        </p:nvSpPr>
        <p:spPr>
          <a:xfrm>
            <a:off x="5065776" y="3657600"/>
            <a:ext cx="2057400" cy="1691640"/>
          </a:xfrm>
          <a:prstGeom prst="roundRect">
            <a:avLst>
              <a:gd name="adj" fmla="val 6486"/>
            </a:avLst>
          </a:prstGeom>
          <a:solidFill>
            <a:schemeClr val="accent4"/>
          </a:solidFill>
          <a:ln w="12700">
            <a:solidFill>
              <a:schemeClr val="accent4"/>
            </a:solidFill>
            <a:prstDash val="solid"/>
          </a:ln>
        </p:spPr>
      </p:sp>
      <p:sp>
        <p:nvSpPr>
          <p:cNvPr id="40" name="icon-circle-FaUserTie"/>
          <p:cNvSpPr/>
          <p:nvPr/>
        </p:nvSpPr>
        <p:spPr>
          <a:xfrm>
            <a:off x="5751576" y="3794760"/>
            <a:ext cx="658368" cy="658368"/>
          </a:xfrm>
          <a:prstGeom prst="ellipse">
            <a:avLst/>
          </a:prstGeom>
          <a:solidFill>
            <a:schemeClr val="tx2"/>
          </a:solidFill>
          <a:ln w="12700">
            <a:solidFill>
              <a:schemeClr val="tx2"/>
            </a:solidFill>
            <a:prstDash val="solid"/>
          </a:ln>
        </p:spPr>
      </p:sp>
      <p:pic>
        <p:nvPicPr>
          <p:cNvPr id="41" name="icon-FaUserTie" descr="FaUserTie">    </p:cNvPr>
          <p:cNvPicPr>
            <a:picLocks noChangeAspect="1"/>
          </p:cNvPicPr>
          <p:nvPr/>
        </p:nvPicPr>
        <p:blipFill>
          <a:blip r:embed="rId8"/>
          <a:stretch>
            <a:fillRect/>
          </a:stretch>
        </p:blipFill>
        <p:spPr>
          <a:xfrm>
            <a:off x="5909584" y="3952768"/>
            <a:ext cx="342351" cy="342351"/>
          </a:xfrm>
          <a:prstGeom prst="rect">
            <a:avLst/>
          </a:prstGeom>
        </p:spPr>
      </p:pic>
      <p:sp>
        <p:nvSpPr>
          <p:cNvPr id="42" name="Text 31"/>
          <p:cNvSpPr txBox="1"/>
          <p:nvPr/>
        </p:nvSpPr>
        <p:spPr>
          <a:xfrm>
            <a:off x="5157216" y="4526280"/>
            <a:ext cx="1874520" cy="777240"/>
          </a:xfrm>
          <a:prstGeom prst="rect">
            <a:avLst/>
          </a:prstGeom>
          <a:noFill/>
          <a:ln/>
        </p:spPr>
        <p:txBody>
          <a:bodyPr wrap="square" lIns="0" tIns="0" rIns="0" bIns="0" rtlCol="0" anchor="t"/>
          <a:lstStyle/>
          <a:p>
            <a:pPr algn="ctr" indent="0" marL="0">
              <a:buNone/>
            </a:pPr>
            <a:r>
              <a:rPr lang="en-US" sz="1600" b="1" dirty="0">
                <a:solidFill>
                  <a:schemeClr val="bg1"/>
                </a:solidFill>
              </a:rPr>
              <a:t>External review</a:t>
            </a:r>
            <a:endParaRPr lang="en-US" sz="1600" dirty="0"/>
          </a:p>
          <a:p>
            <a:pPr algn="ctr" indent="0" marL="0">
              <a:buNone/>
            </a:pPr>
            <a:r>
              <a:rPr lang="en-US" sz="1300" dirty="0">
                <a:solidFill>
                  <a:schemeClr val="bg1"/>
                </a:solidFill>
              </a:rPr>
              <a:t>department head</a:t>
            </a:r>
            <a:endParaRPr lang="en-US" sz="1600" dirty="0"/>
          </a:p>
        </p:txBody>
      </p:sp>
      <p:sp>
        <p:nvSpPr>
          <p:cNvPr id="43" name="arrow"/>
          <p:cNvSpPr/>
          <p:nvPr/>
        </p:nvSpPr>
        <p:spPr>
          <a:xfrm flipH="1">
            <a:off x="4882896" y="4498848"/>
            <a:ext cx="164592" cy="914"/>
          </a:xfrm>
          <a:prstGeom prst="line">
            <a:avLst/>
          </a:prstGeom>
          <a:noFill/>
          <a:ln w="25400">
            <a:solidFill>
              <a:schemeClr val="tx2"/>
            </a:solidFill>
            <a:prstDash val="solid"/>
            <a:tailEnd type="triangle"/>
          </a:ln>
        </p:spPr>
      </p:sp>
      <p:sp>
        <p:nvSpPr>
          <p:cNvPr id="44" name="flow-step"/>
          <p:cNvSpPr/>
          <p:nvPr/>
        </p:nvSpPr>
        <p:spPr>
          <a:xfrm>
            <a:off x="2807208" y="3657600"/>
            <a:ext cx="2057400" cy="1691640"/>
          </a:xfrm>
          <a:prstGeom prst="roundRect">
            <a:avLst>
              <a:gd name="adj" fmla="val 6486"/>
            </a:avLst>
          </a:prstGeom>
          <a:solidFill>
            <a:schemeClr val="bg2"/>
          </a:solidFill>
          <a:ln w="12700">
            <a:solidFill>
              <a:schemeClr val="bg2"/>
            </a:solidFill>
            <a:prstDash val="solid"/>
          </a:ln>
        </p:spPr>
      </p:sp>
      <p:sp>
        <p:nvSpPr>
          <p:cNvPr id="45" name="icon-circle-FaClipboardCheck"/>
          <p:cNvSpPr/>
          <p:nvPr/>
        </p:nvSpPr>
        <p:spPr>
          <a:xfrm>
            <a:off x="3493008" y="3794760"/>
            <a:ext cx="658368" cy="658368"/>
          </a:xfrm>
          <a:prstGeom prst="ellipse">
            <a:avLst/>
          </a:prstGeom>
          <a:solidFill>
            <a:schemeClr val="accent1"/>
          </a:solidFill>
          <a:ln w="12700">
            <a:solidFill>
              <a:schemeClr val="accent1"/>
            </a:solidFill>
            <a:prstDash val="solid"/>
          </a:ln>
        </p:spPr>
      </p:sp>
      <p:pic>
        <p:nvPicPr>
          <p:cNvPr id="46" name="icon-FaClipboardCheck" descr="FaClipboardCheck">    </p:cNvPr>
          <p:cNvPicPr>
            <a:picLocks noChangeAspect="1"/>
          </p:cNvPicPr>
          <p:nvPr/>
        </p:nvPicPr>
        <p:blipFill>
          <a:blip r:embed="rId9"/>
          <a:stretch>
            <a:fillRect/>
          </a:stretch>
        </p:blipFill>
        <p:spPr>
          <a:xfrm>
            <a:off x="3651016" y="3952768"/>
            <a:ext cx="342351" cy="342351"/>
          </a:xfrm>
          <a:prstGeom prst="rect">
            <a:avLst/>
          </a:prstGeom>
        </p:spPr>
      </p:pic>
      <p:sp>
        <p:nvSpPr>
          <p:cNvPr id="47" name="Text 35"/>
          <p:cNvSpPr txBox="1"/>
          <p:nvPr/>
        </p:nvSpPr>
        <p:spPr>
          <a:xfrm>
            <a:off x="2898648" y="4526280"/>
            <a:ext cx="1874520" cy="777240"/>
          </a:xfrm>
          <a:prstGeom prst="rect">
            <a:avLst/>
          </a:prstGeom>
          <a:noFill/>
          <a:ln/>
        </p:spPr>
        <p:txBody>
          <a:bodyPr wrap="square" lIns="0" tIns="0" rIns="0" bIns="0" rtlCol="0" anchor="t"/>
          <a:lstStyle/>
          <a:p>
            <a:pPr algn="ctr" indent="0" marL="0">
              <a:buNone/>
            </a:pPr>
            <a:r>
              <a:rPr lang="en-US" sz="1600" b="1" dirty="0">
                <a:solidFill>
                  <a:schemeClr val="tx1"/>
                </a:solidFill>
              </a:rPr>
              <a:t>Audit + report</a:t>
            </a:r>
            <a:endParaRPr lang="en-US" sz="1600" dirty="0"/>
          </a:p>
          <a:p>
            <a:pPr algn="ctr" indent="0" marL="0">
              <a:buNone/>
            </a:pPr>
            <a:r>
              <a:rPr lang="en-US" sz="1300" dirty="0">
                <a:solidFill>
                  <a:schemeClr val="tx1"/>
                </a:solidFill>
              </a:rPr>
              <a:t>numbers, citations</a:t>
            </a:r>
            <a:endParaRPr lang="en-US" sz="1600" dirty="0"/>
          </a:p>
        </p:txBody>
      </p:sp>
      <p:sp>
        <p:nvSpPr>
          <p:cNvPr id="48" name="round2-loop"/>
          <p:cNvSpPr/>
          <p:nvPr/>
        </p:nvSpPr>
        <p:spPr>
          <a:xfrm>
            <a:off x="548640" y="3657600"/>
            <a:ext cx="2057400" cy="1691640"/>
          </a:xfrm>
          <a:prstGeom prst="roundRect">
            <a:avLst>
              <a:gd name="adj" fmla="val 6486"/>
            </a:avLst>
          </a:prstGeom>
          <a:solidFill>
            <a:schemeClr val="tx2"/>
          </a:solidFill>
          <a:ln w="12700">
            <a:solidFill>
              <a:schemeClr val="tx2"/>
            </a:solidFill>
            <a:prstDash val="solid"/>
          </a:ln>
        </p:spPr>
      </p:sp>
      <p:sp>
        <p:nvSpPr>
          <p:cNvPr id="49" name="icon-circle-FaRedo"/>
          <p:cNvSpPr/>
          <p:nvPr/>
        </p:nvSpPr>
        <p:spPr>
          <a:xfrm>
            <a:off x="1234440" y="3794760"/>
            <a:ext cx="658368" cy="658368"/>
          </a:xfrm>
          <a:prstGeom prst="ellipse">
            <a:avLst/>
          </a:prstGeom>
          <a:solidFill>
            <a:schemeClr val="accent5"/>
          </a:solidFill>
          <a:ln w="12700">
            <a:solidFill>
              <a:schemeClr val="accent5"/>
            </a:solidFill>
            <a:prstDash val="solid"/>
          </a:ln>
        </p:spPr>
      </p:sp>
      <p:pic>
        <p:nvPicPr>
          <p:cNvPr id="50" name="icon-FaRedo" descr="FaRedo">    </p:cNvPr>
          <p:cNvPicPr>
            <a:picLocks noChangeAspect="1"/>
          </p:cNvPicPr>
          <p:nvPr/>
        </p:nvPicPr>
        <p:blipFill>
          <a:blip r:embed="rId10"/>
          <a:stretch>
            <a:fillRect/>
          </a:stretch>
        </p:blipFill>
        <p:spPr>
          <a:xfrm>
            <a:off x="1392448" y="3952768"/>
            <a:ext cx="342351" cy="342351"/>
          </a:xfrm>
          <a:prstGeom prst="rect">
            <a:avLst/>
          </a:prstGeom>
        </p:spPr>
      </p:pic>
      <p:sp>
        <p:nvSpPr>
          <p:cNvPr id="51" name="Text 38"/>
          <p:cNvSpPr txBox="1"/>
          <p:nvPr/>
        </p:nvSpPr>
        <p:spPr>
          <a:xfrm>
            <a:off x="640080" y="4526280"/>
            <a:ext cx="1874520" cy="777240"/>
          </a:xfrm>
          <a:prstGeom prst="rect">
            <a:avLst/>
          </a:prstGeom>
          <a:noFill/>
          <a:ln/>
        </p:spPr>
        <p:txBody>
          <a:bodyPr wrap="square" lIns="0" tIns="0" rIns="0" bIns="0" rtlCol="0" anchor="t"/>
          <a:lstStyle/>
          <a:p>
            <a:pPr algn="ctr" indent="0" marL="0">
              <a:buNone/>
            </a:pPr>
            <a:r>
              <a:rPr lang="en-US" sz="1600" b="1" dirty="0">
                <a:solidFill>
                  <a:schemeClr val="bg1"/>
                </a:solidFill>
              </a:rPr>
              <a:t>Round 2</a:t>
            </a:r>
            <a:endParaRPr lang="en-US" sz="1600" dirty="0"/>
          </a:p>
          <a:p>
            <a:pPr algn="ctr" indent="0" marL="0">
              <a:buNone/>
            </a:pPr>
            <a:r>
              <a:rPr lang="en-US" sz="1300" dirty="0">
                <a:solidFill>
                  <a:schemeClr val="bg1"/>
                </a:solidFill>
              </a:rPr>
              <a:t>review → new design</a:t>
            </a:r>
            <a:endParaRPr lang="en-US" sz="1600" dirty="0"/>
          </a:p>
        </p:txBody>
      </p:sp>
      <p:sp>
        <p:nvSpPr>
          <p:cNvPr id="52" name="arrow"/>
          <p:cNvSpPr/>
          <p:nvPr/>
        </p:nvSpPr>
        <p:spPr>
          <a:xfrm flipV="1">
            <a:off x="1577340" y="3154680"/>
            <a:ext cx="914" cy="475488"/>
          </a:xfrm>
          <a:prstGeom prst="line">
            <a:avLst/>
          </a:prstGeom>
          <a:noFill/>
          <a:ln w="31750">
            <a:solidFill>
              <a:schemeClr val="accent5"/>
            </a:solidFill>
            <a:prstDash val="solid"/>
            <a:tailEnd type="triangle"/>
          </a:ln>
        </p:spPr>
      </p:sp>
      <p:sp>
        <p:nvSpPr>
          <p:cNvPr id="53" name="Text 40"/>
          <p:cNvSpPr txBox="1"/>
          <p:nvPr/>
        </p:nvSpPr>
        <p:spPr>
          <a:xfrm>
            <a:off x="548640" y="571500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Red: steps done by agents that did not produce the result.</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Key decisions, round 1</a:t>
            </a:r>
            <a:endParaRPr lang="en-US" sz="3200" dirty="0"/>
          </a:p>
        </p:txBody>
      </p:sp>
      <p:sp>
        <p:nvSpPr>
          <p:cNvPr id="4" name="Text 1"/>
          <p:cNvSpPr txBox="1"/>
          <p:nvPr/>
        </p:nvSpPr>
        <p:spPr>
          <a:xfrm>
            <a:off x="548640" y="1234440"/>
            <a:ext cx="3520440" cy="365760"/>
          </a:xfrm>
          <a:prstGeom prst="rect">
            <a:avLst/>
          </a:prstGeom>
          <a:noFill/>
          <a:ln/>
        </p:spPr>
        <p:txBody>
          <a:bodyPr wrap="square" lIns="0" tIns="0" rIns="0" bIns="0" rtlCol="0" anchor="t"/>
          <a:lstStyle/>
          <a:p>
            <a:pPr indent="0" marL="0">
              <a:buNone/>
            </a:pPr>
            <a:r>
              <a:rPr lang="en-US" sz="1400" b="1" dirty="0">
                <a:solidFill>
                  <a:schemeClr val="accent4"/>
                </a:solidFill>
              </a:rPr>
              <a:t>1 · Separate runs</a:t>
            </a:r>
            <a:endParaRPr lang="en-US" sz="1400" dirty="0"/>
          </a:p>
        </p:txBody>
      </p:sp>
      <p:sp>
        <p:nvSpPr>
          <p:cNvPr id="5" name="observed"/>
          <p:cNvSpPr/>
          <p:nvPr/>
        </p:nvSpPr>
        <p:spPr>
          <a:xfrm>
            <a:off x="548640" y="1645920"/>
            <a:ext cx="3520440" cy="1325880"/>
          </a:xfrm>
          <a:prstGeom prst="roundRect">
            <a:avLst>
              <a:gd name="adj" fmla="val 8276"/>
            </a:avLst>
          </a:prstGeom>
          <a:solidFill>
            <a:schemeClr val="bg2"/>
          </a:solidFill>
          <a:ln w="12700">
            <a:solidFill>
              <a:schemeClr val="bg2"/>
            </a:solidFill>
            <a:prstDash val="solid"/>
          </a:ln>
        </p:spPr>
      </p:sp>
      <p:sp>
        <p:nvSpPr>
          <p:cNvPr id="6" name="Text 3"/>
          <p:cNvSpPr txBox="1"/>
          <p:nvPr/>
        </p:nvSpPr>
        <p:spPr>
          <a:xfrm>
            <a:off x="731520" y="1691640"/>
            <a:ext cx="3154680" cy="1234440"/>
          </a:xfrm>
          <a:prstGeom prst="rect">
            <a:avLst/>
          </a:prstGeom>
          <a:noFill/>
          <a:ln/>
        </p:spPr>
        <p:txBody>
          <a:bodyPr wrap="square" lIns="0" tIns="0" rIns="0" bIns="0" rtlCol="0" anchor="ctr"/>
          <a:lstStyle/>
          <a:p>
            <a:pPr indent="0" marL="0">
              <a:buNone/>
            </a:pPr>
            <a:r>
              <a:rPr lang="en-US" sz="1500" b="1" dirty="0">
                <a:solidFill>
                  <a:schemeClr val="tx2"/>
                </a:solidFill>
              </a:rPr>
              <a:t>Observed  </a:t>
            </a:r>
            <a:pPr indent="0" marL="0">
              <a:buNone/>
            </a:pPr>
            <a:r>
              <a:rPr lang="en-US" sz="1500" dirty="0">
                <a:solidFill>
                  <a:schemeClr val="tx1"/>
                </a:solidFill>
              </a:rPr>
              <a:t>Orthology across bacteria and eukaryotes adds cost; no transition spans both</a:t>
            </a:r>
            <a:endParaRPr lang="en-US" sz="1500" dirty="0"/>
          </a:p>
        </p:txBody>
      </p:sp>
      <p:sp>
        <p:nvSpPr>
          <p:cNvPr id="7" name="arrow"/>
          <p:cNvSpPr/>
          <p:nvPr/>
        </p:nvSpPr>
        <p:spPr>
          <a:xfrm>
            <a:off x="2308860" y="2999232"/>
            <a:ext cx="914" cy="365760"/>
          </a:xfrm>
          <a:prstGeom prst="line">
            <a:avLst/>
          </a:prstGeom>
          <a:noFill/>
          <a:ln w="31750">
            <a:solidFill>
              <a:schemeClr val="tx2"/>
            </a:solidFill>
            <a:prstDash val="solid"/>
            <a:tailEnd type="triangle"/>
          </a:ln>
        </p:spPr>
      </p:sp>
      <p:sp>
        <p:nvSpPr>
          <p:cNvPr id="8" name="decided"/>
          <p:cNvSpPr/>
          <p:nvPr/>
        </p:nvSpPr>
        <p:spPr>
          <a:xfrm>
            <a:off x="548640" y="3401568"/>
            <a:ext cx="3520440" cy="1325880"/>
          </a:xfrm>
          <a:prstGeom prst="roundRect">
            <a:avLst>
              <a:gd name="adj" fmla="val 8276"/>
            </a:avLst>
          </a:prstGeom>
          <a:solidFill>
            <a:schemeClr val="accent1"/>
          </a:solidFill>
          <a:ln w="12700">
            <a:solidFill>
              <a:schemeClr val="accent1"/>
            </a:solidFill>
            <a:prstDash val="solid"/>
          </a:ln>
        </p:spPr>
      </p:sp>
      <p:sp>
        <p:nvSpPr>
          <p:cNvPr id="9" name="Text 6"/>
          <p:cNvSpPr txBox="1"/>
          <p:nvPr/>
        </p:nvSpPr>
        <p:spPr>
          <a:xfrm>
            <a:off x="731520" y="3447288"/>
            <a:ext cx="3154680" cy="1234440"/>
          </a:xfrm>
          <a:prstGeom prst="rect">
            <a:avLst/>
          </a:prstGeom>
          <a:noFill/>
          <a:ln/>
        </p:spPr>
        <p:txBody>
          <a:bodyPr wrap="square" lIns="0" tIns="0" rIns="0" bIns="0" rtlCol="0" anchor="ctr"/>
          <a:lstStyle/>
          <a:p>
            <a:pPr indent="0" marL="0">
              <a:buNone/>
            </a:pPr>
            <a:r>
              <a:rPr lang="en-US" sz="1500" b="1" dirty="0">
                <a:solidFill>
                  <a:schemeClr val="bg1"/>
                </a:solidFill>
              </a:rPr>
              <a:t>Decided  </a:t>
            </a:r>
            <a:pPr indent="0" marL="0">
              <a:buNone/>
            </a:pPr>
            <a:r>
              <a:rPr lang="en-US" sz="1500" dirty="0">
                <a:solidFill>
                  <a:schemeClr val="bg1"/>
                </a:solidFill>
              </a:rPr>
              <a:t>Separate eukaryote and prokaryote Ancestra runs</a:t>
            </a:r>
            <a:endParaRPr lang="en-US" sz="1500" dirty="0"/>
          </a:p>
        </p:txBody>
      </p:sp>
      <p:sp>
        <p:nvSpPr>
          <p:cNvPr id="10" name="arrow"/>
          <p:cNvSpPr/>
          <p:nvPr/>
        </p:nvSpPr>
        <p:spPr>
          <a:xfrm>
            <a:off x="2308860" y="4754880"/>
            <a:ext cx="914" cy="365760"/>
          </a:xfrm>
          <a:prstGeom prst="line">
            <a:avLst/>
          </a:prstGeom>
          <a:noFill/>
          <a:ln w="31750">
            <a:solidFill>
              <a:schemeClr val="tx2"/>
            </a:solidFill>
            <a:prstDash val="solid"/>
            <a:tailEnd type="triangle"/>
          </a:ln>
        </p:spPr>
      </p:sp>
      <p:sp>
        <p:nvSpPr>
          <p:cNvPr id="11" name="Text 8"/>
          <p:cNvSpPr txBox="1"/>
          <p:nvPr/>
        </p:nvSpPr>
        <p:spPr>
          <a:xfrm>
            <a:off x="640080" y="5166360"/>
            <a:ext cx="3337560" cy="1005840"/>
          </a:xfrm>
          <a:prstGeom prst="rect">
            <a:avLst/>
          </a:prstGeom>
          <a:noFill/>
          <a:ln/>
        </p:spPr>
        <p:txBody>
          <a:bodyPr wrap="square" lIns="0" tIns="0" rIns="0" bIns="0" rtlCol="0" anchor="t"/>
          <a:lstStyle/>
          <a:p>
            <a:pPr indent="0" marL="0">
              <a:buNone/>
            </a:pPr>
            <a:r>
              <a:rPr lang="en-US" sz="1500" b="1" dirty="0">
                <a:solidFill>
                  <a:schemeClr val="accent1"/>
                </a:solidFill>
              </a:rPr>
              <a:t>Effect  </a:t>
            </a:r>
            <a:pPr indent="0" marL="0">
              <a:buNone/>
            </a:pPr>
            <a:r>
              <a:rPr lang="en-US" sz="1500" dirty="0">
                <a:solidFill>
                  <a:schemeClr val="tx1"/>
                </a:solidFill>
              </a:rPr>
              <a:t>The 1.4 h prokaryote run became the dry run</a:t>
            </a:r>
            <a:endParaRPr lang="en-US" sz="1500" dirty="0"/>
          </a:p>
        </p:txBody>
      </p:sp>
      <p:sp>
        <p:nvSpPr>
          <p:cNvPr id="12" name="Text 9"/>
          <p:cNvSpPr txBox="1"/>
          <p:nvPr/>
        </p:nvSpPr>
        <p:spPr>
          <a:xfrm>
            <a:off x="4297680" y="1234440"/>
            <a:ext cx="3520440" cy="365760"/>
          </a:xfrm>
          <a:prstGeom prst="rect">
            <a:avLst/>
          </a:prstGeom>
          <a:noFill/>
          <a:ln/>
        </p:spPr>
        <p:txBody>
          <a:bodyPr wrap="square" lIns="0" tIns="0" rIns="0" bIns="0" rtlCol="0" anchor="t"/>
          <a:lstStyle/>
          <a:p>
            <a:pPr indent="0" marL="0">
              <a:buNone/>
            </a:pPr>
            <a:r>
              <a:rPr lang="en-US" sz="1400" b="1" dirty="0">
                <a:solidFill>
                  <a:schemeClr val="accent4"/>
                </a:solidFill>
              </a:rPr>
              <a:t>2 · Novelty ladder</a:t>
            </a:r>
            <a:endParaRPr lang="en-US" sz="1400" dirty="0"/>
          </a:p>
        </p:txBody>
      </p:sp>
      <p:sp>
        <p:nvSpPr>
          <p:cNvPr id="13" name="observed"/>
          <p:cNvSpPr/>
          <p:nvPr/>
        </p:nvSpPr>
        <p:spPr>
          <a:xfrm>
            <a:off x="4297680" y="1645920"/>
            <a:ext cx="3520440" cy="1325880"/>
          </a:xfrm>
          <a:prstGeom prst="roundRect">
            <a:avLst>
              <a:gd name="adj" fmla="val 8276"/>
            </a:avLst>
          </a:prstGeom>
          <a:solidFill>
            <a:schemeClr val="bg2"/>
          </a:solidFill>
          <a:ln w="12700">
            <a:solidFill>
              <a:schemeClr val="bg2"/>
            </a:solidFill>
            <a:prstDash val="solid"/>
          </a:ln>
        </p:spPr>
      </p:sp>
      <p:sp>
        <p:nvSpPr>
          <p:cNvPr id="14" name="Text 11"/>
          <p:cNvSpPr txBox="1"/>
          <p:nvPr/>
        </p:nvSpPr>
        <p:spPr>
          <a:xfrm>
            <a:off x="4480560" y="1691640"/>
            <a:ext cx="3154680" cy="1234440"/>
          </a:xfrm>
          <a:prstGeom prst="rect">
            <a:avLst/>
          </a:prstGeom>
          <a:noFill/>
          <a:ln/>
        </p:spPr>
        <p:txBody>
          <a:bodyPr wrap="square" lIns="0" tIns="0" rIns="0" bIns="0" rtlCol="0" anchor="ctr"/>
          <a:lstStyle/>
          <a:p>
            <a:pPr indent="0" marL="0">
              <a:buNone/>
            </a:pPr>
            <a:r>
              <a:rPr lang="en-US" sz="1500" b="1" dirty="0">
                <a:solidFill>
                  <a:schemeClr val="tx2"/>
                </a:solidFill>
              </a:rPr>
              <a:t>Observed  </a:t>
            </a:r>
            <a:pPr indent="0" marL="0">
              <a:buNone/>
            </a:pPr>
            <a:r>
              <a:rPr lang="en-US" sz="1500" dirty="0">
                <a:solidFill>
                  <a:schemeClr val="tx1"/>
                </a:solidFill>
              </a:rPr>
              <a:t>Simulations: raw gene gains inflated 2.1–2.6×</a:t>
            </a:r>
            <a:endParaRPr lang="en-US" sz="1500" dirty="0"/>
          </a:p>
        </p:txBody>
      </p:sp>
      <p:sp>
        <p:nvSpPr>
          <p:cNvPr id="15" name="arrow"/>
          <p:cNvSpPr/>
          <p:nvPr/>
        </p:nvSpPr>
        <p:spPr>
          <a:xfrm>
            <a:off x="6057900" y="2999232"/>
            <a:ext cx="914" cy="365760"/>
          </a:xfrm>
          <a:prstGeom prst="line">
            <a:avLst/>
          </a:prstGeom>
          <a:noFill/>
          <a:ln w="31750">
            <a:solidFill>
              <a:schemeClr val="tx2"/>
            </a:solidFill>
            <a:prstDash val="solid"/>
            <a:tailEnd type="triangle"/>
          </a:ln>
        </p:spPr>
      </p:sp>
      <p:sp>
        <p:nvSpPr>
          <p:cNvPr id="16" name="decided"/>
          <p:cNvSpPr/>
          <p:nvPr/>
        </p:nvSpPr>
        <p:spPr>
          <a:xfrm>
            <a:off x="4297680" y="3401568"/>
            <a:ext cx="3520440" cy="1325880"/>
          </a:xfrm>
          <a:prstGeom prst="roundRect">
            <a:avLst>
              <a:gd name="adj" fmla="val 8276"/>
            </a:avLst>
          </a:prstGeom>
          <a:solidFill>
            <a:schemeClr val="accent1"/>
          </a:solidFill>
          <a:ln w="12700">
            <a:solidFill>
              <a:schemeClr val="accent1"/>
            </a:solidFill>
            <a:prstDash val="solid"/>
          </a:ln>
        </p:spPr>
      </p:sp>
      <p:sp>
        <p:nvSpPr>
          <p:cNvPr id="17" name="Text 14"/>
          <p:cNvSpPr txBox="1"/>
          <p:nvPr/>
        </p:nvSpPr>
        <p:spPr>
          <a:xfrm>
            <a:off x="4480560" y="3447288"/>
            <a:ext cx="3154680" cy="1234440"/>
          </a:xfrm>
          <a:prstGeom prst="rect">
            <a:avLst/>
          </a:prstGeom>
          <a:noFill/>
          <a:ln/>
        </p:spPr>
        <p:txBody>
          <a:bodyPr wrap="square" lIns="0" tIns="0" rIns="0" bIns="0" rtlCol="0" anchor="ctr"/>
          <a:lstStyle/>
          <a:p>
            <a:pPr indent="0" marL="0">
              <a:buNone/>
            </a:pPr>
            <a:r>
              <a:rPr lang="en-US" sz="1500" b="1" dirty="0">
                <a:solidFill>
                  <a:schemeClr val="bg1"/>
                </a:solidFill>
              </a:rPr>
              <a:t>Decided  </a:t>
            </a:r>
            <a:pPr indent="0" marL="0">
              <a:buNone/>
            </a:pPr>
            <a:r>
              <a:rPr lang="en-US" sz="1500" dirty="0">
                <a:solidFill>
                  <a:schemeClr val="bg1"/>
                </a:solidFill>
              </a:rPr>
              <a:t>Count only sequence-novel gains; claim a burst only above 2.2×</a:t>
            </a:r>
            <a:endParaRPr lang="en-US" sz="1500" dirty="0"/>
          </a:p>
        </p:txBody>
      </p:sp>
      <p:sp>
        <p:nvSpPr>
          <p:cNvPr id="18" name="arrow"/>
          <p:cNvSpPr/>
          <p:nvPr/>
        </p:nvSpPr>
        <p:spPr>
          <a:xfrm>
            <a:off x="6057900" y="4754880"/>
            <a:ext cx="914" cy="365760"/>
          </a:xfrm>
          <a:prstGeom prst="line">
            <a:avLst/>
          </a:prstGeom>
          <a:noFill/>
          <a:ln w="31750">
            <a:solidFill>
              <a:schemeClr val="tx2"/>
            </a:solidFill>
            <a:prstDash val="solid"/>
            <a:tailEnd type="triangle"/>
          </a:ln>
        </p:spPr>
      </p:sp>
      <p:sp>
        <p:nvSpPr>
          <p:cNvPr id="19" name="Text 16"/>
          <p:cNvSpPr txBox="1"/>
          <p:nvPr/>
        </p:nvSpPr>
        <p:spPr>
          <a:xfrm>
            <a:off x="4389120" y="5166360"/>
            <a:ext cx="3337560" cy="1005840"/>
          </a:xfrm>
          <a:prstGeom prst="rect">
            <a:avLst/>
          </a:prstGeom>
          <a:noFill/>
          <a:ln/>
        </p:spPr>
        <p:txBody>
          <a:bodyPr wrap="square" lIns="0" tIns="0" rIns="0" bIns="0" rtlCol="0" anchor="t"/>
          <a:lstStyle/>
          <a:p>
            <a:pPr indent="0" marL="0">
              <a:buNone/>
            </a:pPr>
            <a:r>
              <a:rPr lang="en-US" sz="1500" b="1" dirty="0">
                <a:solidFill>
                  <a:schemeClr val="accent1"/>
                </a:solidFill>
              </a:rPr>
              <a:t>Effect  </a:t>
            </a:r>
            <a:pPr indent="0" marL="0">
              <a:buNone/>
            </a:pPr>
            <a:r>
              <a:rPr lang="en-US" sz="1500" dirty="0">
                <a:solidFill>
                  <a:schemeClr val="tx1"/>
                </a:solidFill>
              </a:rPr>
              <a:t>Rule fixed before any eukaryote output</a:t>
            </a:r>
            <a:endParaRPr lang="en-US" sz="1500" dirty="0"/>
          </a:p>
        </p:txBody>
      </p:sp>
      <p:sp>
        <p:nvSpPr>
          <p:cNvPr id="20" name="Text 17"/>
          <p:cNvSpPr txBox="1"/>
          <p:nvPr/>
        </p:nvSpPr>
        <p:spPr>
          <a:xfrm>
            <a:off x="8046720" y="1234440"/>
            <a:ext cx="3520440" cy="365760"/>
          </a:xfrm>
          <a:prstGeom prst="rect">
            <a:avLst/>
          </a:prstGeom>
          <a:noFill/>
          <a:ln/>
        </p:spPr>
        <p:txBody>
          <a:bodyPr wrap="square" lIns="0" tIns="0" rIns="0" bIns="0" rtlCol="0" anchor="t"/>
          <a:lstStyle/>
          <a:p>
            <a:pPr indent="0" marL="0">
              <a:buNone/>
            </a:pPr>
            <a:r>
              <a:rPr lang="en-US" sz="1400" b="1" dirty="0">
                <a:solidFill>
                  <a:schemeClr val="accent4"/>
                </a:solidFill>
              </a:rPr>
              <a:t>3 · Calibrated null</a:t>
            </a:r>
            <a:endParaRPr lang="en-US" sz="1400" dirty="0"/>
          </a:p>
        </p:txBody>
      </p:sp>
      <p:sp>
        <p:nvSpPr>
          <p:cNvPr id="21" name="observed"/>
          <p:cNvSpPr/>
          <p:nvPr/>
        </p:nvSpPr>
        <p:spPr>
          <a:xfrm>
            <a:off x="8046720" y="1645920"/>
            <a:ext cx="3520440" cy="1325880"/>
          </a:xfrm>
          <a:prstGeom prst="roundRect">
            <a:avLst>
              <a:gd name="adj" fmla="val 8276"/>
            </a:avLst>
          </a:prstGeom>
          <a:solidFill>
            <a:schemeClr val="bg2"/>
          </a:solidFill>
          <a:ln w="12700">
            <a:solidFill>
              <a:schemeClr val="bg2"/>
            </a:solidFill>
            <a:prstDash val="solid"/>
          </a:ln>
        </p:spPr>
      </p:sp>
      <p:sp>
        <p:nvSpPr>
          <p:cNvPr id="22" name="Text 19"/>
          <p:cNvSpPr txBox="1"/>
          <p:nvPr/>
        </p:nvSpPr>
        <p:spPr>
          <a:xfrm>
            <a:off x="8229600" y="1691640"/>
            <a:ext cx="3154680" cy="1234440"/>
          </a:xfrm>
          <a:prstGeom prst="rect">
            <a:avLst/>
          </a:prstGeom>
          <a:noFill/>
          <a:ln/>
        </p:spPr>
        <p:txBody>
          <a:bodyPr wrap="square" lIns="0" tIns="0" rIns="0" bIns="0" rtlCol="0" anchor="ctr"/>
          <a:lstStyle/>
          <a:p>
            <a:pPr indent="0" marL="0">
              <a:buNone/>
            </a:pPr>
            <a:r>
              <a:rPr lang="en-US" sz="1500" b="1" dirty="0">
                <a:solidFill>
                  <a:schemeClr val="tx2"/>
                </a:solidFill>
              </a:rPr>
              <a:t>Observed  </a:t>
            </a:r>
            <a:pPr indent="0" marL="0">
              <a:buNone/>
            </a:pPr>
            <a:r>
              <a:rPr lang="en-US" sz="1500" dirty="0">
                <a:solidFill>
                  <a:schemeClr val="tx1"/>
                </a:solidFill>
              </a:rPr>
              <a:t>Planned null: 14.5% false positives at α = 0.05 on the real tree</a:t>
            </a:r>
            <a:endParaRPr lang="en-US" sz="1500" dirty="0"/>
          </a:p>
        </p:txBody>
      </p:sp>
      <p:sp>
        <p:nvSpPr>
          <p:cNvPr id="23" name="arrow"/>
          <p:cNvSpPr/>
          <p:nvPr/>
        </p:nvSpPr>
        <p:spPr>
          <a:xfrm>
            <a:off x="9806940" y="2999232"/>
            <a:ext cx="914" cy="365760"/>
          </a:xfrm>
          <a:prstGeom prst="line">
            <a:avLst/>
          </a:prstGeom>
          <a:noFill/>
          <a:ln w="31750">
            <a:solidFill>
              <a:schemeClr val="tx2"/>
            </a:solidFill>
            <a:prstDash val="solid"/>
            <a:tailEnd type="triangle"/>
          </a:ln>
        </p:spPr>
      </p:sp>
      <p:sp>
        <p:nvSpPr>
          <p:cNvPr id="24" name="decided"/>
          <p:cNvSpPr/>
          <p:nvPr/>
        </p:nvSpPr>
        <p:spPr>
          <a:xfrm>
            <a:off x="8046720" y="3401568"/>
            <a:ext cx="3520440" cy="1325880"/>
          </a:xfrm>
          <a:prstGeom prst="roundRect">
            <a:avLst>
              <a:gd name="adj" fmla="val 8276"/>
            </a:avLst>
          </a:prstGeom>
          <a:solidFill>
            <a:schemeClr val="accent1"/>
          </a:solidFill>
          <a:ln w="12700">
            <a:solidFill>
              <a:schemeClr val="accent1"/>
            </a:solidFill>
            <a:prstDash val="solid"/>
          </a:ln>
        </p:spPr>
      </p:sp>
      <p:sp>
        <p:nvSpPr>
          <p:cNvPr id="25" name="Text 22"/>
          <p:cNvSpPr txBox="1"/>
          <p:nvPr/>
        </p:nvSpPr>
        <p:spPr>
          <a:xfrm>
            <a:off x="8229600" y="3447288"/>
            <a:ext cx="3154680" cy="1234440"/>
          </a:xfrm>
          <a:prstGeom prst="rect">
            <a:avLst/>
          </a:prstGeom>
          <a:noFill/>
          <a:ln/>
        </p:spPr>
        <p:txBody>
          <a:bodyPr wrap="square" lIns="0" tIns="0" rIns="0" bIns="0" rtlCol="0" anchor="ctr"/>
          <a:lstStyle/>
          <a:p>
            <a:pPr indent="0" marL="0">
              <a:buNone/>
            </a:pPr>
            <a:r>
              <a:rPr lang="en-US" sz="1500" b="1" dirty="0">
                <a:solidFill>
                  <a:schemeClr val="bg1"/>
                </a:solidFill>
              </a:rPr>
              <a:t>Decided  </a:t>
            </a:r>
            <a:pPr indent="0" marL="0">
              <a:buNone/>
            </a:pPr>
            <a:r>
              <a:rPr lang="en-US" sz="1500" dirty="0">
                <a:solidFill>
                  <a:schemeClr val="bg1"/>
                </a:solidFill>
              </a:rPr>
              <a:t>Calibrated permutation scheme as the primary test</a:t>
            </a:r>
            <a:endParaRPr lang="en-US" sz="1500" dirty="0"/>
          </a:p>
        </p:txBody>
      </p:sp>
      <p:sp>
        <p:nvSpPr>
          <p:cNvPr id="26" name="arrow"/>
          <p:cNvSpPr/>
          <p:nvPr/>
        </p:nvSpPr>
        <p:spPr>
          <a:xfrm>
            <a:off x="9806940" y="4754880"/>
            <a:ext cx="914" cy="365760"/>
          </a:xfrm>
          <a:prstGeom prst="line">
            <a:avLst/>
          </a:prstGeom>
          <a:noFill/>
          <a:ln w="31750">
            <a:solidFill>
              <a:schemeClr val="tx2"/>
            </a:solidFill>
            <a:prstDash val="solid"/>
            <a:tailEnd type="triangle"/>
          </a:ln>
        </p:spPr>
      </p:sp>
      <p:sp>
        <p:nvSpPr>
          <p:cNvPr id="27" name="Text 24"/>
          <p:cNvSpPr txBox="1"/>
          <p:nvPr/>
        </p:nvSpPr>
        <p:spPr>
          <a:xfrm>
            <a:off x="8138160" y="5166360"/>
            <a:ext cx="3337560" cy="1005840"/>
          </a:xfrm>
          <a:prstGeom prst="rect">
            <a:avLst/>
          </a:prstGeom>
          <a:noFill/>
          <a:ln/>
        </p:spPr>
        <p:txBody>
          <a:bodyPr wrap="square" lIns="0" tIns="0" rIns="0" bIns="0" rtlCol="0" anchor="t"/>
          <a:lstStyle/>
          <a:p>
            <a:pPr indent="0" marL="0">
              <a:buNone/>
            </a:pPr>
            <a:r>
              <a:rPr lang="en-US" sz="1500" b="1" dirty="0">
                <a:solidFill>
                  <a:schemeClr val="accent1"/>
                </a:solidFill>
              </a:rPr>
              <a:t>Effect  </a:t>
            </a:r>
            <a:pPr indent="0" marL="0">
              <a:buNone/>
            </a:pPr>
            <a:r>
              <a:rPr lang="en-US" sz="1500" dirty="0">
                <a:solidFill>
                  <a:schemeClr val="tx1"/>
                </a:solidFill>
              </a:rPr>
              <a:t>4.9% false positives: p-values mean what they say</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Key decisions, round 2</a:t>
            </a:r>
            <a:endParaRPr lang="en-US" sz="3200" dirty="0"/>
          </a:p>
        </p:txBody>
      </p:sp>
      <p:sp>
        <p:nvSpPr>
          <p:cNvPr id="4" name="Text 1"/>
          <p:cNvSpPr txBox="1"/>
          <p:nvPr/>
        </p:nvSpPr>
        <p:spPr>
          <a:xfrm>
            <a:off x="548640" y="1234440"/>
            <a:ext cx="3520440" cy="365760"/>
          </a:xfrm>
          <a:prstGeom prst="rect">
            <a:avLst/>
          </a:prstGeom>
          <a:noFill/>
          <a:ln/>
        </p:spPr>
        <p:txBody>
          <a:bodyPr wrap="square" lIns="0" tIns="0" rIns="0" bIns="0" rtlCol="0" anchor="t"/>
          <a:lstStyle/>
          <a:p>
            <a:pPr indent="0" marL="0">
              <a:buNone/>
            </a:pPr>
            <a:r>
              <a:rPr lang="en-US" sz="1400" b="1" dirty="0">
                <a:solidFill>
                  <a:schemeClr val="accent4"/>
                </a:solidFill>
              </a:rPr>
              <a:t>4 · Dense panels</a:t>
            </a:r>
            <a:endParaRPr lang="en-US" sz="1400" dirty="0"/>
          </a:p>
        </p:txBody>
      </p:sp>
      <p:sp>
        <p:nvSpPr>
          <p:cNvPr id="5" name="observed"/>
          <p:cNvSpPr/>
          <p:nvPr/>
        </p:nvSpPr>
        <p:spPr>
          <a:xfrm>
            <a:off x="548640" y="1645920"/>
            <a:ext cx="3520440" cy="1325880"/>
          </a:xfrm>
          <a:prstGeom prst="roundRect">
            <a:avLst>
              <a:gd name="adj" fmla="val 8276"/>
            </a:avLst>
          </a:prstGeom>
          <a:solidFill>
            <a:schemeClr val="bg2"/>
          </a:solidFill>
          <a:ln w="12700">
            <a:solidFill>
              <a:schemeClr val="bg2"/>
            </a:solidFill>
            <a:prstDash val="solid"/>
          </a:ln>
        </p:spPr>
      </p:sp>
      <p:sp>
        <p:nvSpPr>
          <p:cNvPr id="6" name="Text 3"/>
          <p:cNvSpPr txBox="1"/>
          <p:nvPr/>
        </p:nvSpPr>
        <p:spPr>
          <a:xfrm>
            <a:off x="731520" y="1691640"/>
            <a:ext cx="3154680" cy="1234440"/>
          </a:xfrm>
          <a:prstGeom prst="rect">
            <a:avLst/>
          </a:prstGeom>
          <a:noFill/>
          <a:ln/>
        </p:spPr>
        <p:txBody>
          <a:bodyPr wrap="square" lIns="0" tIns="0" rIns="0" bIns="0" rtlCol="0" anchor="ctr"/>
          <a:lstStyle/>
          <a:p>
            <a:pPr indent="0" marL="0">
              <a:buNone/>
            </a:pPr>
            <a:r>
              <a:rPr lang="en-US" sz="1500" b="1" dirty="0">
                <a:solidFill>
                  <a:schemeClr val="tx2"/>
                </a:solidFill>
              </a:rPr>
              <a:t>Observed  </a:t>
            </a:r>
            <a:pPr indent="0" marL="0">
              <a:buNone/>
            </a:pPr>
            <a:r>
              <a:rPr lang="en-US" sz="1500" dirty="0">
                <a:solidFill>
                  <a:schemeClr val="tx1"/>
                </a:solidFill>
              </a:rPr>
              <a:t>One average over 7 origins: 13–35% power; giant component of 73% of proteins</a:t>
            </a:r>
            <a:endParaRPr lang="en-US" sz="1500" dirty="0"/>
          </a:p>
        </p:txBody>
      </p:sp>
      <p:sp>
        <p:nvSpPr>
          <p:cNvPr id="7" name="arrow"/>
          <p:cNvSpPr/>
          <p:nvPr/>
        </p:nvSpPr>
        <p:spPr>
          <a:xfrm>
            <a:off x="2308860" y="2999232"/>
            <a:ext cx="914" cy="365760"/>
          </a:xfrm>
          <a:prstGeom prst="line">
            <a:avLst/>
          </a:prstGeom>
          <a:noFill/>
          <a:ln w="31750">
            <a:solidFill>
              <a:schemeClr val="tx2"/>
            </a:solidFill>
            <a:prstDash val="solid"/>
            <a:tailEnd type="triangle"/>
          </a:ln>
        </p:spPr>
      </p:sp>
      <p:sp>
        <p:nvSpPr>
          <p:cNvPr id="8" name="decided"/>
          <p:cNvSpPr/>
          <p:nvPr/>
        </p:nvSpPr>
        <p:spPr>
          <a:xfrm>
            <a:off x="548640" y="3401568"/>
            <a:ext cx="3520440" cy="1325880"/>
          </a:xfrm>
          <a:prstGeom prst="roundRect">
            <a:avLst>
              <a:gd name="adj" fmla="val 8276"/>
            </a:avLst>
          </a:prstGeom>
          <a:solidFill>
            <a:schemeClr val="accent1"/>
          </a:solidFill>
          <a:ln w="12700">
            <a:solidFill>
              <a:schemeClr val="accent1"/>
            </a:solidFill>
            <a:prstDash val="solid"/>
          </a:ln>
        </p:spPr>
      </p:sp>
      <p:sp>
        <p:nvSpPr>
          <p:cNvPr id="9" name="Text 6"/>
          <p:cNvSpPr txBox="1"/>
          <p:nvPr/>
        </p:nvSpPr>
        <p:spPr>
          <a:xfrm>
            <a:off x="731520" y="3447288"/>
            <a:ext cx="3154680" cy="1234440"/>
          </a:xfrm>
          <a:prstGeom prst="rect">
            <a:avLst/>
          </a:prstGeom>
          <a:noFill/>
          <a:ln/>
        </p:spPr>
        <p:txBody>
          <a:bodyPr wrap="square" lIns="0" tIns="0" rIns="0" bIns="0" rtlCol="0" anchor="ctr"/>
          <a:lstStyle/>
          <a:p>
            <a:pPr indent="0" marL="0">
              <a:buNone/>
            </a:pPr>
            <a:r>
              <a:rPr lang="en-US" sz="1500" b="1" dirty="0">
                <a:solidFill>
                  <a:schemeClr val="bg1"/>
                </a:solidFill>
              </a:rPr>
              <a:t>Decided  </a:t>
            </a:r>
            <a:pPr indent="0" marL="0">
              <a:buNone/>
            </a:pPr>
            <a:r>
              <a:rPr lang="en-US" sz="1500" dirty="0">
                <a:solidFill>
                  <a:schemeClr val="bg1"/>
                </a:solidFill>
              </a:rPr>
              <a:t>8 small per-event panels, fast preset, 15–45 min each</a:t>
            </a:r>
            <a:endParaRPr lang="en-US" sz="1500" dirty="0"/>
          </a:p>
        </p:txBody>
      </p:sp>
      <p:sp>
        <p:nvSpPr>
          <p:cNvPr id="10" name="arrow"/>
          <p:cNvSpPr/>
          <p:nvPr/>
        </p:nvSpPr>
        <p:spPr>
          <a:xfrm>
            <a:off x="2308860" y="4754880"/>
            <a:ext cx="914" cy="365760"/>
          </a:xfrm>
          <a:prstGeom prst="line">
            <a:avLst/>
          </a:prstGeom>
          <a:noFill/>
          <a:ln w="31750">
            <a:solidFill>
              <a:schemeClr val="tx2"/>
            </a:solidFill>
            <a:prstDash val="solid"/>
            <a:tailEnd type="triangle"/>
          </a:ln>
        </p:spPr>
      </p:sp>
      <p:sp>
        <p:nvSpPr>
          <p:cNvPr id="11" name="Text 8"/>
          <p:cNvSpPr txBox="1"/>
          <p:nvPr/>
        </p:nvSpPr>
        <p:spPr>
          <a:xfrm>
            <a:off x="640080" y="5166360"/>
            <a:ext cx="3337560" cy="1005840"/>
          </a:xfrm>
          <a:prstGeom prst="rect">
            <a:avLst/>
          </a:prstGeom>
          <a:noFill/>
          <a:ln/>
        </p:spPr>
        <p:txBody>
          <a:bodyPr wrap="square" lIns="0" tIns="0" rIns="0" bIns="0" rtlCol="0" anchor="t"/>
          <a:lstStyle/>
          <a:p>
            <a:pPr indent="0" marL="0">
              <a:buNone/>
            </a:pPr>
            <a:r>
              <a:rPr lang="en-US" sz="1500" b="1" dirty="0">
                <a:solidFill>
                  <a:schemeClr val="accent1"/>
                </a:solidFill>
              </a:rPr>
              <a:t>Effect  </a:t>
            </a:r>
            <a:pPr indent="0" marL="0">
              <a:buNone/>
            </a:pPr>
            <a:r>
              <a:rPr lang="en-US" sz="1500" dirty="0">
                <a:solidFill>
                  <a:schemeClr val="tx1"/>
                </a:solidFill>
              </a:rPr>
              <a:t>Sharper events, but only 5–9 controls per panel</a:t>
            </a:r>
            <a:endParaRPr lang="en-US" sz="1500" dirty="0"/>
          </a:p>
        </p:txBody>
      </p:sp>
      <p:sp>
        <p:nvSpPr>
          <p:cNvPr id="12" name="Text 9"/>
          <p:cNvSpPr txBox="1"/>
          <p:nvPr/>
        </p:nvSpPr>
        <p:spPr>
          <a:xfrm>
            <a:off x="4297680" y="1234440"/>
            <a:ext cx="3520440" cy="365760"/>
          </a:xfrm>
          <a:prstGeom prst="rect">
            <a:avLst/>
          </a:prstGeom>
          <a:noFill/>
          <a:ln/>
        </p:spPr>
        <p:txBody>
          <a:bodyPr wrap="square" lIns="0" tIns="0" rIns="0" bIns="0" rtlCol="0" anchor="t"/>
          <a:lstStyle/>
          <a:p>
            <a:pPr indent="0" marL="0">
              <a:buNone/>
            </a:pPr>
            <a:r>
              <a:rPr lang="en-US" sz="1400" b="1" dirty="0">
                <a:solidFill>
                  <a:schemeClr val="accent4"/>
                </a:solidFill>
              </a:rPr>
              <a:t>5 · Unseen events only</a:t>
            </a:r>
            <a:endParaRPr lang="en-US" sz="1400" dirty="0"/>
          </a:p>
        </p:txBody>
      </p:sp>
      <p:sp>
        <p:nvSpPr>
          <p:cNvPr id="13" name="observed"/>
          <p:cNvSpPr/>
          <p:nvPr/>
        </p:nvSpPr>
        <p:spPr>
          <a:xfrm>
            <a:off x="4297680" y="1645920"/>
            <a:ext cx="3520440" cy="1325880"/>
          </a:xfrm>
          <a:prstGeom prst="roundRect">
            <a:avLst>
              <a:gd name="adj" fmla="val 8276"/>
            </a:avLst>
          </a:prstGeom>
          <a:solidFill>
            <a:schemeClr val="bg2"/>
          </a:solidFill>
          <a:ln w="12700">
            <a:solidFill>
              <a:schemeClr val="bg2"/>
            </a:solidFill>
            <a:prstDash val="solid"/>
          </a:ln>
        </p:spPr>
      </p:sp>
      <p:sp>
        <p:nvSpPr>
          <p:cNvPr id="14" name="Text 11"/>
          <p:cNvSpPr txBox="1"/>
          <p:nvPr/>
        </p:nvSpPr>
        <p:spPr>
          <a:xfrm>
            <a:off x="4480560" y="1691640"/>
            <a:ext cx="3154680" cy="1234440"/>
          </a:xfrm>
          <a:prstGeom prst="rect">
            <a:avLst/>
          </a:prstGeom>
          <a:noFill/>
          <a:ln/>
        </p:spPr>
        <p:txBody>
          <a:bodyPr wrap="square" lIns="0" tIns="0" rIns="0" bIns="0" rtlCol="0" anchor="ctr"/>
          <a:lstStyle/>
          <a:p>
            <a:pPr indent="0" marL="0">
              <a:buNone/>
            </a:pPr>
            <a:r>
              <a:rPr lang="en-US" sz="1500" b="1" dirty="0">
                <a:solidFill>
                  <a:schemeClr val="tx2"/>
                </a:solidFill>
              </a:rPr>
              <a:t>Observed  </a:t>
            </a:r>
            <a:pPr indent="0" marL="0">
              <a:buNone/>
            </a:pPr>
            <a:r>
              <a:rPr lang="en-US" sz="1500" dirty="0">
                <a:solidFill>
                  <a:schemeClr val="tx1"/>
                </a:solidFill>
              </a:rPr>
              <a:t>Round-1 nested events already looked novel (p = 0.016)</a:t>
            </a:r>
            <a:endParaRPr lang="en-US" sz="1500" dirty="0"/>
          </a:p>
        </p:txBody>
      </p:sp>
      <p:sp>
        <p:nvSpPr>
          <p:cNvPr id="15" name="arrow"/>
          <p:cNvSpPr/>
          <p:nvPr/>
        </p:nvSpPr>
        <p:spPr>
          <a:xfrm>
            <a:off x="6057900" y="2999232"/>
            <a:ext cx="914" cy="365760"/>
          </a:xfrm>
          <a:prstGeom prst="line">
            <a:avLst/>
          </a:prstGeom>
          <a:noFill/>
          <a:ln w="31750">
            <a:solidFill>
              <a:schemeClr val="tx2"/>
            </a:solidFill>
            <a:prstDash val="solid"/>
            <a:tailEnd type="triangle"/>
          </a:ln>
        </p:spPr>
      </p:sp>
      <p:sp>
        <p:nvSpPr>
          <p:cNvPr id="16" name="decided"/>
          <p:cNvSpPr/>
          <p:nvPr/>
        </p:nvSpPr>
        <p:spPr>
          <a:xfrm>
            <a:off x="4297680" y="3401568"/>
            <a:ext cx="3520440" cy="1325880"/>
          </a:xfrm>
          <a:prstGeom prst="roundRect">
            <a:avLst>
              <a:gd name="adj" fmla="val 8276"/>
            </a:avLst>
          </a:prstGeom>
          <a:solidFill>
            <a:schemeClr val="accent1"/>
          </a:solidFill>
          <a:ln w="12700">
            <a:solidFill>
              <a:schemeClr val="accent1"/>
            </a:solidFill>
            <a:prstDash val="solid"/>
          </a:ln>
        </p:spPr>
      </p:sp>
      <p:sp>
        <p:nvSpPr>
          <p:cNvPr id="17" name="Text 14"/>
          <p:cNvSpPr txBox="1"/>
          <p:nvPr/>
        </p:nvSpPr>
        <p:spPr>
          <a:xfrm>
            <a:off x="4480560" y="3447288"/>
            <a:ext cx="3154680" cy="1234440"/>
          </a:xfrm>
          <a:prstGeom prst="rect">
            <a:avLst/>
          </a:prstGeom>
          <a:noFill/>
          <a:ln/>
        </p:spPr>
        <p:txBody>
          <a:bodyPr wrap="square" lIns="0" tIns="0" rIns="0" bIns="0" rtlCol="0" anchor="ctr"/>
          <a:lstStyle/>
          <a:p>
            <a:pPr indent="0" marL="0">
              <a:buNone/>
            </a:pPr>
            <a:r>
              <a:rPr lang="en-US" sz="1500" b="1" dirty="0">
                <a:solidFill>
                  <a:schemeClr val="bg1"/>
                </a:solidFill>
              </a:rPr>
              <a:t>Decided  </a:t>
            </a:r>
            <a:pPr indent="0" marL="0">
              <a:buNone/>
            </a:pPr>
            <a:r>
              <a:rPr lang="en-US" sz="1500" dirty="0">
                <a:solidFill>
                  <a:schemeClr val="bg1"/>
                </a:solidFill>
              </a:rPr>
              <a:t>Confirmatory test on 4 new events, frozen before their runs</a:t>
            </a:r>
            <a:endParaRPr lang="en-US" sz="1500" dirty="0"/>
          </a:p>
        </p:txBody>
      </p:sp>
      <p:sp>
        <p:nvSpPr>
          <p:cNvPr id="18" name="arrow"/>
          <p:cNvSpPr/>
          <p:nvPr/>
        </p:nvSpPr>
        <p:spPr>
          <a:xfrm>
            <a:off x="6057900" y="4754880"/>
            <a:ext cx="914" cy="365760"/>
          </a:xfrm>
          <a:prstGeom prst="line">
            <a:avLst/>
          </a:prstGeom>
          <a:noFill/>
          <a:ln w="31750">
            <a:solidFill>
              <a:schemeClr val="tx2"/>
            </a:solidFill>
            <a:prstDash val="solid"/>
            <a:tailEnd type="triangle"/>
          </a:ln>
        </p:spPr>
      </p:sp>
      <p:sp>
        <p:nvSpPr>
          <p:cNvPr id="19" name="Text 16"/>
          <p:cNvSpPr txBox="1"/>
          <p:nvPr/>
        </p:nvSpPr>
        <p:spPr>
          <a:xfrm>
            <a:off x="4389120" y="5166360"/>
            <a:ext cx="3337560" cy="1005840"/>
          </a:xfrm>
          <a:prstGeom prst="rect">
            <a:avLst/>
          </a:prstGeom>
          <a:noFill/>
          <a:ln/>
        </p:spPr>
        <p:txBody>
          <a:bodyPr wrap="square" lIns="0" tIns="0" rIns="0" bIns="0" rtlCol="0" anchor="t"/>
          <a:lstStyle/>
          <a:p>
            <a:pPr indent="0" marL="0">
              <a:buNone/>
            </a:pPr>
            <a:r>
              <a:rPr lang="en-US" sz="1500" b="1" dirty="0">
                <a:solidFill>
                  <a:schemeClr val="accent1"/>
                </a:solidFill>
              </a:rPr>
              <a:t>Effect  </a:t>
            </a:r>
            <a:pPr indent="0" marL="0">
              <a:buNone/>
            </a:pPr>
            <a:r>
              <a:rPr lang="en-US" sz="1500" dirty="0">
                <a:solidFill>
                  <a:schemeClr val="tx1"/>
                </a:solidFill>
              </a:rPr>
              <a:t>No double dipping; power only 18–41%</a:t>
            </a:r>
            <a:endParaRPr lang="en-US" sz="1500" dirty="0"/>
          </a:p>
        </p:txBody>
      </p:sp>
      <p:sp>
        <p:nvSpPr>
          <p:cNvPr id="20" name="Text 17"/>
          <p:cNvSpPr txBox="1"/>
          <p:nvPr/>
        </p:nvSpPr>
        <p:spPr>
          <a:xfrm>
            <a:off x="8046720" y="1234440"/>
            <a:ext cx="3520440" cy="365760"/>
          </a:xfrm>
          <a:prstGeom prst="rect">
            <a:avLst/>
          </a:prstGeom>
          <a:noFill/>
          <a:ln/>
        </p:spPr>
        <p:txBody>
          <a:bodyPr wrap="square" lIns="0" tIns="0" rIns="0" bIns="0" rtlCol="0" anchor="t"/>
          <a:lstStyle/>
          <a:p>
            <a:pPr indent="0" marL="0">
              <a:buNone/>
            </a:pPr>
            <a:r>
              <a:rPr lang="en-US" sz="1400" b="1" dirty="0">
                <a:solidFill>
                  <a:schemeClr val="accent4"/>
                </a:solidFill>
              </a:rPr>
              <a:t>6 · Rule before data</a:t>
            </a:r>
            <a:endParaRPr lang="en-US" sz="1400" dirty="0"/>
          </a:p>
        </p:txBody>
      </p:sp>
      <p:sp>
        <p:nvSpPr>
          <p:cNvPr id="21" name="observed"/>
          <p:cNvSpPr/>
          <p:nvPr/>
        </p:nvSpPr>
        <p:spPr>
          <a:xfrm>
            <a:off x="8046720" y="1645920"/>
            <a:ext cx="3520440" cy="1325880"/>
          </a:xfrm>
          <a:prstGeom prst="roundRect">
            <a:avLst>
              <a:gd name="adj" fmla="val 8276"/>
            </a:avLst>
          </a:prstGeom>
          <a:solidFill>
            <a:schemeClr val="bg2"/>
          </a:solidFill>
          <a:ln w="12700">
            <a:solidFill>
              <a:schemeClr val="bg2"/>
            </a:solidFill>
            <a:prstDash val="solid"/>
          </a:ln>
        </p:spPr>
      </p:sp>
      <p:sp>
        <p:nvSpPr>
          <p:cNvPr id="22" name="Text 19"/>
          <p:cNvSpPr txBox="1"/>
          <p:nvPr/>
        </p:nvSpPr>
        <p:spPr>
          <a:xfrm>
            <a:off x="8229600" y="1691640"/>
            <a:ext cx="3154680" cy="1234440"/>
          </a:xfrm>
          <a:prstGeom prst="rect">
            <a:avLst/>
          </a:prstGeom>
          <a:noFill/>
          <a:ln/>
        </p:spPr>
        <p:txBody>
          <a:bodyPr wrap="square" lIns="0" tIns="0" rIns="0" bIns="0" rtlCol="0" anchor="ctr"/>
          <a:lstStyle/>
          <a:p>
            <a:pPr indent="0" marL="0">
              <a:buNone/>
            </a:pPr>
            <a:r>
              <a:rPr lang="en-US" sz="1500" b="1" dirty="0">
                <a:solidFill>
                  <a:schemeClr val="tx2"/>
                </a:solidFill>
              </a:rPr>
              <a:t>Observed  </a:t>
            </a:r>
            <a:pPr indent="0" marL="0">
              <a:buNone/>
            </a:pPr>
            <a:r>
              <a:rPr lang="en-US" sz="1500" dirty="0">
                <a:solidFill>
                  <a:schemeClr val="tx1"/>
                </a:solidFill>
              </a:rPr>
              <a:t>Deep nodes were Ancestra's weak point</a:t>
            </a:r>
            <a:endParaRPr lang="en-US" sz="1500" dirty="0"/>
          </a:p>
        </p:txBody>
      </p:sp>
      <p:sp>
        <p:nvSpPr>
          <p:cNvPr id="23" name="arrow"/>
          <p:cNvSpPr/>
          <p:nvPr/>
        </p:nvSpPr>
        <p:spPr>
          <a:xfrm>
            <a:off x="9806940" y="2999232"/>
            <a:ext cx="914" cy="365760"/>
          </a:xfrm>
          <a:prstGeom prst="line">
            <a:avLst/>
          </a:prstGeom>
          <a:noFill/>
          <a:ln w="31750">
            <a:solidFill>
              <a:schemeClr val="tx2"/>
            </a:solidFill>
            <a:prstDash val="solid"/>
            <a:tailEnd type="triangle"/>
          </a:ln>
        </p:spPr>
      </p:sp>
      <p:sp>
        <p:nvSpPr>
          <p:cNvPr id="24" name="decided"/>
          <p:cNvSpPr/>
          <p:nvPr/>
        </p:nvSpPr>
        <p:spPr>
          <a:xfrm>
            <a:off x="8046720" y="3401568"/>
            <a:ext cx="3520440" cy="1325880"/>
          </a:xfrm>
          <a:prstGeom prst="roundRect">
            <a:avLst>
              <a:gd name="adj" fmla="val 8276"/>
            </a:avLst>
          </a:prstGeom>
          <a:solidFill>
            <a:schemeClr val="accent1"/>
          </a:solidFill>
          <a:ln w="12700">
            <a:solidFill>
              <a:schemeClr val="accent1"/>
            </a:solidFill>
            <a:prstDash val="solid"/>
          </a:ln>
        </p:spPr>
      </p:sp>
      <p:sp>
        <p:nvSpPr>
          <p:cNvPr id="25" name="Text 22"/>
          <p:cNvSpPr txBox="1"/>
          <p:nvPr/>
        </p:nvSpPr>
        <p:spPr>
          <a:xfrm>
            <a:off x="8229600" y="3447288"/>
            <a:ext cx="3154680" cy="1234440"/>
          </a:xfrm>
          <a:prstGeom prst="rect">
            <a:avLst/>
          </a:prstGeom>
          <a:noFill/>
          <a:ln/>
        </p:spPr>
        <p:txBody>
          <a:bodyPr wrap="square" lIns="0" tIns="0" rIns="0" bIns="0" rtlCol="0" anchor="ctr"/>
          <a:lstStyle/>
          <a:p>
            <a:pPr indent="0" marL="0">
              <a:buNone/>
            </a:pPr>
            <a:r>
              <a:rPr lang="en-US" sz="1500" b="1" dirty="0">
                <a:solidFill>
                  <a:schemeClr val="bg1"/>
                </a:solidFill>
              </a:rPr>
              <a:t>Decided  </a:t>
            </a:r>
            <a:pPr indent="0" marL="0">
              <a:buNone/>
            </a:pPr>
            <a:r>
              <a:rPr lang="en-US" sz="1500" dirty="0">
                <a:solidFill>
                  <a:schemeClr val="bg1"/>
                </a:solidFill>
              </a:rPr>
              <a:t>Use structure mode only if controls improve and agreement holds</a:t>
            </a:r>
            <a:endParaRPr lang="en-US" sz="1500" dirty="0"/>
          </a:p>
        </p:txBody>
      </p:sp>
      <p:sp>
        <p:nvSpPr>
          <p:cNvPr id="26" name="arrow"/>
          <p:cNvSpPr/>
          <p:nvPr/>
        </p:nvSpPr>
        <p:spPr>
          <a:xfrm>
            <a:off x="9806940" y="4754880"/>
            <a:ext cx="914" cy="365760"/>
          </a:xfrm>
          <a:prstGeom prst="line">
            <a:avLst/>
          </a:prstGeom>
          <a:noFill/>
          <a:ln w="31750">
            <a:solidFill>
              <a:schemeClr val="tx2"/>
            </a:solidFill>
            <a:prstDash val="solid"/>
            <a:tailEnd type="triangle"/>
          </a:ln>
        </p:spPr>
      </p:sp>
      <p:sp>
        <p:nvSpPr>
          <p:cNvPr id="27" name="Text 24"/>
          <p:cNvSpPr txBox="1"/>
          <p:nvPr/>
        </p:nvSpPr>
        <p:spPr>
          <a:xfrm>
            <a:off x="8138160" y="5166360"/>
            <a:ext cx="3337560" cy="1005840"/>
          </a:xfrm>
          <a:prstGeom prst="rect">
            <a:avLst/>
          </a:prstGeom>
          <a:noFill/>
          <a:ln/>
        </p:spPr>
        <p:txBody>
          <a:bodyPr wrap="square" lIns="0" tIns="0" rIns="0" bIns="0" rtlCol="0" anchor="t"/>
          <a:lstStyle/>
          <a:p>
            <a:pPr indent="0" marL="0">
              <a:buNone/>
            </a:pPr>
            <a:r>
              <a:rPr lang="en-US" sz="1500" b="1" dirty="0">
                <a:solidFill>
                  <a:schemeClr val="accent1"/>
                </a:solidFill>
              </a:rPr>
              <a:t>Effect  </a:t>
            </a:r>
            <a:pPr indent="0" marL="0">
              <a:buNone/>
            </a:pPr>
            <a:r>
              <a:rPr lang="en-US" sz="1500" dirty="0">
                <a:solidFill>
                  <a:schemeClr val="tx1"/>
                </a:solidFill>
              </a:rPr>
              <a:t>Rule failed (23.3% → 20.7%): default kept</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E</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The method, explained</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Simple pictures for the parts that non-experts find hard</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What is ancestral gene content?</a:t>
            </a:r>
            <a:endParaRPr lang="en-US" sz="3200" dirty="0"/>
          </a:p>
        </p:txBody>
      </p:sp>
      <p:pic>
        <p:nvPicPr>
          <p:cNvPr id="4" name="explain_ancestral.png" descr="Schematic tree with gene families gained, duplicated and lost">    </p:cNvPr>
          <p:cNvPicPr>
            <a:picLocks noChangeAspect="1"/>
          </p:cNvPicPr>
          <p:nvPr/>
        </p:nvPicPr>
        <p:blipFill>
          <a:blip r:embed="rId1"/>
          <a:stretch>
            <a:fillRect/>
          </a:stretch>
        </p:blipFill>
        <p:spPr>
          <a:xfrm>
            <a:off x="457200" y="1696218"/>
            <a:ext cx="7223760" cy="4014205"/>
          </a:xfrm>
          <a:prstGeom prst="rect">
            <a:avLst/>
          </a:prstGeom>
        </p:spPr>
      </p:pic>
      <p:sp>
        <p:nvSpPr>
          <p:cNvPr id="5" name="icon-circle-FaLayerGroup"/>
          <p:cNvSpPr/>
          <p:nvPr/>
        </p:nvSpPr>
        <p:spPr>
          <a:xfrm>
            <a:off x="8001000" y="1463040"/>
            <a:ext cx="731520" cy="731520"/>
          </a:xfrm>
          <a:prstGeom prst="ellipse">
            <a:avLst/>
          </a:prstGeom>
          <a:solidFill>
            <a:schemeClr val="accent1"/>
          </a:solidFill>
          <a:ln w="12700">
            <a:solidFill>
              <a:schemeClr val="accent1"/>
            </a:solidFill>
            <a:prstDash val="solid"/>
          </a:ln>
        </p:spPr>
      </p:sp>
      <p:pic>
        <p:nvPicPr>
          <p:cNvPr id="6" name="icon-FaLayerGroup" descr="FaLayerGroup">    </p:cNvPr>
          <p:cNvPicPr>
            <a:picLocks noChangeAspect="1"/>
          </p:cNvPicPr>
          <p:nvPr/>
        </p:nvPicPr>
        <p:blipFill>
          <a:blip r:embed="rId2"/>
          <a:stretch>
            <a:fillRect/>
          </a:stretch>
        </p:blipFill>
        <p:spPr>
          <a:xfrm>
            <a:off x="8176565" y="1638605"/>
            <a:ext cx="380390" cy="380390"/>
          </a:xfrm>
          <a:prstGeom prst="rect">
            <a:avLst/>
          </a:prstGeom>
        </p:spPr>
      </p:pic>
      <p:sp>
        <p:nvSpPr>
          <p:cNvPr id="7" name="Text 2"/>
          <p:cNvSpPr txBox="1"/>
          <p:nvPr/>
        </p:nvSpPr>
        <p:spPr>
          <a:xfrm>
            <a:off x="8915400" y="1417320"/>
            <a:ext cx="2743200" cy="1188720"/>
          </a:xfrm>
          <a:prstGeom prst="rect">
            <a:avLst/>
          </a:prstGeom>
          <a:noFill/>
          <a:ln/>
        </p:spPr>
        <p:txBody>
          <a:bodyPr wrap="square" lIns="0" tIns="0" rIns="0" bIns="0" rtlCol="0" anchor="t"/>
          <a:lstStyle/>
          <a:p>
            <a:pPr indent="0" marL="0">
              <a:buNone/>
            </a:pPr>
            <a:r>
              <a:rPr lang="en-US" sz="1800" b="1" dirty="0">
                <a:solidFill>
                  <a:schemeClr val="tx1"/>
                </a:solidFill>
              </a:rPr>
              <a:t>Gene family</a:t>
            </a:r>
            <a:endParaRPr lang="en-US" sz="1500" dirty="0"/>
          </a:p>
          <a:p>
            <a:pPr indent="0" marL="0">
              <a:buNone/>
            </a:pPr>
            <a:r>
              <a:rPr lang="en-US" sz="1500" dirty="0">
                <a:solidFill>
                  <a:schemeClr val="tx1"/>
                </a:solidFill>
              </a:rPr>
              <a:t>genes descended from one ancestral gene</a:t>
            </a:r>
            <a:endParaRPr lang="en-US" sz="1500" dirty="0"/>
          </a:p>
        </p:txBody>
      </p:sp>
      <p:sp>
        <p:nvSpPr>
          <p:cNvPr id="8" name="icon-circle-FaSitemap"/>
          <p:cNvSpPr/>
          <p:nvPr/>
        </p:nvSpPr>
        <p:spPr>
          <a:xfrm>
            <a:off x="8001000" y="2971800"/>
            <a:ext cx="731520" cy="731520"/>
          </a:xfrm>
          <a:prstGeom prst="ellipse">
            <a:avLst/>
          </a:prstGeom>
          <a:solidFill>
            <a:schemeClr val="accent1"/>
          </a:solidFill>
          <a:ln w="12700">
            <a:solidFill>
              <a:schemeClr val="accent1"/>
            </a:solidFill>
            <a:prstDash val="solid"/>
          </a:ln>
        </p:spPr>
      </p:sp>
      <p:pic>
        <p:nvPicPr>
          <p:cNvPr id="9" name="icon-FaSitemap" descr="FaSitemap">    </p:cNvPr>
          <p:cNvPicPr>
            <a:picLocks noChangeAspect="1"/>
          </p:cNvPicPr>
          <p:nvPr/>
        </p:nvPicPr>
        <p:blipFill>
          <a:blip r:embed="rId3"/>
          <a:stretch>
            <a:fillRect/>
          </a:stretch>
        </p:blipFill>
        <p:spPr>
          <a:xfrm>
            <a:off x="8176565" y="3147365"/>
            <a:ext cx="380390" cy="380390"/>
          </a:xfrm>
          <a:prstGeom prst="rect">
            <a:avLst/>
          </a:prstGeom>
        </p:spPr>
      </p:pic>
      <p:sp>
        <p:nvSpPr>
          <p:cNvPr id="10" name="Text 4"/>
          <p:cNvSpPr txBox="1"/>
          <p:nvPr/>
        </p:nvSpPr>
        <p:spPr>
          <a:xfrm>
            <a:off x="8915400" y="2926080"/>
            <a:ext cx="2743200" cy="1188720"/>
          </a:xfrm>
          <a:prstGeom prst="rect">
            <a:avLst/>
          </a:prstGeom>
          <a:noFill/>
          <a:ln/>
        </p:spPr>
        <p:txBody>
          <a:bodyPr wrap="square" lIns="0" tIns="0" rIns="0" bIns="0" rtlCol="0" anchor="t"/>
          <a:lstStyle/>
          <a:p>
            <a:pPr indent="0" marL="0">
              <a:buNone/>
            </a:pPr>
            <a:r>
              <a:rPr lang="en-US" sz="1800" b="1" dirty="0">
                <a:solidFill>
                  <a:schemeClr val="tx1"/>
                </a:solidFill>
              </a:rPr>
              <a:t>HOG</a:t>
            </a:r>
            <a:endParaRPr lang="en-US" sz="1500" dirty="0"/>
          </a:p>
          <a:p>
            <a:pPr indent="0" marL="0">
              <a:buNone/>
            </a:pPr>
            <a:r>
              <a:rPr lang="en-US" sz="1500" dirty="0">
                <a:solidFill>
                  <a:schemeClr val="tx1"/>
                </a:solidFill>
              </a:rPr>
              <a:t>a family at one tree level = one ancestral gene</a:t>
            </a:r>
            <a:endParaRPr lang="en-US" sz="1500" dirty="0"/>
          </a:p>
        </p:txBody>
      </p:sp>
      <p:sp>
        <p:nvSpPr>
          <p:cNvPr id="11" name="icon-circle-FaCodeBranch"/>
          <p:cNvSpPr/>
          <p:nvPr/>
        </p:nvSpPr>
        <p:spPr>
          <a:xfrm>
            <a:off x="8001000" y="4480560"/>
            <a:ext cx="731520" cy="731520"/>
          </a:xfrm>
          <a:prstGeom prst="ellipse">
            <a:avLst/>
          </a:prstGeom>
          <a:solidFill>
            <a:schemeClr val="accent1"/>
          </a:solidFill>
          <a:ln w="12700">
            <a:solidFill>
              <a:schemeClr val="accent1"/>
            </a:solidFill>
            <a:prstDash val="solid"/>
          </a:ln>
        </p:spPr>
      </p:sp>
      <p:pic>
        <p:nvPicPr>
          <p:cNvPr id="12" name="icon-FaCodeBranch" descr="FaCodeBranch">    </p:cNvPr>
          <p:cNvPicPr>
            <a:picLocks noChangeAspect="1"/>
          </p:cNvPicPr>
          <p:nvPr/>
        </p:nvPicPr>
        <p:blipFill>
          <a:blip r:embed="rId4"/>
          <a:stretch>
            <a:fillRect/>
          </a:stretch>
        </p:blipFill>
        <p:spPr>
          <a:xfrm>
            <a:off x="8176565" y="4656125"/>
            <a:ext cx="380390" cy="380390"/>
          </a:xfrm>
          <a:prstGeom prst="rect">
            <a:avLst/>
          </a:prstGeom>
        </p:spPr>
      </p:pic>
      <p:sp>
        <p:nvSpPr>
          <p:cNvPr id="13" name="Text 6"/>
          <p:cNvSpPr txBox="1"/>
          <p:nvPr/>
        </p:nvSpPr>
        <p:spPr>
          <a:xfrm>
            <a:off x="8915400" y="4434840"/>
            <a:ext cx="2743200" cy="1188720"/>
          </a:xfrm>
          <a:prstGeom prst="rect">
            <a:avLst/>
          </a:prstGeom>
          <a:noFill/>
          <a:ln/>
        </p:spPr>
        <p:txBody>
          <a:bodyPr wrap="square" lIns="0" tIns="0" rIns="0" bIns="0" rtlCol="0" anchor="t"/>
          <a:lstStyle/>
          <a:p>
            <a:pPr indent="0" marL="0">
              <a:buNone/>
            </a:pPr>
            <a:r>
              <a:rPr lang="en-US" sz="1800" b="1" dirty="0">
                <a:solidFill>
                  <a:schemeClr val="tx1"/>
                </a:solidFill>
              </a:rPr>
              <a:t>Events</a:t>
            </a:r>
            <a:endParaRPr lang="en-US" sz="1500" dirty="0"/>
          </a:p>
          <a:p>
            <a:pPr indent="0" marL="0">
              <a:buNone/>
            </a:pPr>
            <a:r>
              <a:rPr lang="en-US" sz="1500" dirty="0">
                <a:solidFill>
                  <a:schemeClr val="tx1"/>
                </a:solidFill>
              </a:rPr>
              <a:t>gain, duplication or loss, read branch by branch</a:t>
            </a:r>
            <a:endParaRPr lang="en-US" sz="1500" dirty="0"/>
          </a:p>
        </p:txBody>
      </p:sp>
      <p:sp>
        <p:nvSpPr>
          <p:cNvPr id="14" name="Text 7"/>
          <p:cNvSpPr txBox="1"/>
          <p:nvPr/>
        </p:nvSpPr>
        <p:spPr>
          <a:xfrm>
            <a:off x="8001000" y="5897880"/>
            <a:ext cx="3657600" cy="274320"/>
          </a:xfrm>
          <a:prstGeom prst="rect">
            <a:avLst/>
          </a:prstGeom>
          <a:noFill/>
          <a:ln/>
        </p:spPr>
        <p:txBody>
          <a:bodyPr wrap="square" lIns="0" tIns="0" rIns="0" bIns="0" rtlCol="0" anchor="t"/>
          <a:lstStyle/>
          <a:p>
            <a:pPr indent="0" marL="0">
              <a:buNone/>
            </a:pPr>
            <a:r>
              <a:rPr lang="en-US" sz="1100" i="1" dirty="0">
                <a:solidFill>
                  <a:schemeClr val="tx2"/>
                </a:solidFill>
              </a:rPr>
              <a:t>Schematic, not real data.</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Ancestra in three steps</a:t>
            </a:r>
            <a:endParaRPr lang="en-US" sz="3200" dirty="0"/>
          </a:p>
        </p:txBody>
      </p:sp>
      <p:pic>
        <p:nvPicPr>
          <p:cNvPr id="4" name="explain_ancestra_steps.png" descr="Ancestra simplified in three steps">    </p:cNvPr>
          <p:cNvPicPr>
            <a:picLocks noChangeAspect="1"/>
          </p:cNvPicPr>
          <p:nvPr/>
        </p:nvPicPr>
        <p:blipFill>
          <a:blip r:embed="rId1"/>
          <a:stretch>
            <a:fillRect/>
          </a:stretch>
        </p:blipFill>
        <p:spPr>
          <a:xfrm>
            <a:off x="1898940" y="1188720"/>
            <a:ext cx="8363639" cy="2834640"/>
          </a:xfrm>
          <a:prstGeom prst="rect">
            <a:avLst/>
          </a:prstGeom>
        </p:spPr>
      </p:pic>
      <p:pic>
        <p:nvPicPr>
          <p:cNvPr id="5" name="../../../external/ancestra-mvp-ai/docs/figures/fig1_method.png" descr="Ancestra method figure (from the Ancestra repository)">    </p:cNvPr>
          <p:cNvPicPr>
            <a:picLocks noChangeAspect="1"/>
          </p:cNvPicPr>
          <p:nvPr/>
        </p:nvPicPr>
        <p:blipFill>
          <a:blip r:embed="rId2"/>
          <a:stretch>
            <a:fillRect/>
          </a:stretch>
        </p:blipFill>
        <p:spPr>
          <a:xfrm>
            <a:off x="548640" y="4160520"/>
            <a:ext cx="7588489" cy="2286000"/>
          </a:xfrm>
          <a:prstGeom prst="rect">
            <a:avLst/>
          </a:prstGeom>
        </p:spPr>
      </p:pic>
      <p:sp>
        <p:nvSpPr>
          <p:cNvPr id="6" name="Text 1"/>
          <p:cNvSpPr txBox="1"/>
          <p:nvPr/>
        </p:nvSpPr>
        <p:spPr>
          <a:xfrm>
            <a:off x="8503920" y="4663440"/>
            <a:ext cx="3108960" cy="1097280"/>
          </a:xfrm>
          <a:prstGeom prst="rect">
            <a:avLst/>
          </a:prstGeom>
          <a:noFill/>
          <a:ln/>
        </p:spPr>
        <p:txBody>
          <a:bodyPr wrap="square" lIns="0" tIns="0" rIns="0" bIns="0" rtlCol="0" anchor="t"/>
          <a:lstStyle/>
          <a:p>
            <a:pPr indent="0" marL="0">
              <a:buNone/>
            </a:pPr>
            <a:r>
              <a:rPr lang="en-US" sz="1100" i="1" dirty="0">
                <a:solidFill>
                  <a:schemeClr val="tx2"/>
                </a:solidFill>
              </a:rPr>
              <a:t>Lower figure: Ancestra's own method overview, reused with credit (evocellnet/ancestra-mvp-ai, docs/figures/fig1_method.png).</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Ancestra among orthology methods</a:t>
            </a:r>
            <a:endParaRPr lang="en-US" sz="3200" dirty="0"/>
          </a:p>
        </p:txBody>
      </p:sp>
      <p:graphicFrame>
        <p:nvGraphicFramePr>
          <p:cNvPr id="23" name="method-table"/>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2514600"/>
                <a:gridCol w="3291840"/>
                <a:gridCol w="2011680"/>
                <a:gridCol w="1737360"/>
                <a:gridCol w="1554480"/>
              </a:tblGrid>
              <a:tr h="566928">
                <a:tc>
                  <a:txBody>
                    <a:bodyPr/>
                    <a:lstStyle/>
                    <a:p>
                      <a:pPr indent="0" marL="0">
                        <a:buNone/>
                      </a:pPr>
                      <a:r>
                        <a:rPr lang="en-US" sz="1400" b="1" dirty="0">
                          <a:solidFill>
                            <a:schemeClr val="bg1"/>
                          </a:solidFill>
                        </a:rPr>
                        <a:t>Method</a:t>
                      </a:r>
                      <a:endParaRPr lang="en-US" sz="14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families are built</a:t>
                      </a:r>
                      <a:endParaRPr lang="en-US" sz="14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Output</a:t>
                      </a:r>
                      <a:endParaRPr lang="en-US" sz="14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OrthoBench F</a:t>
                      </a:r>
                      <a:endParaRPr lang="en-US" sz="14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QfO SwissTree recall</a:t>
                      </a:r>
                      <a:endParaRPr lang="en-US" sz="14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1"/>
                          </a:solidFill>
                        </a:rPr>
                        <a:t>Ancestra (this project)</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reference-free DIAMOND families, then level-by-level merge</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HOGs at every tree node</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76.2 / 74.8 (accurate / fast)</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0.721 / 0.731</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OrthoFinder 3.2</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all-vs-all similarity graph + gene trees</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orthogroups, gene trees</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69.7</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0.825</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OMA · FastOMA (EukaryOMA)</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pairwise orthologs; FastOMA places genes on a reference</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HOGs at every level</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60.4 / 33.1 ‡</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0.696 / 0.699</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SonicParanoid2 · InParanoid · Hieranoid</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graph / pairwise; Hieranoid bottom-up</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orthogroups, pairs, HOGs</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70.4 (SonicParanoid2)</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0.717 · 0.701 · 0.726</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Pfam counts + Dollo / Count</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domain annotation, no orthology</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copy numbers on the tree</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n/a</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n/a</a:t>
                      </a:r>
                      <a:endParaRPr lang="en-US" sz="1300" dirty="0"/>
                    </a:p>
                  </a:txBody>
                  <a:tcPr marL="54864" marR="54864" marT="54864" marB="54864"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bl>
          </a:graphicData>
        </a:graphic>
      </p:graphicFrame>
      <p:sp>
        <p:nvSpPr>
          <p:cNvPr id="5" name="common"/>
          <p:cNvSpPr/>
          <p:nvPr/>
        </p:nvSpPr>
        <p:spPr>
          <a:xfrm>
            <a:off x="548640" y="4892040"/>
            <a:ext cx="5394960" cy="1097280"/>
          </a:xfrm>
          <a:prstGeom prst="roundRect">
            <a:avLst>
              <a:gd name="adj" fmla="val 10000"/>
            </a:avLst>
          </a:prstGeom>
          <a:solidFill>
            <a:schemeClr val="bg2"/>
          </a:solidFill>
          <a:ln w="12700">
            <a:solidFill>
              <a:schemeClr val="bg2"/>
            </a:solidFill>
            <a:prstDash val="solid"/>
          </a:ln>
        </p:spPr>
      </p:sp>
      <p:sp>
        <p:nvSpPr>
          <p:cNvPr id="6" name="icon-circle-FaHandshake"/>
          <p:cNvSpPr/>
          <p:nvPr/>
        </p:nvSpPr>
        <p:spPr>
          <a:xfrm>
            <a:off x="685800" y="5074920"/>
            <a:ext cx="731520" cy="731520"/>
          </a:xfrm>
          <a:prstGeom prst="ellipse">
            <a:avLst/>
          </a:prstGeom>
          <a:solidFill>
            <a:schemeClr val="accent1"/>
          </a:solidFill>
          <a:ln w="12700">
            <a:solidFill>
              <a:schemeClr val="accent1"/>
            </a:solidFill>
            <a:prstDash val="solid"/>
          </a:ln>
        </p:spPr>
      </p:sp>
      <p:pic>
        <p:nvPicPr>
          <p:cNvPr id="7" name="icon-FaHandshake" descr="FaHandshake">    </p:cNvPr>
          <p:cNvPicPr>
            <a:picLocks noChangeAspect="1"/>
          </p:cNvPicPr>
          <p:nvPr/>
        </p:nvPicPr>
        <p:blipFill>
          <a:blip r:embed="rId1"/>
          <a:stretch>
            <a:fillRect/>
          </a:stretch>
        </p:blipFill>
        <p:spPr>
          <a:xfrm>
            <a:off x="861365" y="5250485"/>
            <a:ext cx="380390" cy="380390"/>
          </a:xfrm>
          <a:prstGeom prst="rect">
            <a:avLst/>
          </a:prstGeom>
        </p:spPr>
      </p:pic>
      <p:sp>
        <p:nvSpPr>
          <p:cNvPr id="8" name="Text 3"/>
          <p:cNvSpPr txBox="1"/>
          <p:nvPr/>
        </p:nvSpPr>
        <p:spPr>
          <a:xfrm>
            <a:off x="1600200" y="4937760"/>
            <a:ext cx="4206240" cy="1005840"/>
          </a:xfrm>
          <a:prstGeom prst="rect">
            <a:avLst/>
          </a:prstGeom>
          <a:noFill/>
          <a:ln/>
        </p:spPr>
        <p:txBody>
          <a:bodyPr wrap="square" lIns="0" tIns="0" rIns="0" bIns="0" rtlCol="0" anchor="ctr"/>
          <a:lstStyle/>
          <a:p>
            <a:pPr indent="0" marL="0">
              <a:buNone/>
            </a:pPr>
            <a:r>
              <a:rPr lang="en-US" sz="1500" b="1" dirty="0">
                <a:solidFill>
                  <a:schemeClr val="accent1"/>
                </a:solidFill>
              </a:rPr>
              <a:t>Shared  </a:t>
            </a:r>
            <a:pPr indent="0" marL="0">
              <a:buNone/>
            </a:pPr>
            <a:r>
              <a:rPr lang="en-US" sz="1500" dirty="0">
                <a:solidFill>
                  <a:schemeClr val="tx1"/>
                </a:solidFill>
              </a:rPr>
              <a:t>homology from similarity graphs; a HOG = all genes from one ancestral gene</a:t>
            </a:r>
            <a:endParaRPr lang="en-US" sz="1500" dirty="0"/>
          </a:p>
        </p:txBody>
      </p:sp>
      <p:sp>
        <p:nvSpPr>
          <p:cNvPr id="9" name="different"/>
          <p:cNvSpPr/>
          <p:nvPr/>
        </p:nvSpPr>
        <p:spPr>
          <a:xfrm>
            <a:off x="6263640" y="4892040"/>
            <a:ext cx="5394960" cy="1097280"/>
          </a:xfrm>
          <a:prstGeom prst="roundRect">
            <a:avLst>
              <a:gd name="adj" fmla="val 10000"/>
            </a:avLst>
          </a:prstGeom>
          <a:solidFill>
            <a:schemeClr val="bg2"/>
          </a:solidFill>
          <a:ln w="12700">
            <a:solidFill>
              <a:schemeClr val="bg2"/>
            </a:solidFill>
            <a:prstDash val="solid"/>
          </a:ln>
        </p:spPr>
      </p:sp>
      <p:sp>
        <p:nvSpPr>
          <p:cNvPr id="10" name="icon-circle-FaExchangeAlt"/>
          <p:cNvSpPr/>
          <p:nvPr/>
        </p:nvSpPr>
        <p:spPr>
          <a:xfrm>
            <a:off x="6400800" y="5074920"/>
            <a:ext cx="731520" cy="731520"/>
          </a:xfrm>
          <a:prstGeom prst="ellipse">
            <a:avLst/>
          </a:prstGeom>
          <a:solidFill>
            <a:schemeClr val="accent4"/>
          </a:solidFill>
          <a:ln w="12700">
            <a:solidFill>
              <a:schemeClr val="accent4"/>
            </a:solidFill>
            <a:prstDash val="solid"/>
          </a:ln>
        </p:spPr>
      </p:sp>
      <p:pic>
        <p:nvPicPr>
          <p:cNvPr id="11" name="icon-FaExchangeAlt" descr="FaExchangeAlt">    </p:cNvPr>
          <p:cNvPicPr>
            <a:picLocks noChangeAspect="1"/>
          </p:cNvPicPr>
          <p:nvPr/>
        </p:nvPicPr>
        <p:blipFill>
          <a:blip r:embed="rId2"/>
          <a:stretch>
            <a:fillRect/>
          </a:stretch>
        </p:blipFill>
        <p:spPr>
          <a:xfrm>
            <a:off x="6576365" y="5250485"/>
            <a:ext cx="380390" cy="380390"/>
          </a:xfrm>
          <a:prstGeom prst="rect">
            <a:avLst/>
          </a:prstGeom>
        </p:spPr>
      </p:pic>
      <p:sp>
        <p:nvSpPr>
          <p:cNvPr id="12" name="Text 6"/>
          <p:cNvSpPr txBox="1"/>
          <p:nvPr/>
        </p:nvSpPr>
        <p:spPr>
          <a:xfrm>
            <a:off x="7315200" y="4937760"/>
            <a:ext cx="4206240" cy="1005840"/>
          </a:xfrm>
          <a:prstGeom prst="rect">
            <a:avLst/>
          </a:prstGeom>
          <a:noFill/>
          <a:ln/>
        </p:spPr>
        <p:txBody>
          <a:bodyPr wrap="square" lIns="0" tIns="0" rIns="0" bIns="0" rtlCol="0" anchor="ctr"/>
          <a:lstStyle/>
          <a:p>
            <a:pPr indent="0" marL="0">
              <a:buNone/>
            </a:pPr>
            <a:r>
              <a:rPr lang="en-US" sz="1500" b="1" dirty="0">
                <a:solidFill>
                  <a:schemeClr val="accent4"/>
                </a:solidFill>
              </a:rPr>
              <a:t>Different  </a:t>
            </a:r>
            <a:pPr indent="0" marL="0">
              <a:buNone/>
            </a:pPr>
            <a:r>
              <a:rPr lang="en-US" sz="1500" dirty="0">
                <a:solidFill>
                  <a:schemeClr val="tx1"/>
                </a:solidFill>
              </a:rPr>
              <a:t>no reference database; all families merged level by level at once</a:t>
            </a:r>
            <a:endParaRPr lang="en-US" sz="1500" dirty="0"/>
          </a:p>
        </p:txBody>
      </p:sp>
      <p:sp>
        <p:nvSpPr>
          <p:cNvPr id="13" name="Text 7"/>
          <p:cNvSpPr txBox="1"/>
          <p:nvPr/>
        </p:nvSpPr>
        <p:spPr>
          <a:xfrm>
            <a:off x="548640" y="6080760"/>
            <a:ext cx="10515600" cy="365760"/>
          </a:xfrm>
          <a:prstGeom prst="rect">
            <a:avLst/>
          </a:prstGeom>
          <a:noFill/>
          <a:ln/>
        </p:spPr>
        <p:txBody>
          <a:bodyPr wrap="square" lIns="0" tIns="0" rIns="0" bIns="0" rtlCol="0" anchor="t"/>
          <a:lstStyle/>
          <a:p>
            <a:pPr indent="0" marL="0">
              <a:buNone/>
            </a:pPr>
            <a:r>
              <a:rPr lang="en-US" sz="1100" i="1" dirty="0">
                <a:solidFill>
                  <a:schemeClr val="tx2"/>
                </a:solidFill>
              </a:rPr>
              <a:t>Numbers from the Ancestra README. ‡ OMA comparators overlap the benchmark. Non-inferiority to OrthoFinder not shown; QfO recall below OrthoFinder.</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Why 'new gene' counts are inflated</a:t>
            </a:r>
            <a:endParaRPr lang="en-US" sz="3200" dirty="0"/>
          </a:p>
        </p:txBody>
      </p:sp>
      <p:pic>
        <p:nvPicPr>
          <p:cNvPr id="4" name="explain_split.png" descr="A split family creates a false gain">    </p:cNvPr>
          <p:cNvPicPr>
            <a:picLocks noChangeAspect="1"/>
          </p:cNvPicPr>
          <p:nvPr/>
        </p:nvPicPr>
        <p:blipFill>
          <a:blip r:embed="rId1"/>
          <a:stretch>
            <a:fillRect/>
          </a:stretch>
        </p:blipFill>
        <p:spPr>
          <a:xfrm>
            <a:off x="457200" y="1908188"/>
            <a:ext cx="4480560" cy="3224503"/>
          </a:xfrm>
          <a:prstGeom prst="rect">
            <a:avLst/>
          </a:prstGeom>
        </p:spPr>
      </p:pic>
      <p:pic>
        <p:nvPicPr>
          <p:cNvPr id="5" name="explain_ladder.png" descr="Novelty ladder: all gains, sequence-novel, structurally unmatched">    </p:cNvPr>
          <p:cNvPicPr>
            <a:picLocks noChangeAspect="1"/>
          </p:cNvPicPr>
          <p:nvPr/>
        </p:nvPicPr>
        <p:blipFill>
          <a:blip r:embed="rId2"/>
          <a:stretch>
            <a:fillRect/>
          </a:stretch>
        </p:blipFill>
        <p:spPr>
          <a:xfrm>
            <a:off x="5120640" y="2030158"/>
            <a:ext cx="6583680" cy="2706245"/>
          </a:xfrm>
          <a:prstGeom prst="rect">
            <a:avLst/>
          </a:prstGeom>
        </p:spPr>
      </p:pic>
      <p:sp>
        <p:nvSpPr>
          <p:cNvPr id="6" name="Text 1"/>
          <p:cNvSpPr txBox="1"/>
          <p:nvPr/>
        </p:nvSpPr>
        <p:spPr>
          <a:xfrm>
            <a:off x="5212080" y="5577840"/>
            <a:ext cx="6400800" cy="320040"/>
          </a:xfrm>
          <a:prstGeom prst="rect">
            <a:avLst/>
          </a:prstGeom>
          <a:noFill/>
          <a:ln/>
        </p:spPr>
        <p:txBody>
          <a:bodyPr wrap="square" lIns="0" tIns="0" rIns="0" bIns="0" rtlCol="0" anchor="t"/>
          <a:lstStyle/>
          <a:p>
            <a:pPr indent="0" marL="0">
              <a:buNone/>
            </a:pPr>
            <a:r>
              <a:rPr lang="en-US" sz="1100" i="1" dirty="0">
                <a:solidFill>
                  <a:schemeClr val="tx2"/>
                </a:solidFill>
              </a:rPr>
              <a:t>Each rung removes 'new' genes that have detectable relatives outside the clade.</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Compare like with like</a:t>
            </a:r>
            <a:endParaRPr lang="en-US" sz="3200" dirty="0"/>
          </a:p>
        </p:txBody>
      </p:sp>
      <p:pic>
        <p:nvPicPr>
          <p:cNvPr id="4" name="explain_controls.png" descr="Event branch compared with control branches">    </p:cNvPr>
          <p:cNvPicPr>
            <a:picLocks noChangeAspect="1"/>
          </p:cNvPicPr>
          <p:nvPr/>
        </p:nvPicPr>
        <p:blipFill>
          <a:blip r:embed="rId1"/>
          <a:stretch>
            <a:fillRect/>
          </a:stretch>
        </p:blipFill>
        <p:spPr>
          <a:xfrm>
            <a:off x="510210" y="1234440"/>
            <a:ext cx="4831739" cy="4480560"/>
          </a:xfrm>
          <a:prstGeom prst="rect">
            <a:avLst/>
          </a:prstGeom>
        </p:spPr>
      </p:pic>
      <p:pic>
        <p:nvPicPr>
          <p:cNvPr id="5" name="explain_tips.png" descr="Rate ratios of tips against internal controls">    </p:cNvPr>
          <p:cNvPicPr>
            <a:picLocks noChangeAspect="1"/>
          </p:cNvPicPr>
          <p:nvPr/>
        </p:nvPicPr>
        <p:blipFill>
          <a:blip r:embed="rId2"/>
          <a:stretch>
            <a:fillRect/>
          </a:stretch>
        </p:blipFill>
        <p:spPr>
          <a:xfrm>
            <a:off x="5669280" y="1506497"/>
            <a:ext cx="5943600" cy="3662127"/>
          </a:xfrm>
          <a:prstGeom prst="rect">
            <a:avLst/>
          </a:prstGeom>
        </p:spPr>
      </p:pic>
      <p:sp>
        <p:nvSpPr>
          <p:cNvPr id="6" name="Text 1"/>
          <p:cNvSpPr txBox="1"/>
          <p:nvPr/>
        </p:nvSpPr>
        <p:spPr>
          <a:xfrm>
            <a:off x="5760720" y="5623560"/>
            <a:ext cx="5852160" cy="457200"/>
          </a:xfrm>
          <a:prstGeom prst="rect">
            <a:avLst/>
          </a:prstGeom>
          <a:noFill/>
          <a:ln/>
        </p:spPr>
        <p:txBody>
          <a:bodyPr wrap="square" lIns="0" tIns="0" rIns="0" bIns="0" rtlCol="0" anchor="t"/>
          <a:lstStyle/>
          <a:p>
            <a:pPr indent="0" marL="0">
              <a:buNone/>
            </a:pPr>
            <a:r>
              <a:rPr lang="en-US" sz="1100" i="1" dirty="0">
                <a:solidFill>
                  <a:schemeClr val="tx2"/>
                </a:solidFill>
              </a:rPr>
              <a:t>Right: geometric mean / pooled rate ratios from report Figure 3b. A tip looks 'novel' just for being a tip.</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Phylogenetic regression in one picture</a:t>
            </a:r>
            <a:endParaRPr lang="en-US" sz="3200" dirty="0"/>
          </a:p>
        </p:txBody>
      </p:sp>
      <p:pic>
        <p:nvPicPr>
          <p:cNvPr id="4" name="explain_pgls.png" descr="PGLS schematic">    </p:cNvPr>
          <p:cNvPicPr>
            <a:picLocks noChangeAspect="1"/>
          </p:cNvPicPr>
          <p:nvPr/>
        </p:nvPicPr>
        <p:blipFill>
          <a:blip r:embed="rId1"/>
          <a:stretch>
            <a:fillRect/>
          </a:stretch>
        </p:blipFill>
        <p:spPr>
          <a:xfrm>
            <a:off x="936843" y="1234440"/>
            <a:ext cx="10287834" cy="4343400"/>
          </a:xfrm>
          <a:prstGeom prst="rect">
            <a:avLst/>
          </a:prstGeom>
        </p:spPr>
      </p:pic>
      <p:sp>
        <p:nvSpPr>
          <p:cNvPr id="5" name="Text 1"/>
          <p:cNvSpPr txBox="1"/>
          <p:nvPr/>
        </p:nvSpPr>
        <p:spPr>
          <a:xfrm>
            <a:off x="548640" y="5715000"/>
            <a:ext cx="10972800" cy="411480"/>
          </a:xfrm>
          <a:prstGeom prst="rect">
            <a:avLst/>
          </a:prstGeom>
          <a:noFill/>
          <a:ln/>
        </p:spPr>
        <p:txBody>
          <a:bodyPr wrap="square" lIns="0" tIns="0" rIns="0" bIns="0" rtlCol="0" anchor="t"/>
          <a:lstStyle/>
          <a:p>
            <a:pPr indent="0" marL="0">
              <a:buNone/>
            </a:pPr>
            <a:r>
              <a:rPr lang="en-US" sz="1500" b="1" dirty="0">
                <a:solidFill>
                  <a:schemeClr val="accent1"/>
                </a:solidFill>
              </a:rPr>
              <a:t>PGLS: </a:t>
            </a:r>
            <a:pPr indent="0" marL="0">
              <a:buNone/>
            </a:pPr>
            <a:r>
              <a:rPr lang="en-US" sz="1500" dirty="0">
                <a:solidFill>
                  <a:schemeClr val="tx1"/>
                </a:solidFill>
              </a:rPr>
              <a:t>regression whose errors follow the species tree (Pagel's λ) · 148 genomes · covariates: proteome size, disorder</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Pre-registration and multiple testing</a:t>
            </a:r>
            <a:endParaRPr lang="en-US" sz="3200" dirty="0"/>
          </a:p>
        </p:txBody>
      </p:sp>
      <p:pic>
        <p:nvPicPr>
          <p:cNvPr id="4" name="explain_prereg.png" descr="Pre-registration steps">    </p:cNvPr>
          <p:cNvPicPr>
            <a:picLocks noChangeAspect="1"/>
          </p:cNvPicPr>
          <p:nvPr/>
        </p:nvPicPr>
        <p:blipFill>
          <a:blip r:embed="rId1"/>
          <a:stretch>
            <a:fillRect/>
          </a:stretch>
        </p:blipFill>
        <p:spPr>
          <a:xfrm>
            <a:off x="548640" y="1512942"/>
            <a:ext cx="5394960" cy="1546117"/>
          </a:xfrm>
          <a:prstGeom prst="rect">
            <a:avLst/>
          </a:prstGeom>
        </p:spPr>
      </p:pic>
      <p:sp>
        <p:nvSpPr>
          <p:cNvPr id="5" name="icon-circle-FaLock"/>
          <p:cNvSpPr/>
          <p:nvPr/>
        </p:nvSpPr>
        <p:spPr>
          <a:xfrm>
            <a:off x="640080" y="3520440"/>
            <a:ext cx="548640" cy="548640"/>
          </a:xfrm>
          <a:prstGeom prst="ellipse">
            <a:avLst/>
          </a:prstGeom>
          <a:solidFill>
            <a:schemeClr val="tx2"/>
          </a:solidFill>
          <a:ln w="12700">
            <a:solidFill>
              <a:schemeClr val="tx2"/>
            </a:solidFill>
            <a:prstDash val="solid"/>
          </a:ln>
        </p:spPr>
      </p:sp>
      <p:pic>
        <p:nvPicPr>
          <p:cNvPr id="6" name="icon-FaLock" descr="FaLock">    </p:cNvPr>
          <p:cNvPicPr>
            <a:picLocks noChangeAspect="1"/>
          </p:cNvPicPr>
          <p:nvPr/>
        </p:nvPicPr>
        <p:blipFill>
          <a:blip r:embed="rId2"/>
          <a:stretch>
            <a:fillRect/>
          </a:stretch>
        </p:blipFill>
        <p:spPr>
          <a:xfrm>
            <a:off x="771754" y="3652114"/>
            <a:ext cx="285293" cy="285293"/>
          </a:xfrm>
          <a:prstGeom prst="rect">
            <a:avLst/>
          </a:prstGeom>
        </p:spPr>
      </p:pic>
      <p:sp>
        <p:nvSpPr>
          <p:cNvPr id="7" name="Text 2"/>
          <p:cNvSpPr txBox="1"/>
          <p:nvPr/>
        </p:nvSpPr>
        <p:spPr>
          <a:xfrm>
            <a:off x="1371600" y="3474720"/>
            <a:ext cx="4389120" cy="685800"/>
          </a:xfrm>
          <a:prstGeom prst="rect">
            <a:avLst/>
          </a:prstGeom>
          <a:noFill/>
          <a:ln/>
        </p:spPr>
        <p:txBody>
          <a:bodyPr wrap="square" lIns="0" tIns="0" rIns="0" bIns="0" rtlCol="0" anchor="t"/>
          <a:lstStyle/>
          <a:p>
            <a:pPr indent="0" marL="0">
              <a:buNone/>
            </a:pPr>
            <a:r>
              <a:rPr lang="en-US" sz="1500" b="1" dirty="0">
                <a:solidFill>
                  <a:schemeClr val="tx1"/>
                </a:solidFill>
              </a:rPr>
              <a:t>prereg-v1</a:t>
            </a:r>
            <a:endParaRPr lang="en-US" sz="1500" dirty="0"/>
          </a:p>
          <a:p>
            <a:pPr indent="0" marL="0">
              <a:buNone/>
            </a:pPr>
            <a:r>
              <a:rPr lang="en-US" sz="1400" dirty="0">
                <a:solidFill>
                  <a:schemeClr val="tx1"/>
                </a:solidFill>
              </a:rPr>
              <a:t>round 1 · 15 hashed inputs</a:t>
            </a:r>
            <a:endParaRPr lang="en-US" sz="1500" dirty="0"/>
          </a:p>
        </p:txBody>
      </p:sp>
      <p:sp>
        <p:nvSpPr>
          <p:cNvPr id="8" name="icon-circle-FaLock"/>
          <p:cNvSpPr/>
          <p:nvPr/>
        </p:nvSpPr>
        <p:spPr>
          <a:xfrm>
            <a:off x="640080" y="4297680"/>
            <a:ext cx="548640" cy="548640"/>
          </a:xfrm>
          <a:prstGeom prst="ellipse">
            <a:avLst/>
          </a:prstGeom>
          <a:solidFill>
            <a:schemeClr val="tx2"/>
          </a:solidFill>
          <a:ln w="12700">
            <a:solidFill>
              <a:schemeClr val="tx2"/>
            </a:solidFill>
            <a:prstDash val="solid"/>
          </a:ln>
        </p:spPr>
      </p:sp>
      <p:pic>
        <p:nvPicPr>
          <p:cNvPr id="9" name="icon-FaLock" descr="FaLock">    </p:cNvPr>
          <p:cNvPicPr>
            <a:picLocks noChangeAspect="1"/>
          </p:cNvPicPr>
          <p:nvPr/>
        </p:nvPicPr>
        <p:blipFill>
          <a:blip r:embed="rId3"/>
          <a:stretch>
            <a:fillRect/>
          </a:stretch>
        </p:blipFill>
        <p:spPr>
          <a:xfrm>
            <a:off x="771754" y="4429354"/>
            <a:ext cx="285293" cy="285293"/>
          </a:xfrm>
          <a:prstGeom prst="rect">
            <a:avLst/>
          </a:prstGeom>
        </p:spPr>
      </p:pic>
      <p:sp>
        <p:nvSpPr>
          <p:cNvPr id="10" name="Text 4"/>
          <p:cNvSpPr txBox="1"/>
          <p:nvPr/>
        </p:nvSpPr>
        <p:spPr>
          <a:xfrm>
            <a:off x="1371600" y="4251960"/>
            <a:ext cx="4389120" cy="685800"/>
          </a:xfrm>
          <a:prstGeom prst="rect">
            <a:avLst/>
          </a:prstGeom>
          <a:noFill/>
          <a:ln/>
        </p:spPr>
        <p:txBody>
          <a:bodyPr wrap="square" lIns="0" tIns="0" rIns="0" bIns="0" rtlCol="0" anchor="t"/>
          <a:lstStyle/>
          <a:p>
            <a:pPr indent="0" marL="0">
              <a:buNone/>
            </a:pPr>
            <a:r>
              <a:rPr lang="en-US" sz="1500" b="1" dirty="0">
                <a:solidFill>
                  <a:schemeClr val="tx1"/>
                </a:solidFill>
              </a:rPr>
              <a:t>prereg-r2</a:t>
            </a:r>
            <a:endParaRPr lang="en-US" sz="1500" dirty="0"/>
          </a:p>
          <a:p>
            <a:pPr indent="0" marL="0">
              <a:buNone/>
            </a:pPr>
            <a:r>
              <a:rPr lang="en-US" sz="1400" dirty="0">
                <a:solidFill>
                  <a:schemeClr val="tx1"/>
                </a:solidFill>
              </a:rPr>
              <a:t>round 2 design + family lists</a:t>
            </a:r>
            <a:endParaRPr lang="en-US" sz="1500" dirty="0"/>
          </a:p>
        </p:txBody>
      </p:sp>
      <p:sp>
        <p:nvSpPr>
          <p:cNvPr id="11" name="icon-circle-FaLock"/>
          <p:cNvSpPr/>
          <p:nvPr/>
        </p:nvSpPr>
        <p:spPr>
          <a:xfrm>
            <a:off x="640080" y="5074920"/>
            <a:ext cx="548640" cy="548640"/>
          </a:xfrm>
          <a:prstGeom prst="ellipse">
            <a:avLst/>
          </a:prstGeom>
          <a:solidFill>
            <a:schemeClr val="tx2"/>
          </a:solidFill>
          <a:ln w="12700">
            <a:solidFill>
              <a:schemeClr val="tx2"/>
            </a:solidFill>
            <a:prstDash val="solid"/>
          </a:ln>
        </p:spPr>
      </p:sp>
      <p:pic>
        <p:nvPicPr>
          <p:cNvPr id="12" name="icon-FaLock" descr="FaLock">    </p:cNvPr>
          <p:cNvPicPr>
            <a:picLocks noChangeAspect="1"/>
          </p:cNvPicPr>
          <p:nvPr/>
        </p:nvPicPr>
        <p:blipFill>
          <a:blip r:embed="rId4"/>
          <a:stretch>
            <a:fillRect/>
          </a:stretch>
        </p:blipFill>
        <p:spPr>
          <a:xfrm>
            <a:off x="771754" y="5206594"/>
            <a:ext cx="285293" cy="285293"/>
          </a:xfrm>
          <a:prstGeom prst="rect">
            <a:avLst/>
          </a:prstGeom>
        </p:spPr>
      </p:pic>
      <p:sp>
        <p:nvSpPr>
          <p:cNvPr id="13" name="Text 6"/>
          <p:cNvSpPr txBox="1"/>
          <p:nvPr/>
        </p:nvSpPr>
        <p:spPr>
          <a:xfrm>
            <a:off x="1371600" y="5029200"/>
            <a:ext cx="4389120" cy="685800"/>
          </a:xfrm>
          <a:prstGeom prst="rect">
            <a:avLst/>
          </a:prstGeom>
          <a:noFill/>
          <a:ln/>
        </p:spPr>
        <p:txBody>
          <a:bodyPr wrap="square" lIns="0" tIns="0" rIns="0" bIns="0" rtlCol="0" anchor="t"/>
          <a:lstStyle/>
          <a:p>
            <a:pPr indent="0" marL="0">
              <a:buNone/>
            </a:pPr>
            <a:r>
              <a:rPr lang="en-US" sz="1500" b="1" dirty="0">
                <a:solidFill>
                  <a:schemeClr val="tx1"/>
                </a:solidFill>
              </a:rPr>
              <a:t>prereg-r2-p1</a:t>
            </a:r>
            <a:endParaRPr lang="en-US" sz="1500" dirty="0"/>
          </a:p>
          <a:p>
            <a:pPr indent="0" marL="0">
              <a:buNone/>
            </a:pPr>
            <a:r>
              <a:rPr lang="en-US" sz="1400" dirty="0">
                <a:solidFill>
                  <a:schemeClr val="tx1"/>
                </a:solidFill>
              </a:rPr>
              <a:t>4 confirmatory events</a:t>
            </a:r>
            <a:endParaRPr lang="en-US" sz="1500" dirty="0"/>
          </a:p>
        </p:txBody>
      </p:sp>
      <p:pic>
        <p:nvPicPr>
          <p:cNvPr id="14" name="explain_holm.png" descr="Holm thresholds for the three confirmatory tests">    </p:cNvPr>
          <p:cNvPicPr>
            <a:picLocks noChangeAspect="1"/>
          </p:cNvPicPr>
          <p:nvPr/>
        </p:nvPicPr>
        <p:blipFill>
          <a:blip r:embed="rId5"/>
          <a:stretch>
            <a:fillRect/>
          </a:stretch>
        </p:blipFill>
        <p:spPr>
          <a:xfrm>
            <a:off x="6217920" y="1746809"/>
            <a:ext cx="5440680" cy="2998621"/>
          </a:xfrm>
          <a:prstGeom prst="rect">
            <a:avLst/>
          </a:prstGeom>
        </p:spPr>
      </p:pic>
      <p:sp>
        <p:nvSpPr>
          <p:cNvPr id="15" name="Text 7"/>
          <p:cNvSpPr txBox="1"/>
          <p:nvPr/>
        </p:nvSpPr>
        <p:spPr>
          <a:xfrm>
            <a:off x="6309360" y="5486400"/>
            <a:ext cx="5303520" cy="365760"/>
          </a:xfrm>
          <a:prstGeom prst="rect">
            <a:avLst/>
          </a:prstGeom>
          <a:noFill/>
          <a:ln/>
        </p:spPr>
        <p:txBody>
          <a:bodyPr wrap="square" lIns="0" tIns="0" rIns="0" bIns="0" rtlCol="0" anchor="t"/>
          <a:lstStyle/>
          <a:p>
            <a:pPr indent="0" marL="0">
              <a:buNone/>
            </a:pPr>
            <a:r>
              <a:rPr lang="en-US" sz="1100" i="1" dirty="0">
                <a:solidFill>
                  <a:schemeClr val="tx2"/>
                </a:solidFill>
              </a:rPr>
              <a:t>Holm: smallest p must beat α/3, the next α/2, …; stop at the first failure.</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Structure from sequence, on one GPU</a:t>
            </a:r>
            <a:endParaRPr lang="en-US" sz="3200" dirty="0"/>
          </a:p>
        </p:txBody>
      </p:sp>
      <p:pic>
        <p:nvPicPr>
          <p:cNvPr id="4" name="explain_prostt5.png" descr="Sequence to ProstT5 to 3Di letters to Foldseek">    </p:cNvPr>
          <p:cNvPicPr>
            <a:picLocks noChangeAspect="1"/>
          </p:cNvPicPr>
          <p:nvPr/>
        </p:nvPicPr>
        <p:blipFill>
          <a:blip r:embed="rId1"/>
          <a:stretch>
            <a:fillRect/>
          </a:stretch>
        </p:blipFill>
        <p:spPr>
          <a:xfrm>
            <a:off x="548640" y="1244541"/>
            <a:ext cx="11064240" cy="2631558"/>
          </a:xfrm>
          <a:prstGeom prst="rect">
            <a:avLst/>
          </a:prstGeom>
        </p:spPr>
      </p:pic>
      <p:pic>
        <p:nvPicPr>
          <p:cNvPr id="5" name="explain_gpu_bars.png" descr="GPU throughput and accuracy bars">    </p:cNvPr>
          <p:cNvPicPr>
            <a:picLocks noChangeAspect="1"/>
          </p:cNvPicPr>
          <p:nvPr/>
        </p:nvPicPr>
        <p:blipFill>
          <a:blip r:embed="rId2"/>
          <a:stretch>
            <a:fillRect/>
          </a:stretch>
        </p:blipFill>
        <p:spPr>
          <a:xfrm>
            <a:off x="548640" y="3977640"/>
            <a:ext cx="7654304" cy="2377440"/>
          </a:xfrm>
          <a:prstGeom prst="rect">
            <a:avLst/>
          </a:prstGeom>
        </p:spPr>
      </p:pic>
      <p:sp>
        <p:nvSpPr>
          <p:cNvPr id="6" name="gpu-note"/>
          <p:cNvSpPr/>
          <p:nvPr/>
        </p:nvSpPr>
        <p:spPr>
          <a:xfrm>
            <a:off x="8686800" y="4160520"/>
            <a:ext cx="2971800" cy="1920240"/>
          </a:xfrm>
          <a:prstGeom prst="roundRect">
            <a:avLst>
              <a:gd name="adj" fmla="val 5714"/>
            </a:avLst>
          </a:prstGeom>
          <a:solidFill>
            <a:schemeClr val="bg2"/>
          </a:solidFill>
          <a:ln w="12700">
            <a:solidFill>
              <a:schemeClr val="bg2"/>
            </a:solidFill>
            <a:prstDash val="solid"/>
          </a:ln>
        </p:spPr>
      </p:sp>
      <p:sp>
        <p:nvSpPr>
          <p:cNvPr id="7" name="Text 2"/>
          <p:cNvSpPr txBox="1"/>
          <p:nvPr/>
        </p:nvSpPr>
        <p:spPr>
          <a:xfrm>
            <a:off x="8869680" y="4251960"/>
            <a:ext cx="2651760" cy="1737360"/>
          </a:xfrm>
          <a:prstGeom prst="rect">
            <a:avLst/>
          </a:prstGeom>
          <a:noFill/>
          <a:ln/>
        </p:spPr>
        <p:txBody>
          <a:bodyPr wrap="square" lIns="0" tIns="0" rIns="0" bIns="0" rtlCol="0" anchor="ctr"/>
          <a:lstStyle/>
          <a:p>
            <a:pPr indent="0" marL="0">
              <a:buNone/>
            </a:pPr>
            <a:r>
              <a:rPr lang="en-US" sz="1500" b="1" dirty="0">
                <a:solidFill>
                  <a:schemeClr val="accent4"/>
                </a:solidFill>
              </a:rPr>
              <a:t>Lesson  </a:t>
            </a:r>
            <a:pPr indent="0" marL="0">
              <a:buNone/>
            </a:pPr>
            <a:r>
              <a:rPr lang="en-US" sz="1500" dirty="0">
                <a:solidFill>
                  <a:schemeClr val="tx1"/>
                </a:solidFill>
              </a:rPr>
              <a:t>check the device is really used: the pilot caught a silent CPU fallback in the first hour</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Cross-checking with a second method</a:t>
            </a:r>
            <a:endParaRPr lang="en-US" sz="3200" dirty="0"/>
          </a:p>
        </p:txBody>
      </p:sp>
      <p:pic>
        <p:nvPicPr>
          <p:cNvPr id="4" name="explain_xcheck.png" descr="Two methods, same proteins, same tree: where did each family arise?">    </p:cNvPr>
          <p:cNvPicPr>
            <a:picLocks noChangeAspect="1"/>
          </p:cNvPicPr>
          <p:nvPr/>
        </p:nvPicPr>
        <p:blipFill>
          <a:blip r:embed="rId1"/>
          <a:stretch>
            <a:fillRect/>
          </a:stretch>
        </p:blipFill>
        <p:spPr>
          <a:xfrm>
            <a:off x="626990" y="1234440"/>
            <a:ext cx="10907541" cy="4480560"/>
          </a:xfrm>
          <a:prstGeom prst="rect">
            <a:avLst/>
          </a:prstGeom>
        </p:spPr>
      </p:pic>
      <p:sp>
        <p:nvSpPr>
          <p:cNvPr id="5" name="Text 1"/>
          <p:cNvSpPr txBox="1"/>
          <p:nvPr/>
        </p:nvSpPr>
        <p:spPr>
          <a:xfrm>
            <a:off x="548640" y="585216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Same proteins, same tree, same parser: only the orthology method differs. Agreement measures consistency, not accuracy.</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Round 2: eight focused reconstructions</a:t>
            </a:r>
            <a:endParaRPr lang="en-US" sz="3200" dirty="0"/>
          </a:p>
        </p:txBody>
      </p:sp>
      <p:pic>
        <p:nvPicPr>
          <p:cNvPr id="4" name="fig1_ab.png" descr="Report Figure 1a-b: proteomes per panel and coded events">    </p:cNvPr>
          <p:cNvPicPr>
            <a:picLocks noChangeAspect="1"/>
          </p:cNvPicPr>
          <p:nvPr/>
        </p:nvPicPr>
        <p:blipFill>
          <a:blip r:embed="rId1"/>
          <a:stretch>
            <a:fillRect/>
          </a:stretch>
        </p:blipFill>
        <p:spPr>
          <a:xfrm>
            <a:off x="548640" y="1295490"/>
            <a:ext cx="11064240" cy="3124021"/>
          </a:xfrm>
          <a:prstGeom prst="rect">
            <a:avLst/>
          </a:prstGeom>
        </p:spPr>
      </p:pic>
      <p:sp>
        <p:nvSpPr>
          <p:cNvPr id="5" name="Text 1"/>
          <p:cNvSpPr txBox="1"/>
          <p:nvPr/>
        </p:nvSpPr>
        <p:spPr>
          <a:xfrm>
            <a:off x="731520" y="4572000"/>
            <a:ext cx="3474720" cy="685800"/>
          </a:xfrm>
          <a:prstGeom prst="rect">
            <a:avLst/>
          </a:prstGeom>
          <a:noFill/>
          <a:ln/>
        </p:spPr>
        <p:txBody>
          <a:bodyPr wrap="square" lIns="0" tIns="0" rIns="0" bIns="0" rtlCol="0" anchor="b"/>
          <a:lstStyle/>
          <a:p>
            <a:pPr indent="0" marL="0">
              <a:buNone/>
            </a:pPr>
            <a:r>
              <a:rPr lang="en-US" sz="3400" b="1" dirty="0">
                <a:solidFill>
                  <a:schemeClr val="accent1"/>
                </a:solidFill>
              </a:rPr>
              <a:t>18–40</a:t>
            </a:r>
            <a:endParaRPr lang="en-US" sz="3400" dirty="0"/>
          </a:p>
        </p:txBody>
      </p:sp>
      <p:sp>
        <p:nvSpPr>
          <p:cNvPr id="6" name="Text 2"/>
          <p:cNvSpPr txBox="1"/>
          <p:nvPr/>
        </p:nvSpPr>
        <p:spPr>
          <a:xfrm>
            <a:off x="731520" y="5303520"/>
            <a:ext cx="3474720" cy="685800"/>
          </a:xfrm>
          <a:prstGeom prst="rect">
            <a:avLst/>
          </a:prstGeom>
          <a:noFill/>
          <a:ln/>
        </p:spPr>
        <p:txBody>
          <a:bodyPr wrap="square" lIns="0" tIns="0" rIns="0" bIns="0" rtlCol="0" anchor="t"/>
          <a:lstStyle/>
          <a:p>
            <a:pPr indent="0" marL="0">
              <a:buNone/>
            </a:pPr>
            <a:r>
              <a:rPr lang="en-US" sz="1400" dirty="0">
                <a:solidFill>
                  <a:schemeClr val="tx1"/>
                </a:solidFill>
              </a:rPr>
              <a:t>proteomes per panel (227 in all)</a:t>
            </a:r>
            <a:endParaRPr lang="en-US" sz="1400" dirty="0"/>
          </a:p>
        </p:txBody>
      </p:sp>
      <p:sp>
        <p:nvSpPr>
          <p:cNvPr id="7" name="Text 3"/>
          <p:cNvSpPr txBox="1"/>
          <p:nvPr/>
        </p:nvSpPr>
        <p:spPr>
          <a:xfrm>
            <a:off x="4480560" y="4572000"/>
            <a:ext cx="3474720" cy="685800"/>
          </a:xfrm>
          <a:prstGeom prst="rect">
            <a:avLst/>
          </a:prstGeom>
          <a:noFill/>
          <a:ln/>
        </p:spPr>
        <p:txBody>
          <a:bodyPr wrap="square" lIns="0" tIns="0" rIns="0" bIns="0" rtlCol="0" anchor="b"/>
          <a:lstStyle/>
          <a:p>
            <a:pPr indent="0" marL="0">
              <a:buNone/>
            </a:pPr>
            <a:r>
              <a:rPr lang="en-US" sz="3400" b="1" dirty="0">
                <a:solidFill>
                  <a:schemeClr val="accent1"/>
                </a:solidFill>
              </a:rPr>
              <a:t>15–45 min</a:t>
            </a:r>
            <a:endParaRPr lang="en-US" sz="3400" dirty="0"/>
          </a:p>
        </p:txBody>
      </p:sp>
      <p:sp>
        <p:nvSpPr>
          <p:cNvPr id="8" name="Text 4"/>
          <p:cNvSpPr txBox="1"/>
          <p:nvPr/>
        </p:nvSpPr>
        <p:spPr>
          <a:xfrm>
            <a:off x="4480560" y="5303520"/>
            <a:ext cx="3474720" cy="685800"/>
          </a:xfrm>
          <a:prstGeom prst="rect">
            <a:avLst/>
          </a:prstGeom>
          <a:noFill/>
          <a:ln/>
        </p:spPr>
        <p:txBody>
          <a:bodyPr wrap="square" lIns="0" tIns="0" rIns="0" bIns="0" rtlCol="0" anchor="t"/>
          <a:lstStyle/>
          <a:p>
            <a:pPr indent="0" marL="0">
              <a:buNone/>
            </a:pPr>
            <a:r>
              <a:rPr lang="en-US" sz="1400" dirty="0">
                <a:solidFill>
                  <a:schemeClr val="tx1"/>
                </a:solidFill>
              </a:rPr>
              <a:t>per reconstruction (round 1: ~9–10 h)</a:t>
            </a:r>
            <a:endParaRPr lang="en-US" sz="1400" dirty="0"/>
          </a:p>
        </p:txBody>
      </p:sp>
      <p:sp>
        <p:nvSpPr>
          <p:cNvPr id="9" name="Text 5"/>
          <p:cNvSpPr txBox="1"/>
          <p:nvPr/>
        </p:nvSpPr>
        <p:spPr>
          <a:xfrm>
            <a:off x="8229600" y="4572000"/>
            <a:ext cx="3474720" cy="685800"/>
          </a:xfrm>
          <a:prstGeom prst="rect">
            <a:avLst/>
          </a:prstGeom>
          <a:noFill/>
          <a:ln/>
        </p:spPr>
        <p:txBody>
          <a:bodyPr wrap="square" lIns="0" tIns="0" rIns="0" bIns="0" rtlCol="0" anchor="b"/>
          <a:lstStyle/>
          <a:p>
            <a:pPr indent="0" marL="0">
              <a:buNone/>
            </a:pPr>
            <a:r>
              <a:rPr lang="en-US" sz="3400" b="1" dirty="0">
                <a:solidFill>
                  <a:schemeClr val="accent4"/>
                </a:solidFill>
              </a:rPr>
              <a:t>5–9</a:t>
            </a:r>
            <a:endParaRPr lang="en-US" sz="3400" dirty="0"/>
          </a:p>
        </p:txBody>
      </p:sp>
      <p:sp>
        <p:nvSpPr>
          <p:cNvPr id="10" name="Text 6"/>
          <p:cNvSpPr txBox="1"/>
          <p:nvPr/>
        </p:nvSpPr>
        <p:spPr>
          <a:xfrm>
            <a:off x="8229600" y="5303520"/>
            <a:ext cx="3474720" cy="685800"/>
          </a:xfrm>
          <a:prstGeom prst="rect">
            <a:avLst/>
          </a:prstGeom>
          <a:noFill/>
          <a:ln/>
        </p:spPr>
        <p:txBody>
          <a:bodyPr wrap="square" lIns="0" tIns="0" rIns="0" bIns="0" rtlCol="0" anchor="t"/>
          <a:lstStyle/>
          <a:p>
            <a:pPr indent="0" marL="0">
              <a:buNone/>
            </a:pPr>
            <a:r>
              <a:rPr lang="en-US" sz="1400" dirty="0">
                <a:solidFill>
                  <a:schemeClr val="tx1"/>
                </a:solidFill>
              </a:rPr>
              <a:t>control branches per panel: coarse tests</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F</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Main results</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One message per slide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Round 1: no shared signature of seven origins</a:t>
            </a:r>
            <a:endParaRPr lang="en-US" sz="3200" dirty="0"/>
          </a:p>
        </p:txBody>
      </p:sp>
      <p:pic>
        <p:nvPicPr>
          <p:cNvPr id="4" name="../../../figures/fig3_primary_tests.png" descr="Round-1 Figure 3: five primary tests">    </p:cNvPr>
          <p:cNvPicPr>
            <a:picLocks noChangeAspect="1"/>
          </p:cNvPicPr>
          <p:nvPr/>
        </p:nvPicPr>
        <p:blipFill>
          <a:blip r:embed="rId1"/>
          <a:stretch>
            <a:fillRect/>
          </a:stretch>
        </p:blipFill>
        <p:spPr>
          <a:xfrm>
            <a:off x="457200" y="1311709"/>
            <a:ext cx="7863840" cy="4783221"/>
          </a:xfrm>
          <a:prstGeom prst="rect">
            <a:avLst/>
          </a:prstGeom>
        </p:spPr>
      </p:pic>
      <p:sp>
        <p:nvSpPr>
          <p:cNvPr id="5" name="Text 1"/>
          <p:cNvSpPr txBox="1"/>
          <p:nvPr/>
        </p:nvSpPr>
        <p:spPr>
          <a:xfrm>
            <a:off x="8595360" y="1371600"/>
            <a:ext cx="3108960" cy="685800"/>
          </a:xfrm>
          <a:prstGeom prst="rect">
            <a:avLst/>
          </a:prstGeom>
          <a:noFill/>
          <a:ln/>
        </p:spPr>
        <p:txBody>
          <a:bodyPr wrap="square" lIns="0" tIns="0" rIns="0" bIns="0" rtlCol="0" anchor="b"/>
          <a:lstStyle/>
          <a:p>
            <a:pPr indent="0" marL="0">
              <a:buNone/>
            </a:pPr>
            <a:r>
              <a:rPr lang="en-US" sz="3800" b="1" dirty="0">
                <a:solidFill>
                  <a:schemeClr val="accent4"/>
                </a:solidFill>
              </a:rPr>
              <a:t>0 of 5</a:t>
            </a:r>
            <a:endParaRPr lang="en-US" sz="3800" dirty="0"/>
          </a:p>
        </p:txBody>
      </p:sp>
      <p:sp>
        <p:nvSpPr>
          <p:cNvPr id="6" name="Text 2"/>
          <p:cNvSpPr txBox="1"/>
          <p:nvPr/>
        </p:nvSpPr>
        <p:spPr>
          <a:xfrm>
            <a:off x="8595360" y="2103120"/>
            <a:ext cx="3108960" cy="685800"/>
          </a:xfrm>
          <a:prstGeom prst="rect">
            <a:avLst/>
          </a:prstGeom>
          <a:noFill/>
          <a:ln/>
        </p:spPr>
        <p:txBody>
          <a:bodyPr wrap="square" lIns="0" tIns="0" rIns="0" bIns="0" rtlCol="0" anchor="t"/>
          <a:lstStyle/>
          <a:p>
            <a:pPr indent="0" marL="0">
              <a:buNone/>
            </a:pPr>
            <a:r>
              <a:rPr lang="en-US" sz="1400" dirty="0">
                <a:solidFill>
                  <a:schemeClr val="tx1"/>
                </a:solidFill>
              </a:rPr>
              <a:t>primary tests significant after Holm</a:t>
            </a:r>
            <a:endParaRPr lang="en-US" sz="1400" dirty="0"/>
          </a:p>
        </p:txBody>
      </p:sp>
      <p:sp>
        <p:nvSpPr>
          <p:cNvPr id="7" name="Text 3"/>
          <p:cNvSpPr txBox="1"/>
          <p:nvPr/>
        </p:nvSpPr>
        <p:spPr>
          <a:xfrm>
            <a:off x="8595360" y="2926080"/>
            <a:ext cx="3108960" cy="685800"/>
          </a:xfrm>
          <a:prstGeom prst="rect">
            <a:avLst/>
          </a:prstGeom>
          <a:noFill/>
          <a:ln/>
        </p:spPr>
        <p:txBody>
          <a:bodyPr wrap="square" lIns="0" tIns="0" rIns="0" bIns="0" rtlCol="0" anchor="b"/>
          <a:lstStyle/>
          <a:p>
            <a:pPr indent="0" marL="0">
              <a:buNone/>
            </a:pPr>
            <a:r>
              <a:rPr lang="en-US" sz="3800" b="1" dirty="0">
                <a:solidFill>
                  <a:schemeClr val="accent1"/>
                </a:solidFill>
              </a:rPr>
              <a:t>1.10×</a:t>
            </a:r>
            <a:endParaRPr lang="en-US" sz="3800" dirty="0"/>
          </a:p>
        </p:txBody>
      </p:sp>
      <p:sp>
        <p:nvSpPr>
          <p:cNvPr id="8" name="Text 4"/>
          <p:cNvSpPr txBox="1"/>
          <p:nvPr/>
        </p:nvSpPr>
        <p:spPr>
          <a:xfrm>
            <a:off x="8595360" y="3657600"/>
            <a:ext cx="3108960" cy="685800"/>
          </a:xfrm>
          <a:prstGeom prst="rect">
            <a:avLst/>
          </a:prstGeom>
          <a:noFill/>
          <a:ln/>
        </p:spPr>
        <p:txBody>
          <a:bodyPr wrap="square" lIns="0" tIns="0" rIns="0" bIns="0" rtlCol="0" anchor="t"/>
          <a:lstStyle/>
          <a:p>
            <a:pPr indent="0" marL="0">
              <a:buNone/>
            </a:pPr>
            <a:r>
              <a:rPr lang="en-US" sz="1400" dirty="0">
                <a:solidFill>
                  <a:schemeClr val="tx1"/>
                </a:solidFill>
              </a:rPr>
              <a:t>rate ratio [0.96–1.26]: no ≥1.5-fold shift</a:t>
            </a:r>
            <a:endParaRPr lang="en-US" sz="1400" dirty="0"/>
          </a:p>
        </p:txBody>
      </p:sp>
      <p:sp>
        <p:nvSpPr>
          <p:cNvPr id="9" name="Text 5"/>
          <p:cNvSpPr txBox="1"/>
          <p:nvPr/>
        </p:nvSpPr>
        <p:spPr>
          <a:xfrm>
            <a:off x="8595360" y="4480560"/>
            <a:ext cx="3108960" cy="685800"/>
          </a:xfrm>
          <a:prstGeom prst="rect">
            <a:avLst/>
          </a:prstGeom>
          <a:noFill/>
          <a:ln/>
        </p:spPr>
        <p:txBody>
          <a:bodyPr wrap="square" lIns="0" tIns="0" rIns="0" bIns="0" rtlCol="0" anchor="b"/>
          <a:lstStyle/>
          <a:p>
            <a:pPr indent="0" marL="0">
              <a:buNone/>
            </a:pPr>
            <a:r>
              <a:rPr lang="en-US" sz="3800" b="1" dirty="0">
                <a:solidFill>
                  <a:schemeClr val="accent5"/>
                </a:solidFill>
              </a:rPr>
              <a:t>13–35%</a:t>
            </a:r>
            <a:endParaRPr lang="en-US" sz="3800" dirty="0"/>
          </a:p>
        </p:txBody>
      </p:sp>
      <p:sp>
        <p:nvSpPr>
          <p:cNvPr id="10" name="Text 6"/>
          <p:cNvSpPr txBox="1"/>
          <p:nvPr/>
        </p:nvSpPr>
        <p:spPr>
          <a:xfrm>
            <a:off x="8595360" y="5212080"/>
            <a:ext cx="3108960" cy="685800"/>
          </a:xfrm>
          <a:prstGeom prst="rect">
            <a:avLst/>
          </a:prstGeom>
          <a:noFill/>
          <a:ln/>
        </p:spPr>
        <p:txBody>
          <a:bodyPr wrap="square" lIns="0" tIns="0" rIns="0" bIns="0" rtlCol="0" anchor="t"/>
          <a:lstStyle/>
          <a:p>
            <a:pPr indent="0" marL="0">
              <a:buNone/>
            </a:pPr>
            <a:r>
              <a:rPr lang="en-US" sz="1400" dirty="0">
                <a:solidFill>
                  <a:schemeClr val="tx1"/>
                </a:solidFill>
              </a:rPr>
              <a:t>power of gene-content tests at 1.5-fold</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Errata: the review caught three overstatements</a:t>
            </a:r>
            <a:endParaRPr lang="en-US" sz="3200" dirty="0"/>
          </a:p>
        </p:txBody>
      </p:sp>
      <p:sp>
        <p:nvSpPr>
          <p:cNvPr id="4" name="Text 1"/>
          <p:cNvSpPr txBox="1"/>
          <p:nvPr/>
        </p:nvSpPr>
        <p:spPr>
          <a:xfrm>
            <a:off x="1463040" y="1234440"/>
            <a:ext cx="3840480" cy="365760"/>
          </a:xfrm>
          <a:prstGeom prst="rect">
            <a:avLst/>
          </a:prstGeom>
          <a:noFill/>
          <a:ln/>
        </p:spPr>
        <p:txBody>
          <a:bodyPr wrap="square" lIns="0" tIns="0" rIns="0" bIns="0" rtlCol="0" anchor="t"/>
          <a:lstStyle/>
          <a:p>
            <a:pPr indent="0" marL="0">
              <a:buNone/>
            </a:pPr>
            <a:r>
              <a:rPr lang="en-US" sz="1400" b="1" dirty="0">
                <a:solidFill>
                  <a:schemeClr val="tx2"/>
                </a:solidFill>
              </a:rPr>
              <a:t>Claim</a:t>
            </a:r>
            <a:endParaRPr lang="en-US" sz="1400" dirty="0"/>
          </a:p>
        </p:txBody>
      </p:sp>
      <p:sp>
        <p:nvSpPr>
          <p:cNvPr id="5" name="Text 2"/>
          <p:cNvSpPr txBox="1"/>
          <p:nvPr/>
        </p:nvSpPr>
        <p:spPr>
          <a:xfrm>
            <a:off x="5486400" y="1234440"/>
            <a:ext cx="2377440" cy="365760"/>
          </a:xfrm>
          <a:prstGeom prst="rect">
            <a:avLst/>
          </a:prstGeom>
          <a:noFill/>
          <a:ln/>
        </p:spPr>
        <p:txBody>
          <a:bodyPr wrap="square" lIns="0" tIns="0" rIns="0" bIns="0" rtlCol="0" anchor="t"/>
          <a:lstStyle/>
          <a:p>
            <a:pPr indent="0" marL="0">
              <a:buNone/>
            </a:pPr>
            <a:r>
              <a:rPr lang="en-US" sz="1400" b="1" dirty="0">
                <a:solidFill>
                  <a:schemeClr val="accent4"/>
                </a:solidFill>
              </a:rPr>
              <a:t>Round 1 said</a:t>
            </a:r>
            <a:endParaRPr lang="en-US" sz="1400" dirty="0"/>
          </a:p>
        </p:txBody>
      </p:sp>
      <p:sp>
        <p:nvSpPr>
          <p:cNvPr id="6" name="Text 3"/>
          <p:cNvSpPr txBox="1"/>
          <p:nvPr/>
        </p:nvSpPr>
        <p:spPr>
          <a:xfrm>
            <a:off x="8595360" y="1234440"/>
            <a:ext cx="3017520" cy="365760"/>
          </a:xfrm>
          <a:prstGeom prst="rect">
            <a:avLst/>
          </a:prstGeom>
          <a:noFill/>
          <a:ln/>
        </p:spPr>
        <p:txBody>
          <a:bodyPr wrap="square" lIns="0" tIns="0" rIns="0" bIns="0" rtlCol="0" anchor="t"/>
          <a:lstStyle/>
          <a:p>
            <a:pPr indent="0" marL="0">
              <a:buNone/>
            </a:pPr>
            <a:r>
              <a:rPr lang="en-US" sz="1400" b="1" dirty="0">
                <a:solidFill>
                  <a:schemeClr val="accent2"/>
                </a:solidFill>
              </a:rPr>
              <a:t>Corrected</a:t>
            </a:r>
            <a:endParaRPr lang="en-US" sz="1400" dirty="0"/>
          </a:p>
        </p:txBody>
      </p:sp>
      <p:sp>
        <p:nvSpPr>
          <p:cNvPr id="7" name="icon-circle-FaUndo"/>
          <p:cNvSpPr/>
          <p:nvPr/>
        </p:nvSpPr>
        <p:spPr>
          <a:xfrm>
            <a:off x="594360" y="1801368"/>
            <a:ext cx="640080" cy="640080"/>
          </a:xfrm>
          <a:prstGeom prst="ellipse">
            <a:avLst/>
          </a:prstGeom>
          <a:solidFill>
            <a:schemeClr val="accent1"/>
          </a:solidFill>
          <a:ln w="12700">
            <a:solidFill>
              <a:schemeClr val="accent1"/>
            </a:solidFill>
            <a:prstDash val="solid"/>
          </a:ln>
        </p:spPr>
      </p:sp>
      <p:pic>
        <p:nvPicPr>
          <p:cNvPr id="8" name="icon-FaUndo" descr="FaUndo">    </p:cNvPr>
          <p:cNvPicPr>
            <a:picLocks noChangeAspect="1"/>
          </p:cNvPicPr>
          <p:nvPr/>
        </p:nvPicPr>
        <p:blipFill>
          <a:blip r:embed="rId1"/>
          <a:stretch>
            <a:fillRect/>
          </a:stretch>
        </p:blipFill>
        <p:spPr>
          <a:xfrm>
            <a:off x="747979" y="1954987"/>
            <a:ext cx="332842" cy="332842"/>
          </a:xfrm>
          <a:prstGeom prst="rect">
            <a:avLst/>
          </a:prstGeom>
        </p:spPr>
      </p:pic>
      <p:sp>
        <p:nvSpPr>
          <p:cNvPr id="9" name="erratum-row"/>
          <p:cNvSpPr/>
          <p:nvPr/>
        </p:nvSpPr>
        <p:spPr>
          <a:xfrm>
            <a:off x="1371600" y="1691640"/>
            <a:ext cx="10287000" cy="841248"/>
          </a:xfrm>
          <a:prstGeom prst="roundRect">
            <a:avLst>
              <a:gd name="adj" fmla="val 13043"/>
            </a:avLst>
          </a:prstGeom>
          <a:solidFill>
            <a:schemeClr val="bg2"/>
          </a:solidFill>
          <a:ln w="12700">
            <a:solidFill>
              <a:schemeClr val="bg2"/>
            </a:solidFill>
            <a:prstDash val="solid"/>
          </a:ln>
        </p:spPr>
      </p:sp>
      <p:sp>
        <p:nvSpPr>
          <p:cNvPr id="10" name="Text 6"/>
          <p:cNvSpPr txBox="1"/>
          <p:nvPr/>
        </p:nvSpPr>
        <p:spPr>
          <a:xfrm>
            <a:off x="1554480" y="1691640"/>
            <a:ext cx="3840480" cy="841248"/>
          </a:xfrm>
          <a:prstGeom prst="rect">
            <a:avLst/>
          </a:prstGeom>
          <a:noFill/>
          <a:ln/>
        </p:spPr>
        <p:txBody>
          <a:bodyPr wrap="square" lIns="0" tIns="0" rIns="0" bIns="0" rtlCol="0" anchor="ctr"/>
          <a:lstStyle/>
          <a:p>
            <a:pPr indent="0" marL="0">
              <a:buNone/>
            </a:pPr>
            <a:r>
              <a:rPr lang="en-US" sz="1600" b="1" dirty="0">
                <a:solidFill>
                  <a:schemeClr val="tx1"/>
                </a:solidFill>
              </a:rPr>
              <a:t>Depth imbalance, stems vs controls</a:t>
            </a:r>
            <a:endParaRPr lang="en-US" sz="1600" dirty="0"/>
          </a:p>
        </p:txBody>
      </p:sp>
      <p:sp>
        <p:nvSpPr>
          <p:cNvPr id="11" name="Text 7"/>
          <p:cNvSpPr txBox="1"/>
          <p:nvPr/>
        </p:nvSpPr>
        <p:spPr>
          <a:xfrm>
            <a:off x="5486400" y="1691640"/>
            <a:ext cx="2377440" cy="841248"/>
          </a:xfrm>
          <a:prstGeom prst="rect">
            <a:avLst/>
          </a:prstGeom>
          <a:noFill/>
          <a:ln/>
        </p:spPr>
        <p:txBody>
          <a:bodyPr wrap="square" lIns="0" tIns="0" rIns="0" bIns="0" rtlCol="0" anchor="ctr"/>
          <a:lstStyle/>
          <a:p>
            <a:pPr indent="0" marL="0">
              <a:buNone/>
            </a:pPr>
            <a:r>
              <a:rPr lang="en-US" sz="1600" dirty="0">
                <a:solidFill>
                  <a:schemeClr val="accent4"/>
                </a:solidFill>
              </a:rPr>
              <a:t>1.77 SD</a:t>
            </a:r>
            <a:endParaRPr lang="en-US" sz="1600" dirty="0"/>
          </a:p>
        </p:txBody>
      </p:sp>
      <p:sp>
        <p:nvSpPr>
          <p:cNvPr id="12" name="arrow"/>
          <p:cNvSpPr/>
          <p:nvPr/>
        </p:nvSpPr>
        <p:spPr>
          <a:xfrm>
            <a:off x="7909560" y="2112264"/>
            <a:ext cx="548640" cy="914"/>
          </a:xfrm>
          <a:prstGeom prst="line">
            <a:avLst/>
          </a:prstGeom>
          <a:noFill/>
          <a:ln w="25400">
            <a:solidFill>
              <a:schemeClr val="tx2"/>
            </a:solidFill>
            <a:prstDash val="solid"/>
            <a:tailEnd type="triangle"/>
          </a:ln>
        </p:spPr>
      </p:sp>
      <p:sp>
        <p:nvSpPr>
          <p:cNvPr id="13" name="Text 9"/>
          <p:cNvSpPr txBox="1"/>
          <p:nvPr/>
        </p:nvSpPr>
        <p:spPr>
          <a:xfrm>
            <a:off x="8595360" y="1691640"/>
            <a:ext cx="3017520" cy="841248"/>
          </a:xfrm>
          <a:prstGeom prst="rect">
            <a:avLst/>
          </a:prstGeom>
          <a:noFill/>
          <a:ln/>
        </p:spPr>
        <p:txBody>
          <a:bodyPr wrap="square" lIns="0" tIns="0" rIns="0" bIns="0" rtlCol="0" anchor="ctr"/>
          <a:lstStyle/>
          <a:p>
            <a:pPr indent="0" marL="0">
              <a:buNone/>
            </a:pPr>
            <a:r>
              <a:rPr lang="en-US" sz="1600" b="1" dirty="0">
                <a:solidFill>
                  <a:schemeClr val="tx2"/>
                </a:solidFill>
              </a:rPr>
              <a:t>2.06 SD</a:t>
            </a:r>
            <a:endParaRPr lang="en-US" sz="1600" dirty="0"/>
          </a:p>
        </p:txBody>
      </p:sp>
      <p:sp>
        <p:nvSpPr>
          <p:cNvPr id="14" name="icon-circle-FaUndo"/>
          <p:cNvSpPr/>
          <p:nvPr/>
        </p:nvSpPr>
        <p:spPr>
          <a:xfrm>
            <a:off x="594360" y="2788920"/>
            <a:ext cx="640080" cy="640080"/>
          </a:xfrm>
          <a:prstGeom prst="ellipse">
            <a:avLst/>
          </a:prstGeom>
          <a:solidFill>
            <a:schemeClr val="accent1"/>
          </a:solidFill>
          <a:ln w="12700">
            <a:solidFill>
              <a:schemeClr val="accent1"/>
            </a:solidFill>
            <a:prstDash val="solid"/>
          </a:ln>
        </p:spPr>
      </p:sp>
      <p:pic>
        <p:nvPicPr>
          <p:cNvPr id="15" name="icon-FaUndo" descr="FaUndo">    </p:cNvPr>
          <p:cNvPicPr>
            <a:picLocks noChangeAspect="1"/>
          </p:cNvPicPr>
          <p:nvPr/>
        </p:nvPicPr>
        <p:blipFill>
          <a:blip r:embed="rId2"/>
          <a:stretch>
            <a:fillRect/>
          </a:stretch>
        </p:blipFill>
        <p:spPr>
          <a:xfrm>
            <a:off x="747979" y="2942539"/>
            <a:ext cx="332842" cy="332842"/>
          </a:xfrm>
          <a:prstGeom prst="rect">
            <a:avLst/>
          </a:prstGeom>
        </p:spPr>
      </p:pic>
      <p:sp>
        <p:nvSpPr>
          <p:cNvPr id="16" name="erratum-row"/>
          <p:cNvSpPr/>
          <p:nvPr/>
        </p:nvSpPr>
        <p:spPr>
          <a:xfrm>
            <a:off x="1371600" y="2679192"/>
            <a:ext cx="10287000" cy="841248"/>
          </a:xfrm>
          <a:prstGeom prst="roundRect">
            <a:avLst>
              <a:gd name="adj" fmla="val 13043"/>
            </a:avLst>
          </a:prstGeom>
          <a:solidFill>
            <a:schemeClr val="bg2"/>
          </a:solidFill>
          <a:ln w="12700">
            <a:solidFill>
              <a:schemeClr val="bg2"/>
            </a:solidFill>
            <a:prstDash val="solid"/>
          </a:ln>
        </p:spPr>
      </p:sp>
      <p:sp>
        <p:nvSpPr>
          <p:cNvPr id="17" name="Text 12"/>
          <p:cNvSpPr txBox="1"/>
          <p:nvPr/>
        </p:nvSpPr>
        <p:spPr>
          <a:xfrm>
            <a:off x="1554480" y="2679192"/>
            <a:ext cx="3840480" cy="841248"/>
          </a:xfrm>
          <a:prstGeom prst="rect">
            <a:avLst/>
          </a:prstGeom>
          <a:noFill/>
          <a:ln/>
        </p:spPr>
        <p:txBody>
          <a:bodyPr wrap="square" lIns="0" tIns="0" rIns="0" bIns="0" rtlCol="0" anchor="ctr"/>
          <a:lstStyle/>
          <a:p>
            <a:pPr indent="0" marL="0">
              <a:buNone/>
            </a:pPr>
            <a:r>
              <a:rPr lang="en-US" sz="1600" b="1" dirty="0">
                <a:solidFill>
                  <a:schemeClr val="tx1"/>
                </a:solidFill>
              </a:rPr>
              <a:t>Positive controls that test Ancestra</a:t>
            </a:r>
            <a:endParaRPr lang="en-US" sz="1600" dirty="0"/>
          </a:p>
        </p:txBody>
      </p:sp>
      <p:sp>
        <p:nvSpPr>
          <p:cNvPr id="18" name="Text 13"/>
          <p:cNvSpPr txBox="1"/>
          <p:nvPr/>
        </p:nvSpPr>
        <p:spPr>
          <a:xfrm>
            <a:off x="5486400" y="2679192"/>
            <a:ext cx="2377440" cy="841248"/>
          </a:xfrm>
          <a:prstGeom prst="rect">
            <a:avLst/>
          </a:prstGeom>
          <a:noFill/>
          <a:ln/>
        </p:spPr>
        <p:txBody>
          <a:bodyPr wrap="square" lIns="0" tIns="0" rIns="0" bIns="0" rtlCol="0" anchor="ctr"/>
          <a:lstStyle/>
          <a:p>
            <a:pPr indent="0" marL="0">
              <a:buNone/>
            </a:pPr>
            <a:r>
              <a:rPr lang="en-US" sz="1600" dirty="0">
                <a:solidFill>
                  <a:schemeClr val="accent4"/>
                </a:solidFill>
              </a:rPr>
              <a:t>'11 of 16'</a:t>
            </a:r>
            <a:endParaRPr lang="en-US" sz="1600" dirty="0"/>
          </a:p>
        </p:txBody>
      </p:sp>
      <p:sp>
        <p:nvSpPr>
          <p:cNvPr id="19" name="arrow"/>
          <p:cNvSpPr/>
          <p:nvPr/>
        </p:nvSpPr>
        <p:spPr>
          <a:xfrm>
            <a:off x="7909560" y="3099816"/>
            <a:ext cx="548640" cy="914"/>
          </a:xfrm>
          <a:prstGeom prst="line">
            <a:avLst/>
          </a:prstGeom>
          <a:noFill/>
          <a:ln w="25400">
            <a:solidFill>
              <a:schemeClr val="tx2"/>
            </a:solidFill>
            <a:prstDash val="solid"/>
            <a:tailEnd type="triangle"/>
          </a:ln>
        </p:spPr>
      </p:sp>
      <p:sp>
        <p:nvSpPr>
          <p:cNvPr id="20" name="Text 15"/>
          <p:cNvSpPr txBox="1"/>
          <p:nvPr/>
        </p:nvSpPr>
        <p:spPr>
          <a:xfrm>
            <a:off x="8595360" y="2679192"/>
            <a:ext cx="3017520" cy="841248"/>
          </a:xfrm>
          <a:prstGeom prst="rect">
            <a:avLst/>
          </a:prstGeom>
          <a:noFill/>
          <a:ln/>
        </p:spPr>
        <p:txBody>
          <a:bodyPr wrap="square" lIns="0" tIns="0" rIns="0" bIns="0" rtlCol="0" anchor="ctr"/>
          <a:lstStyle/>
          <a:p>
            <a:pPr indent="0" marL="0">
              <a:buNone/>
            </a:pPr>
            <a:r>
              <a:rPr lang="en-US" sz="1600" b="1" dirty="0">
                <a:solidFill>
                  <a:schemeClr val="tx2"/>
                </a:solidFill>
              </a:rPr>
              <a:t>6 of 9; deep-node 0 of 3</a:t>
            </a:r>
            <a:endParaRPr lang="en-US" sz="1600" dirty="0"/>
          </a:p>
        </p:txBody>
      </p:sp>
      <p:sp>
        <p:nvSpPr>
          <p:cNvPr id="21" name="icon-circle-FaUndo"/>
          <p:cNvSpPr/>
          <p:nvPr/>
        </p:nvSpPr>
        <p:spPr>
          <a:xfrm>
            <a:off x="594360" y="3776472"/>
            <a:ext cx="640080" cy="640080"/>
          </a:xfrm>
          <a:prstGeom prst="ellipse">
            <a:avLst/>
          </a:prstGeom>
          <a:solidFill>
            <a:schemeClr val="accent1"/>
          </a:solidFill>
          <a:ln w="12700">
            <a:solidFill>
              <a:schemeClr val="accent1"/>
            </a:solidFill>
            <a:prstDash val="solid"/>
          </a:ln>
        </p:spPr>
      </p:sp>
      <p:pic>
        <p:nvPicPr>
          <p:cNvPr id="22" name="icon-FaUndo" descr="FaUndo">    </p:cNvPr>
          <p:cNvPicPr>
            <a:picLocks noChangeAspect="1"/>
          </p:cNvPicPr>
          <p:nvPr/>
        </p:nvPicPr>
        <p:blipFill>
          <a:blip r:embed="rId3"/>
          <a:stretch>
            <a:fillRect/>
          </a:stretch>
        </p:blipFill>
        <p:spPr>
          <a:xfrm>
            <a:off x="747979" y="3930091"/>
            <a:ext cx="332842" cy="332842"/>
          </a:xfrm>
          <a:prstGeom prst="rect">
            <a:avLst/>
          </a:prstGeom>
        </p:spPr>
      </p:pic>
      <p:sp>
        <p:nvSpPr>
          <p:cNvPr id="23" name="erratum-row"/>
          <p:cNvSpPr/>
          <p:nvPr/>
        </p:nvSpPr>
        <p:spPr>
          <a:xfrm>
            <a:off x="1371600" y="3666744"/>
            <a:ext cx="10287000" cy="841248"/>
          </a:xfrm>
          <a:prstGeom prst="roundRect">
            <a:avLst>
              <a:gd name="adj" fmla="val 13043"/>
            </a:avLst>
          </a:prstGeom>
          <a:solidFill>
            <a:schemeClr val="bg2"/>
          </a:solidFill>
          <a:ln w="12700">
            <a:solidFill>
              <a:schemeClr val="bg2"/>
            </a:solidFill>
            <a:prstDash val="solid"/>
          </a:ln>
        </p:spPr>
      </p:sp>
      <p:sp>
        <p:nvSpPr>
          <p:cNvPr id="24" name="Text 18"/>
          <p:cNvSpPr txBox="1"/>
          <p:nvPr/>
        </p:nvSpPr>
        <p:spPr>
          <a:xfrm>
            <a:off x="1554480" y="3666744"/>
            <a:ext cx="3840480" cy="841248"/>
          </a:xfrm>
          <a:prstGeom prst="rect">
            <a:avLst/>
          </a:prstGeom>
          <a:noFill/>
          <a:ln/>
        </p:spPr>
        <p:txBody>
          <a:bodyPr wrap="square" lIns="0" tIns="0" rIns="0" bIns="0" rtlCol="0" anchor="ctr"/>
          <a:lstStyle/>
          <a:p>
            <a:pPr indent="0" marL="0">
              <a:buNone/>
            </a:pPr>
            <a:r>
              <a:rPr lang="en-US" sz="1600" b="1" dirty="0">
                <a:solidFill>
                  <a:schemeClr val="tx1"/>
                </a:solidFill>
              </a:rPr>
              <a:t>Rate-test p-value</a:t>
            </a:r>
            <a:endParaRPr lang="en-US" sz="1600" dirty="0"/>
          </a:p>
        </p:txBody>
      </p:sp>
      <p:sp>
        <p:nvSpPr>
          <p:cNvPr id="25" name="Text 19"/>
          <p:cNvSpPr txBox="1"/>
          <p:nvPr/>
        </p:nvSpPr>
        <p:spPr>
          <a:xfrm>
            <a:off x="5486400" y="3666744"/>
            <a:ext cx="2377440" cy="841248"/>
          </a:xfrm>
          <a:prstGeom prst="rect">
            <a:avLst/>
          </a:prstGeom>
          <a:noFill/>
          <a:ln/>
        </p:spPr>
        <p:txBody>
          <a:bodyPr wrap="square" lIns="0" tIns="0" rIns="0" bIns="0" rtlCol="0" anchor="ctr"/>
          <a:lstStyle/>
          <a:p>
            <a:pPr indent="0" marL="0">
              <a:buNone/>
            </a:pPr>
            <a:r>
              <a:rPr lang="en-US" sz="1600" dirty="0">
                <a:solidFill>
                  <a:schemeClr val="accent4"/>
                </a:solidFill>
              </a:rPr>
              <a:t>seed-dependent 0.19–0.61</a:t>
            </a:r>
            <a:endParaRPr lang="en-US" sz="1600" dirty="0"/>
          </a:p>
        </p:txBody>
      </p:sp>
      <p:sp>
        <p:nvSpPr>
          <p:cNvPr id="26" name="arrow"/>
          <p:cNvSpPr/>
          <p:nvPr/>
        </p:nvSpPr>
        <p:spPr>
          <a:xfrm>
            <a:off x="7909560" y="4087368"/>
            <a:ext cx="548640" cy="914"/>
          </a:xfrm>
          <a:prstGeom prst="line">
            <a:avLst/>
          </a:prstGeom>
          <a:noFill/>
          <a:ln w="25400">
            <a:solidFill>
              <a:schemeClr val="tx2"/>
            </a:solidFill>
            <a:prstDash val="solid"/>
            <a:tailEnd type="triangle"/>
          </a:ln>
        </p:spPr>
      </p:sp>
      <p:sp>
        <p:nvSpPr>
          <p:cNvPr id="27" name="Text 21"/>
          <p:cNvSpPr txBox="1"/>
          <p:nvPr/>
        </p:nvSpPr>
        <p:spPr>
          <a:xfrm>
            <a:off x="8595360" y="3666744"/>
            <a:ext cx="3017520" cy="841248"/>
          </a:xfrm>
          <a:prstGeom prst="rect">
            <a:avLst/>
          </a:prstGeom>
          <a:noFill/>
          <a:ln/>
        </p:spPr>
        <p:txBody>
          <a:bodyPr wrap="square" lIns="0" tIns="0" rIns="0" bIns="0" rtlCol="0" anchor="ctr"/>
          <a:lstStyle/>
          <a:p>
            <a:pPr indent="0" marL="0">
              <a:buNone/>
            </a:pPr>
            <a:r>
              <a:rPr lang="en-US" sz="1600" b="1" dirty="0">
                <a:solidFill>
                  <a:schemeClr val="tx2"/>
                </a:solidFill>
              </a:rPr>
              <a:t>exact: p = 0.31</a:t>
            </a:r>
            <a:endParaRPr lang="en-US" sz="1600" dirty="0"/>
          </a:p>
        </p:txBody>
      </p:sp>
      <p:sp>
        <p:nvSpPr>
          <p:cNvPr id="28" name="icon-circle-FaUndo"/>
          <p:cNvSpPr/>
          <p:nvPr/>
        </p:nvSpPr>
        <p:spPr>
          <a:xfrm>
            <a:off x="594360" y="4764024"/>
            <a:ext cx="640080" cy="640080"/>
          </a:xfrm>
          <a:prstGeom prst="ellipse">
            <a:avLst/>
          </a:prstGeom>
          <a:solidFill>
            <a:schemeClr val="accent1"/>
          </a:solidFill>
          <a:ln w="12700">
            <a:solidFill>
              <a:schemeClr val="accent1"/>
            </a:solidFill>
            <a:prstDash val="solid"/>
          </a:ln>
        </p:spPr>
      </p:sp>
      <p:pic>
        <p:nvPicPr>
          <p:cNvPr id="29" name="icon-FaUndo" descr="FaUndo">    </p:cNvPr>
          <p:cNvPicPr>
            <a:picLocks noChangeAspect="1"/>
          </p:cNvPicPr>
          <p:nvPr/>
        </p:nvPicPr>
        <p:blipFill>
          <a:blip r:embed="rId4"/>
          <a:stretch>
            <a:fillRect/>
          </a:stretch>
        </p:blipFill>
        <p:spPr>
          <a:xfrm>
            <a:off x="747979" y="4917643"/>
            <a:ext cx="332842" cy="332842"/>
          </a:xfrm>
          <a:prstGeom prst="rect">
            <a:avLst/>
          </a:prstGeom>
        </p:spPr>
      </p:pic>
      <p:sp>
        <p:nvSpPr>
          <p:cNvPr id="30" name="erratum-row"/>
          <p:cNvSpPr/>
          <p:nvPr/>
        </p:nvSpPr>
        <p:spPr>
          <a:xfrm>
            <a:off x="1371600" y="4654296"/>
            <a:ext cx="10287000" cy="841248"/>
          </a:xfrm>
          <a:prstGeom prst="roundRect">
            <a:avLst>
              <a:gd name="adj" fmla="val 13043"/>
            </a:avLst>
          </a:prstGeom>
          <a:solidFill>
            <a:schemeClr val="bg2"/>
          </a:solidFill>
          <a:ln w="12700">
            <a:solidFill>
              <a:schemeClr val="bg2"/>
            </a:solidFill>
            <a:prstDash val="solid"/>
          </a:ln>
        </p:spPr>
      </p:sp>
      <p:sp>
        <p:nvSpPr>
          <p:cNvPr id="31" name="Text 24"/>
          <p:cNvSpPr txBox="1"/>
          <p:nvPr/>
        </p:nvSpPr>
        <p:spPr>
          <a:xfrm>
            <a:off x="1554480" y="4654296"/>
            <a:ext cx="3840480" cy="841248"/>
          </a:xfrm>
          <a:prstGeom prst="rect">
            <a:avLst/>
          </a:prstGeom>
          <a:noFill/>
          <a:ln/>
        </p:spPr>
        <p:txBody>
          <a:bodyPr wrap="square" lIns="0" tIns="0" rIns="0" bIns="0" rtlCol="0" anchor="ctr"/>
          <a:lstStyle/>
          <a:p>
            <a:pPr indent="0" marL="0">
              <a:buNone/>
            </a:pPr>
            <a:r>
              <a:rPr lang="en-US" sz="1600" b="1" dirty="0">
                <a:solidFill>
                  <a:schemeClr val="tx1"/>
                </a:solidFill>
              </a:rPr>
              <a:t>'Eukaryoma' database</a:t>
            </a:r>
            <a:endParaRPr lang="en-US" sz="1600" dirty="0"/>
          </a:p>
        </p:txBody>
      </p:sp>
      <p:sp>
        <p:nvSpPr>
          <p:cNvPr id="32" name="Text 25"/>
          <p:cNvSpPr txBox="1"/>
          <p:nvPr/>
        </p:nvSpPr>
        <p:spPr>
          <a:xfrm>
            <a:off x="5486400" y="4654296"/>
            <a:ext cx="2377440" cy="841248"/>
          </a:xfrm>
          <a:prstGeom prst="rect">
            <a:avLst/>
          </a:prstGeom>
          <a:noFill/>
          <a:ln/>
        </p:spPr>
        <p:txBody>
          <a:bodyPr wrap="square" lIns="0" tIns="0" rIns="0" bIns="0" rtlCol="0" anchor="ctr"/>
          <a:lstStyle/>
          <a:p>
            <a:pPr indent="0" marL="0">
              <a:buNone/>
            </a:pPr>
            <a:r>
              <a:rPr lang="en-US" sz="1600" dirty="0">
                <a:solidFill>
                  <a:schemeClr val="accent4"/>
                </a:solidFill>
              </a:rPr>
              <a:t>'not found'</a:t>
            </a:r>
            <a:endParaRPr lang="en-US" sz="1600" dirty="0"/>
          </a:p>
        </p:txBody>
      </p:sp>
      <p:sp>
        <p:nvSpPr>
          <p:cNvPr id="33" name="arrow"/>
          <p:cNvSpPr/>
          <p:nvPr/>
        </p:nvSpPr>
        <p:spPr>
          <a:xfrm>
            <a:off x="7909560" y="5074920"/>
            <a:ext cx="548640" cy="914"/>
          </a:xfrm>
          <a:prstGeom prst="line">
            <a:avLst/>
          </a:prstGeom>
          <a:noFill/>
          <a:ln w="25400">
            <a:solidFill>
              <a:schemeClr val="tx2"/>
            </a:solidFill>
            <a:prstDash val="solid"/>
            <a:tailEnd type="triangle"/>
          </a:ln>
        </p:spPr>
      </p:sp>
      <p:sp>
        <p:nvSpPr>
          <p:cNvPr id="34" name="Text 27"/>
          <p:cNvSpPr txBox="1"/>
          <p:nvPr/>
        </p:nvSpPr>
        <p:spPr>
          <a:xfrm>
            <a:off x="8595360" y="4654296"/>
            <a:ext cx="3017520" cy="841248"/>
          </a:xfrm>
          <a:prstGeom prst="rect">
            <a:avLst/>
          </a:prstGeom>
          <a:noFill/>
          <a:ln/>
        </p:spPr>
        <p:txBody>
          <a:bodyPr wrap="square" lIns="0" tIns="0" rIns="0" bIns="0" rtlCol="0" anchor="ctr"/>
          <a:lstStyle/>
          <a:p>
            <a:pPr indent="0" marL="0">
              <a:buNone/>
            </a:pPr>
            <a:r>
              <a:rPr lang="en-US" sz="1600" b="1" dirty="0">
                <a:solidFill>
                  <a:schemeClr val="tx2"/>
                </a:solidFill>
              </a:rPr>
              <a:t>EukaryOMA: 1,328 genomes</a:t>
            </a:r>
            <a:endParaRPr lang="en-US" sz="1600" dirty="0"/>
          </a:p>
        </p:txBody>
      </p:sp>
      <p:sp>
        <p:nvSpPr>
          <p:cNvPr id="35" name="erratum-footer"/>
          <p:cNvSpPr/>
          <p:nvPr/>
        </p:nvSpPr>
        <p:spPr>
          <a:xfrm>
            <a:off x="1371600" y="5715000"/>
            <a:ext cx="10287000" cy="502920"/>
          </a:xfrm>
          <a:prstGeom prst="roundRect">
            <a:avLst>
              <a:gd name="adj" fmla="val 21818"/>
            </a:avLst>
          </a:prstGeom>
          <a:solidFill>
            <a:schemeClr val="accent1"/>
          </a:solidFill>
          <a:ln w="12700">
            <a:solidFill>
              <a:schemeClr val="accent1"/>
            </a:solidFill>
            <a:prstDash val="solid"/>
          </a:ln>
        </p:spPr>
      </p:sp>
      <p:sp>
        <p:nvSpPr>
          <p:cNvPr id="36" name="Text 29"/>
          <p:cNvSpPr txBox="1"/>
          <p:nvPr/>
        </p:nvSpPr>
        <p:spPr>
          <a:xfrm>
            <a:off x="1554480" y="5715000"/>
            <a:ext cx="9966960" cy="502920"/>
          </a:xfrm>
          <a:prstGeom prst="rect">
            <a:avLst/>
          </a:prstGeom>
          <a:noFill/>
          <a:ln/>
        </p:spPr>
        <p:txBody>
          <a:bodyPr wrap="square" lIns="0" tIns="0" rIns="0" bIns="0" rtlCol="0" anchor="ctr"/>
          <a:lstStyle/>
          <a:p>
            <a:pPr indent="0" marL="0">
              <a:buNone/>
            </a:pPr>
            <a:r>
              <a:rPr lang="en-US" sz="1600" b="1" dirty="0">
                <a:solidFill>
                  <a:schemeClr val="bg1"/>
                </a:solidFill>
              </a:rPr>
              <a:t>None of these changes a round-1 conclusion.</a:t>
            </a:r>
            <a:endParaRPr lang="en-US" sz="16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Two orthology methods disagree on where genes arose</a:t>
            </a:r>
            <a:endParaRPr lang="en-US" sz="3200" dirty="0"/>
          </a:p>
        </p:txBody>
      </p:sp>
      <p:pic>
        <p:nvPicPr>
          <p:cNvPr id="4" name="fig2_ab.png" descr="Report Figure 2a-b: new families and duplications per stem by method">    </p:cNvPr>
          <p:cNvPicPr>
            <a:picLocks noChangeAspect="1"/>
          </p:cNvPicPr>
          <p:nvPr/>
        </p:nvPicPr>
        <p:blipFill>
          <a:blip r:embed="rId1"/>
          <a:stretch>
            <a:fillRect/>
          </a:stretch>
        </p:blipFill>
        <p:spPr>
          <a:xfrm>
            <a:off x="737235" y="1188720"/>
            <a:ext cx="10687050" cy="3520440"/>
          </a:xfrm>
          <a:prstGeom prst="rect">
            <a:avLst/>
          </a:prstGeom>
        </p:spPr>
      </p:pic>
      <p:sp>
        <p:nvSpPr>
          <p:cNvPr id="5" name="Text 1"/>
          <p:cNvSpPr txBox="1"/>
          <p:nvPr/>
        </p:nvSpPr>
        <p:spPr>
          <a:xfrm>
            <a:off x="640080" y="4709160"/>
            <a:ext cx="2651760" cy="685800"/>
          </a:xfrm>
          <a:prstGeom prst="rect">
            <a:avLst/>
          </a:prstGeom>
          <a:noFill/>
          <a:ln/>
        </p:spPr>
        <p:txBody>
          <a:bodyPr wrap="square" lIns="0" tIns="0" rIns="0" bIns="0" rtlCol="0" anchor="b"/>
          <a:lstStyle/>
          <a:p>
            <a:pPr indent="0" marL="0">
              <a:buNone/>
            </a:pPr>
            <a:r>
              <a:rPr lang="en-US" sz="3000" b="1" dirty="0">
                <a:solidFill>
                  <a:schemeClr val="accent4"/>
                </a:solidFill>
              </a:rPr>
              <a:t>29%</a:t>
            </a:r>
            <a:endParaRPr lang="en-US" sz="3000" dirty="0"/>
          </a:p>
        </p:txBody>
      </p:sp>
      <p:sp>
        <p:nvSpPr>
          <p:cNvPr id="6" name="Text 2"/>
          <p:cNvSpPr txBox="1"/>
          <p:nvPr/>
        </p:nvSpPr>
        <p:spPr>
          <a:xfrm>
            <a:off x="640080" y="5440680"/>
            <a:ext cx="2651760" cy="685800"/>
          </a:xfrm>
          <a:prstGeom prst="rect">
            <a:avLst/>
          </a:prstGeom>
          <a:noFill/>
          <a:ln/>
        </p:spPr>
        <p:txBody>
          <a:bodyPr wrap="square" lIns="0" tIns="0" rIns="0" bIns="0" rtlCol="0" anchor="t"/>
          <a:lstStyle/>
          <a:p>
            <a:pPr indent="0" marL="0">
              <a:buNone/>
            </a:pPr>
            <a:r>
              <a:rPr lang="en-US" sz="1400" dirty="0">
                <a:solidFill>
                  <a:schemeClr val="tx1"/>
                </a:solidFill>
              </a:rPr>
              <a:t>of Ancestra stem gains on the same branch in EukaryOMA</a:t>
            </a:r>
            <a:endParaRPr lang="en-US" sz="1400" dirty="0"/>
          </a:p>
        </p:txBody>
      </p:sp>
      <p:sp>
        <p:nvSpPr>
          <p:cNvPr id="7" name="Text 3"/>
          <p:cNvSpPr txBox="1"/>
          <p:nvPr/>
        </p:nvSpPr>
        <p:spPr>
          <a:xfrm>
            <a:off x="3447288" y="4709160"/>
            <a:ext cx="2651760" cy="685800"/>
          </a:xfrm>
          <a:prstGeom prst="rect">
            <a:avLst/>
          </a:prstGeom>
          <a:noFill/>
          <a:ln/>
        </p:spPr>
        <p:txBody>
          <a:bodyPr wrap="square" lIns="0" tIns="0" rIns="0" bIns="0" rtlCol="0" anchor="b"/>
          <a:lstStyle/>
          <a:p>
            <a:pPr indent="0" marL="0">
              <a:buNone/>
            </a:pPr>
            <a:r>
              <a:rPr lang="en-US" sz="3000" b="1" dirty="0">
                <a:solidFill>
                  <a:schemeClr val="accent1"/>
                </a:solidFill>
              </a:rPr>
              <a:t>9%</a:t>
            </a:r>
            <a:endParaRPr lang="en-US" sz="3000" dirty="0"/>
          </a:p>
        </p:txBody>
      </p:sp>
      <p:sp>
        <p:nvSpPr>
          <p:cNvPr id="8" name="Text 4"/>
          <p:cNvSpPr txBox="1"/>
          <p:nvPr/>
        </p:nvSpPr>
        <p:spPr>
          <a:xfrm>
            <a:off x="3447288" y="5440680"/>
            <a:ext cx="2651760" cy="685800"/>
          </a:xfrm>
          <a:prstGeom prst="rect">
            <a:avLst/>
          </a:prstGeom>
          <a:noFill/>
          <a:ln/>
        </p:spPr>
        <p:txBody>
          <a:bodyPr wrap="square" lIns="0" tIns="0" rIns="0" bIns="0" rtlCol="0" anchor="t"/>
          <a:lstStyle/>
          <a:p>
            <a:pPr indent="0" marL="0">
              <a:buNone/>
            </a:pPr>
            <a:r>
              <a:rPr lang="en-US" sz="1400" dirty="0">
                <a:solidFill>
                  <a:schemeClr val="tx1"/>
                </a:solidFill>
              </a:rPr>
              <a:t>of EukaryOMA stem gains confirmed by Ancestra</a:t>
            </a:r>
            <a:endParaRPr lang="en-US" sz="1400" dirty="0"/>
          </a:p>
        </p:txBody>
      </p:sp>
      <p:sp>
        <p:nvSpPr>
          <p:cNvPr id="9" name="Text 5"/>
          <p:cNvSpPr txBox="1"/>
          <p:nvPr/>
        </p:nvSpPr>
        <p:spPr>
          <a:xfrm>
            <a:off x="6254496" y="4709160"/>
            <a:ext cx="2651760" cy="685800"/>
          </a:xfrm>
          <a:prstGeom prst="rect">
            <a:avLst/>
          </a:prstGeom>
          <a:noFill/>
          <a:ln/>
        </p:spPr>
        <p:txBody>
          <a:bodyPr wrap="square" lIns="0" tIns="0" rIns="0" bIns="0" rtlCol="0" anchor="b"/>
          <a:lstStyle/>
          <a:p>
            <a:pPr indent="0" marL="0">
              <a:buNone/>
            </a:pPr>
            <a:r>
              <a:rPr lang="en-US" sz="3000" b="1" dirty="0">
                <a:solidFill>
                  <a:schemeClr val="accent1"/>
                </a:solidFill>
              </a:rPr>
              <a:t>4–8%</a:t>
            </a:r>
            <a:endParaRPr lang="en-US" sz="3000" dirty="0"/>
          </a:p>
        </p:txBody>
      </p:sp>
      <p:sp>
        <p:nvSpPr>
          <p:cNvPr id="10" name="Text 6"/>
          <p:cNvSpPr txBox="1"/>
          <p:nvPr/>
        </p:nvSpPr>
        <p:spPr>
          <a:xfrm>
            <a:off x="6254496" y="5440680"/>
            <a:ext cx="2651760" cy="685800"/>
          </a:xfrm>
          <a:prstGeom prst="rect">
            <a:avLst/>
          </a:prstGeom>
          <a:noFill/>
          <a:ln/>
        </p:spPr>
        <p:txBody>
          <a:bodyPr wrap="square" lIns="0" tIns="0" rIns="0" bIns="0" rtlCol="0" anchor="t"/>
          <a:lstStyle/>
          <a:p>
            <a:pPr indent="0" marL="0">
              <a:buNone/>
            </a:pPr>
            <a:r>
              <a:rPr lang="en-US" sz="1400" dirty="0">
                <a:solidFill>
                  <a:schemeClr val="tx1"/>
                </a:solidFill>
              </a:rPr>
              <a:t>agreement on duplications</a:t>
            </a:r>
            <a:endParaRPr lang="en-US" sz="1400" dirty="0"/>
          </a:p>
        </p:txBody>
      </p:sp>
      <p:sp>
        <p:nvSpPr>
          <p:cNvPr id="11" name="Text 7"/>
          <p:cNvSpPr txBox="1"/>
          <p:nvPr/>
        </p:nvSpPr>
        <p:spPr>
          <a:xfrm>
            <a:off x="9061704" y="4709160"/>
            <a:ext cx="2651760" cy="685800"/>
          </a:xfrm>
          <a:prstGeom prst="rect">
            <a:avLst/>
          </a:prstGeom>
          <a:noFill/>
          <a:ln/>
        </p:spPr>
        <p:txBody>
          <a:bodyPr wrap="square" lIns="0" tIns="0" rIns="0" bIns="0" rtlCol="0" anchor="b"/>
          <a:lstStyle/>
          <a:p>
            <a:pPr indent="0" marL="0">
              <a:buNone/>
            </a:pPr>
            <a:r>
              <a:rPr lang="en-US" sz="3000" b="1" dirty="0">
                <a:solidFill>
                  <a:schemeClr val="accent1"/>
                </a:solidFill>
              </a:rPr>
              <a:t>6,617 vs 196</a:t>
            </a:r>
            <a:endParaRPr lang="en-US" sz="3000" dirty="0"/>
          </a:p>
        </p:txBody>
      </p:sp>
      <p:sp>
        <p:nvSpPr>
          <p:cNvPr id="12" name="Text 8"/>
          <p:cNvSpPr txBox="1"/>
          <p:nvPr/>
        </p:nvSpPr>
        <p:spPr>
          <a:xfrm>
            <a:off x="9061704" y="5440680"/>
            <a:ext cx="2651760" cy="685800"/>
          </a:xfrm>
          <a:prstGeom prst="rect">
            <a:avLst/>
          </a:prstGeom>
          <a:noFill/>
          <a:ln/>
        </p:spPr>
        <p:txBody>
          <a:bodyPr wrap="square" lIns="0" tIns="0" rIns="0" bIns="0" rtlCol="0" anchor="t"/>
          <a:lstStyle/>
          <a:p>
            <a:pPr indent="0" marL="0">
              <a:buNone/>
            </a:pPr>
            <a:r>
              <a:rPr lang="en-US" sz="1400" dirty="0">
                <a:solidFill>
                  <a:schemeClr val="tx1"/>
                </a:solidFill>
              </a:rPr>
              <a:t>animal-stem duplications, Ancestra vs EukaryOMA</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Simple to complex: no significant burst of new genes</a:t>
            </a:r>
            <a:endParaRPr lang="en-US" sz="3200" dirty="0"/>
          </a:p>
        </p:txBody>
      </p:sp>
      <p:pic>
        <p:nvPicPr>
          <p:cNvPr id="4" name="fig3_a.png" descr="Report Figure 3a: confirmatory test">    </p:cNvPr>
          <p:cNvPicPr>
            <a:picLocks noChangeAspect="1"/>
          </p:cNvPicPr>
          <p:nvPr/>
        </p:nvPicPr>
        <p:blipFill>
          <a:blip r:embed="rId1"/>
          <a:stretch>
            <a:fillRect/>
          </a:stretch>
        </p:blipFill>
        <p:spPr>
          <a:xfrm>
            <a:off x="457200" y="1394729"/>
            <a:ext cx="7955280" cy="1965422"/>
          </a:xfrm>
          <a:prstGeom prst="rect">
            <a:avLst/>
          </a:prstGeom>
        </p:spPr>
      </p:pic>
      <p:pic>
        <p:nvPicPr>
          <p:cNvPr id="5" name="fig3_b.png" descr="Report Figure 3b: tips score high against internal controls">    </p:cNvPr>
          <p:cNvPicPr>
            <a:picLocks noChangeAspect="1"/>
          </p:cNvPicPr>
          <p:nvPr/>
        </p:nvPicPr>
        <p:blipFill>
          <a:blip r:embed="rId2"/>
          <a:stretch>
            <a:fillRect/>
          </a:stretch>
        </p:blipFill>
        <p:spPr>
          <a:xfrm>
            <a:off x="457200" y="3984202"/>
            <a:ext cx="7955280" cy="1815676"/>
          </a:xfrm>
          <a:prstGeom prst="rect">
            <a:avLst/>
          </a:prstGeom>
        </p:spPr>
      </p:pic>
      <p:sp>
        <p:nvSpPr>
          <p:cNvPr id="6" name="Text 1"/>
          <p:cNvSpPr txBox="1"/>
          <p:nvPr/>
        </p:nvSpPr>
        <p:spPr>
          <a:xfrm>
            <a:off x="8686800" y="1325880"/>
            <a:ext cx="3017520" cy="685800"/>
          </a:xfrm>
          <a:prstGeom prst="rect">
            <a:avLst/>
          </a:prstGeom>
          <a:noFill/>
          <a:ln/>
        </p:spPr>
        <p:txBody>
          <a:bodyPr wrap="square" lIns="0" tIns="0" rIns="0" bIns="0" rtlCol="0" anchor="b"/>
          <a:lstStyle/>
          <a:p>
            <a:pPr indent="0" marL="0">
              <a:buNone/>
            </a:pPr>
            <a:r>
              <a:rPr lang="en-US" sz="3400" b="1" dirty="0">
                <a:solidFill>
                  <a:schemeClr val="accent5"/>
                </a:solidFill>
              </a:rPr>
              <a:t>p = 0.050</a:t>
            </a:r>
            <a:endParaRPr lang="en-US" sz="3400" dirty="0"/>
          </a:p>
        </p:txBody>
      </p:sp>
      <p:sp>
        <p:nvSpPr>
          <p:cNvPr id="7" name="Text 2"/>
          <p:cNvSpPr txBox="1"/>
          <p:nvPr/>
        </p:nvSpPr>
        <p:spPr>
          <a:xfrm>
            <a:off x="8686800" y="2057400"/>
            <a:ext cx="3017520" cy="685800"/>
          </a:xfrm>
          <a:prstGeom prst="rect">
            <a:avLst/>
          </a:prstGeom>
          <a:noFill/>
          <a:ln/>
        </p:spPr>
        <p:txBody>
          <a:bodyPr wrap="square" lIns="0" tIns="0" rIns="0" bIns="0" rtlCol="0" anchor="t"/>
          <a:lstStyle/>
          <a:p>
            <a:pPr indent="0" marL="0">
              <a:buNone/>
            </a:pPr>
            <a:r>
              <a:rPr lang="en-US" sz="1400" dirty="0">
                <a:solidFill>
                  <a:schemeClr val="tx1"/>
                </a:solidFill>
              </a:rPr>
              <a:t>combined, Holm-adjusted 0.10</a:t>
            </a:r>
            <a:endParaRPr lang="en-US" sz="1400" dirty="0"/>
          </a:p>
        </p:txBody>
      </p:sp>
      <p:sp>
        <p:nvSpPr>
          <p:cNvPr id="8" name="Text 3"/>
          <p:cNvSpPr txBox="1"/>
          <p:nvPr/>
        </p:nvSpPr>
        <p:spPr>
          <a:xfrm>
            <a:off x="8686800" y="2880360"/>
            <a:ext cx="3017520" cy="685800"/>
          </a:xfrm>
          <a:prstGeom prst="rect">
            <a:avLst/>
          </a:prstGeom>
          <a:noFill/>
          <a:ln/>
        </p:spPr>
        <p:txBody>
          <a:bodyPr wrap="square" lIns="0" tIns="0" rIns="0" bIns="0" rtlCol="0" anchor="b"/>
          <a:lstStyle/>
          <a:p>
            <a:pPr indent="0" marL="0">
              <a:buNone/>
            </a:pPr>
            <a:r>
              <a:rPr lang="en-US" sz="3400" b="1" dirty="0">
                <a:solidFill>
                  <a:schemeClr val="accent4"/>
                </a:solidFill>
              </a:rPr>
              <a:t>8.1×</a:t>
            </a:r>
            <a:endParaRPr lang="en-US" sz="3400" dirty="0"/>
          </a:p>
        </p:txBody>
      </p:sp>
      <p:sp>
        <p:nvSpPr>
          <p:cNvPr id="9" name="Text 4"/>
          <p:cNvSpPr txBox="1"/>
          <p:nvPr/>
        </p:nvSpPr>
        <p:spPr>
          <a:xfrm>
            <a:off x="8686800" y="3611880"/>
            <a:ext cx="3017520" cy="685800"/>
          </a:xfrm>
          <a:prstGeom prst="rect">
            <a:avLst/>
          </a:prstGeom>
          <a:noFill/>
          <a:ln/>
        </p:spPr>
        <p:txBody>
          <a:bodyPr wrap="square" lIns="0" tIns="0" rIns="0" bIns="0" rtlCol="0" anchor="t"/>
          <a:lstStyle/>
          <a:p>
            <a:pPr indent="0" marL="0">
              <a:buNone/>
            </a:pPr>
            <a:r>
              <a:rPr lang="en-US" sz="1400" dirty="0">
                <a:solidFill>
                  <a:schemeClr val="tx1"/>
                </a:solidFill>
              </a:rPr>
              <a:t>unicellular tips with no event, vs internal controls</a:t>
            </a:r>
            <a:endParaRPr lang="en-US" sz="1400" dirty="0"/>
          </a:p>
        </p:txBody>
      </p:sp>
      <p:sp>
        <p:nvSpPr>
          <p:cNvPr id="10" name="Text 5"/>
          <p:cNvSpPr txBox="1"/>
          <p:nvPr/>
        </p:nvSpPr>
        <p:spPr>
          <a:xfrm>
            <a:off x="8686800" y="4434840"/>
            <a:ext cx="3017520" cy="685800"/>
          </a:xfrm>
          <a:prstGeom prst="rect">
            <a:avLst/>
          </a:prstGeom>
          <a:noFill/>
          <a:ln/>
        </p:spPr>
        <p:txBody>
          <a:bodyPr wrap="square" lIns="0" tIns="0" rIns="0" bIns="0" rtlCol="0" anchor="b"/>
          <a:lstStyle/>
          <a:p>
            <a:pPr indent="0" marL="0">
              <a:buNone/>
            </a:pPr>
            <a:r>
              <a:rPr lang="en-US" sz="3400" b="1" dirty="0">
                <a:solidFill>
                  <a:schemeClr val="accent1"/>
                </a:solidFill>
              </a:rPr>
              <a:t>0.56–0.80</a:t>
            </a:r>
            <a:endParaRPr lang="en-US" sz="3400" dirty="0"/>
          </a:p>
        </p:txBody>
      </p:sp>
      <p:sp>
        <p:nvSpPr>
          <p:cNvPr id="11" name="Text 6"/>
          <p:cNvSpPr txBox="1"/>
          <p:nvPr/>
        </p:nvSpPr>
        <p:spPr>
          <a:xfrm>
            <a:off x="8686800" y="5166360"/>
            <a:ext cx="3017520" cy="685800"/>
          </a:xfrm>
          <a:prstGeom prst="rect">
            <a:avLst/>
          </a:prstGeom>
          <a:noFill/>
          <a:ln/>
        </p:spPr>
        <p:txBody>
          <a:bodyPr wrap="square" lIns="0" tIns="0" rIns="0" bIns="0" rtlCol="0" anchor="t"/>
          <a:lstStyle/>
          <a:p>
            <a:pPr indent="0" marL="0">
              <a:buNone/>
            </a:pPr>
            <a:r>
              <a:rPr lang="en-US" sz="1400" dirty="0">
                <a:solidFill>
                  <a:schemeClr val="tx1"/>
                </a:solidFill>
              </a:rPr>
              <a:t>the tip events, compared tip with tip</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Internal branches only: a weak lead</a:t>
            </a:r>
            <a:endParaRPr lang="en-US" sz="3200" dirty="0"/>
          </a:p>
        </p:txBody>
      </p:sp>
      <p:pic>
        <p:nvPicPr>
          <p:cNvPr id="4" name="fig3_d.png" descr="Report Figure 3d: internal-only estimate">    </p:cNvPr>
          <p:cNvPicPr>
            <a:picLocks noChangeAspect="1"/>
          </p:cNvPicPr>
          <p:nvPr/>
        </p:nvPicPr>
        <p:blipFill>
          <a:blip r:embed="rId1"/>
          <a:stretch>
            <a:fillRect/>
          </a:stretch>
        </p:blipFill>
        <p:spPr>
          <a:xfrm>
            <a:off x="457200" y="2006280"/>
            <a:ext cx="7680960" cy="3394081"/>
          </a:xfrm>
          <a:prstGeom prst="rect">
            <a:avLst/>
          </a:prstGeom>
        </p:spPr>
      </p:pic>
      <p:sp>
        <p:nvSpPr>
          <p:cNvPr id="5" name="Text 1"/>
          <p:cNvSpPr txBox="1"/>
          <p:nvPr/>
        </p:nvSpPr>
        <p:spPr>
          <a:xfrm>
            <a:off x="8503920" y="1371600"/>
            <a:ext cx="3200400" cy="685800"/>
          </a:xfrm>
          <a:prstGeom prst="rect">
            <a:avLst/>
          </a:prstGeom>
          <a:noFill/>
          <a:ln/>
        </p:spPr>
        <p:txBody>
          <a:bodyPr wrap="square" lIns="0" tIns="0" rIns="0" bIns="0" rtlCol="0" anchor="b"/>
          <a:lstStyle/>
          <a:p>
            <a:pPr indent="0" marL="0">
              <a:buNone/>
            </a:pPr>
            <a:r>
              <a:rPr lang="en-US" sz="4000" b="1" dirty="0">
                <a:solidFill>
                  <a:schemeClr val="accent3"/>
                </a:solidFill>
              </a:rPr>
              <a:t>2.8×</a:t>
            </a:r>
            <a:endParaRPr lang="en-US" sz="4000" dirty="0"/>
          </a:p>
        </p:txBody>
      </p:sp>
      <p:sp>
        <p:nvSpPr>
          <p:cNvPr id="6" name="Text 2"/>
          <p:cNvSpPr txBox="1"/>
          <p:nvPr/>
        </p:nvSpPr>
        <p:spPr>
          <a:xfrm>
            <a:off x="8503920" y="2103120"/>
            <a:ext cx="3200400" cy="685800"/>
          </a:xfrm>
          <a:prstGeom prst="rect">
            <a:avLst/>
          </a:prstGeom>
          <a:noFill/>
          <a:ln/>
        </p:spPr>
        <p:txBody>
          <a:bodyPr wrap="square" lIns="0" tIns="0" rIns="0" bIns="0" rtlCol="0" anchor="t"/>
          <a:lstStyle/>
          <a:p>
            <a:pPr indent="0" marL="0">
              <a:buNone/>
            </a:pPr>
            <a:r>
              <a:rPr lang="en-US" sz="1400" dirty="0">
                <a:solidFill>
                  <a:schemeClr val="tx1"/>
                </a:solidFill>
              </a:rPr>
              <a:t>simple → complex, internal [1.34–5.89]</a:t>
            </a:r>
            <a:endParaRPr lang="en-US" sz="1400" dirty="0"/>
          </a:p>
        </p:txBody>
      </p:sp>
      <p:sp>
        <p:nvSpPr>
          <p:cNvPr id="7" name="Text 3"/>
          <p:cNvSpPr txBox="1"/>
          <p:nvPr/>
        </p:nvSpPr>
        <p:spPr>
          <a:xfrm>
            <a:off x="8503920" y="2926080"/>
            <a:ext cx="3200400" cy="685800"/>
          </a:xfrm>
          <a:prstGeom prst="rect">
            <a:avLst/>
          </a:prstGeom>
          <a:noFill/>
          <a:ln/>
        </p:spPr>
        <p:txBody>
          <a:bodyPr wrap="square" lIns="0" tIns="0" rIns="0" bIns="0" rtlCol="0" anchor="b"/>
          <a:lstStyle/>
          <a:p>
            <a:pPr indent="0" marL="0">
              <a:buNone/>
            </a:pPr>
            <a:r>
              <a:rPr lang="en-US" sz="4000" b="1" dirty="0">
                <a:solidFill>
                  <a:schemeClr val="accent2"/>
                </a:solidFill>
              </a:rPr>
              <a:t>0.82×</a:t>
            </a:r>
            <a:endParaRPr lang="en-US" sz="4000" dirty="0"/>
          </a:p>
        </p:txBody>
      </p:sp>
      <p:sp>
        <p:nvSpPr>
          <p:cNvPr id="8" name="Text 4"/>
          <p:cNvSpPr txBox="1"/>
          <p:nvPr/>
        </p:nvSpPr>
        <p:spPr>
          <a:xfrm>
            <a:off x="8503920" y="3657600"/>
            <a:ext cx="3200400" cy="685800"/>
          </a:xfrm>
          <a:prstGeom prst="rect">
            <a:avLst/>
          </a:prstGeom>
          <a:noFill/>
          <a:ln/>
        </p:spPr>
        <p:txBody>
          <a:bodyPr wrap="square" lIns="0" tIns="0" rIns="0" bIns="0" rtlCol="0" anchor="t"/>
          <a:lstStyle/>
          <a:p>
            <a:pPr indent="0" marL="0">
              <a:buNone/>
            </a:pPr>
            <a:r>
              <a:rPr lang="en-US" sz="1400" dirty="0">
                <a:solidFill>
                  <a:schemeClr val="tx1"/>
                </a:solidFill>
              </a:rPr>
              <a:t>origins of simple multicellularity</a:t>
            </a:r>
            <a:endParaRPr lang="en-US" sz="1400" dirty="0"/>
          </a:p>
        </p:txBody>
      </p:sp>
      <p:sp>
        <p:nvSpPr>
          <p:cNvPr id="9" name="bias-note"/>
          <p:cNvSpPr/>
          <p:nvPr/>
        </p:nvSpPr>
        <p:spPr>
          <a:xfrm>
            <a:off x="8503920" y="4526280"/>
            <a:ext cx="3154680" cy="1463040"/>
          </a:xfrm>
          <a:prstGeom prst="roundRect">
            <a:avLst>
              <a:gd name="adj" fmla="val 7500"/>
            </a:avLst>
          </a:prstGeom>
          <a:solidFill>
            <a:schemeClr val="bg2"/>
          </a:solidFill>
          <a:ln w="12700">
            <a:solidFill>
              <a:schemeClr val="bg2"/>
            </a:solidFill>
            <a:prstDash val="solid"/>
          </a:ln>
        </p:spPr>
      </p:sp>
      <p:sp>
        <p:nvSpPr>
          <p:cNvPr id="10" name="Text 6"/>
          <p:cNvSpPr txBox="1"/>
          <p:nvPr/>
        </p:nvSpPr>
        <p:spPr>
          <a:xfrm>
            <a:off x="8686800" y="4572000"/>
            <a:ext cx="2834640" cy="1371600"/>
          </a:xfrm>
          <a:prstGeom prst="rect">
            <a:avLst/>
          </a:prstGeom>
          <a:noFill/>
          <a:ln/>
        </p:spPr>
        <p:txBody>
          <a:bodyPr wrap="square" lIns="0" tIns="0" rIns="0" bIns="0" rtlCol="0" anchor="ctr"/>
          <a:lstStyle/>
          <a:p>
            <a:pPr indent="0" marL="0">
              <a:buNone/>
            </a:pPr>
            <a:r>
              <a:rPr lang="en-US" sz="1500" b="1" dirty="0">
                <a:solidFill>
                  <a:schemeClr val="tx2"/>
                </a:solidFill>
              </a:rPr>
              <a:t>Lower bound below the 2.2× bias line: exploratory only</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Cell death: the one confirmed signal</a:t>
            </a:r>
            <a:endParaRPr lang="en-US" sz="3200" dirty="0"/>
          </a:p>
        </p:txBody>
      </p:sp>
      <p:pic>
        <p:nvPicPr>
          <p:cNvPr id="4" name="fig4_a.png" descr="Report Figure 4a: PGLS estimates for three family sets">    </p:cNvPr>
          <p:cNvPicPr>
            <a:picLocks noChangeAspect="1"/>
          </p:cNvPicPr>
          <p:nvPr/>
        </p:nvPicPr>
        <p:blipFill>
          <a:blip r:embed="rId1"/>
          <a:stretch>
            <a:fillRect/>
          </a:stretch>
        </p:blipFill>
        <p:spPr>
          <a:xfrm>
            <a:off x="457200" y="1536192"/>
            <a:ext cx="7863840" cy="3145536"/>
          </a:xfrm>
          <a:prstGeom prst="rect">
            <a:avLst/>
          </a:prstGeom>
        </p:spPr>
      </p:pic>
      <p:sp>
        <p:nvSpPr>
          <p:cNvPr id="5" name="Text 1"/>
          <p:cNvSpPr txBox="1"/>
          <p:nvPr/>
        </p:nvSpPr>
        <p:spPr>
          <a:xfrm>
            <a:off x="8595360" y="1280160"/>
            <a:ext cx="3108960" cy="685800"/>
          </a:xfrm>
          <a:prstGeom prst="rect">
            <a:avLst/>
          </a:prstGeom>
          <a:noFill/>
          <a:ln/>
        </p:spPr>
        <p:txBody>
          <a:bodyPr wrap="square" lIns="0" tIns="0" rIns="0" bIns="0" rtlCol="0" anchor="b"/>
          <a:lstStyle/>
          <a:p>
            <a:pPr indent="0" marL="0">
              <a:buNone/>
            </a:pPr>
            <a:r>
              <a:rPr lang="en-US" sz="4400" b="1" dirty="0">
                <a:solidFill>
                  <a:schemeClr val="accent2"/>
                </a:solidFill>
              </a:rPr>
              <a:t>1.21×</a:t>
            </a:r>
            <a:endParaRPr lang="en-US" sz="4400" dirty="0"/>
          </a:p>
        </p:txBody>
      </p:sp>
      <p:sp>
        <p:nvSpPr>
          <p:cNvPr id="6" name="Text 2"/>
          <p:cNvSpPr txBox="1"/>
          <p:nvPr/>
        </p:nvSpPr>
        <p:spPr>
          <a:xfrm>
            <a:off x="8595360" y="2011680"/>
            <a:ext cx="3108960" cy="685800"/>
          </a:xfrm>
          <a:prstGeom prst="rect">
            <a:avLst/>
          </a:prstGeom>
          <a:noFill/>
          <a:ln/>
        </p:spPr>
        <p:txBody>
          <a:bodyPr wrap="square" lIns="0" tIns="0" rIns="0" bIns="0" rtlCol="0" anchor="t"/>
          <a:lstStyle/>
          <a:p>
            <a:pPr indent="0" marL="0">
              <a:buNone/>
            </a:pPr>
            <a:r>
              <a:rPr lang="en-US" sz="1400" dirty="0">
                <a:solidFill>
                  <a:schemeClr val="tx1"/>
                </a:solidFill>
              </a:rPr>
              <a:t>more cell-death proteins [1.04–1.42], Holm p = 0.014</a:t>
            </a:r>
            <a:endParaRPr lang="en-US" sz="1400" dirty="0"/>
          </a:p>
        </p:txBody>
      </p:sp>
      <p:sp>
        <p:nvSpPr>
          <p:cNvPr id="7" name="Text 3"/>
          <p:cNvSpPr txBox="1"/>
          <p:nvPr/>
        </p:nvSpPr>
        <p:spPr>
          <a:xfrm>
            <a:off x="8595360" y="2926080"/>
            <a:ext cx="3108960" cy="685800"/>
          </a:xfrm>
          <a:prstGeom prst="rect">
            <a:avLst/>
          </a:prstGeom>
          <a:noFill/>
          <a:ln/>
        </p:spPr>
        <p:txBody>
          <a:bodyPr wrap="square" lIns="0" tIns="0" rIns="0" bIns="0" rtlCol="0" anchor="b"/>
          <a:lstStyle/>
          <a:p>
            <a:pPr indent="0" marL="0">
              <a:buNone/>
            </a:pPr>
            <a:r>
              <a:rPr lang="en-US" sz="3200" b="1" dirty="0">
                <a:solidFill>
                  <a:schemeClr val="accent3"/>
                </a:solidFill>
              </a:rPr>
              <a:t>+0.249 SD</a:t>
            </a:r>
            <a:endParaRPr lang="en-US" sz="3200" dirty="0"/>
          </a:p>
        </p:txBody>
      </p:sp>
      <p:sp>
        <p:nvSpPr>
          <p:cNvPr id="8" name="Text 4"/>
          <p:cNvSpPr txBox="1"/>
          <p:nvPr/>
        </p:nvSpPr>
        <p:spPr>
          <a:xfrm>
            <a:off x="8595360" y="3657600"/>
            <a:ext cx="3108960" cy="685800"/>
          </a:xfrm>
          <a:prstGeom prst="rect">
            <a:avLst/>
          </a:prstGeom>
          <a:noFill/>
          <a:ln/>
        </p:spPr>
        <p:txBody>
          <a:bodyPr wrap="square" lIns="0" tIns="0" rIns="0" bIns="0" rtlCol="0" anchor="t"/>
          <a:lstStyle/>
          <a:p>
            <a:pPr indent="0" marL="0">
              <a:buNone/>
            </a:pPr>
            <a:r>
              <a:rPr lang="en-US" sz="1400" dirty="0">
                <a:solidFill>
                  <a:schemeClr val="tx1"/>
                </a:solidFill>
              </a:rPr>
              <a:t>complex vs unicellular (simple: +0.111)</a:t>
            </a:r>
            <a:endParaRPr lang="en-US" sz="1400" dirty="0"/>
          </a:p>
        </p:txBody>
      </p:sp>
      <p:sp>
        <p:nvSpPr>
          <p:cNvPr id="9" name="celldeath-caveat"/>
          <p:cNvSpPr/>
          <p:nvPr/>
        </p:nvSpPr>
        <p:spPr>
          <a:xfrm>
            <a:off x="548640" y="5257800"/>
            <a:ext cx="11109960" cy="868680"/>
          </a:xfrm>
          <a:prstGeom prst="roundRect">
            <a:avLst>
              <a:gd name="adj" fmla="val 12632"/>
            </a:avLst>
          </a:prstGeom>
          <a:solidFill>
            <a:schemeClr val="bg2"/>
          </a:solidFill>
          <a:ln w="12700">
            <a:solidFill>
              <a:schemeClr val="bg2"/>
            </a:solidFill>
            <a:prstDash val="solid"/>
          </a:ln>
        </p:spPr>
      </p:sp>
      <p:sp>
        <p:nvSpPr>
          <p:cNvPr id="10" name="icon-circle-FaExclamationTriangle"/>
          <p:cNvSpPr/>
          <p:nvPr/>
        </p:nvSpPr>
        <p:spPr>
          <a:xfrm>
            <a:off x="685800" y="5376672"/>
            <a:ext cx="640080" cy="640080"/>
          </a:xfrm>
          <a:prstGeom prst="ellipse">
            <a:avLst/>
          </a:prstGeom>
          <a:solidFill>
            <a:schemeClr val="accent5"/>
          </a:solidFill>
          <a:ln w="12700">
            <a:solidFill>
              <a:schemeClr val="accent5"/>
            </a:solidFill>
            <a:prstDash val="solid"/>
          </a:ln>
        </p:spPr>
      </p:sp>
      <p:pic>
        <p:nvPicPr>
          <p:cNvPr id="11" name="icon-FaExclamationTriangle" descr="FaExclamationTriangle">    </p:cNvPr>
          <p:cNvPicPr>
            <a:picLocks noChangeAspect="1"/>
          </p:cNvPicPr>
          <p:nvPr/>
        </p:nvPicPr>
        <p:blipFill>
          <a:blip r:embed="rId2"/>
          <a:stretch>
            <a:fillRect/>
          </a:stretch>
        </p:blipFill>
        <p:spPr>
          <a:xfrm>
            <a:off x="839419" y="5530291"/>
            <a:ext cx="332842" cy="332842"/>
          </a:xfrm>
          <a:prstGeom prst="rect">
            <a:avLst/>
          </a:prstGeom>
        </p:spPr>
      </p:pic>
      <p:sp>
        <p:nvSpPr>
          <p:cNvPr id="12" name="Text 7"/>
          <p:cNvSpPr txBox="1"/>
          <p:nvPr/>
        </p:nvSpPr>
        <p:spPr>
          <a:xfrm>
            <a:off x="1508760" y="5257800"/>
            <a:ext cx="10058400" cy="868680"/>
          </a:xfrm>
          <a:prstGeom prst="rect">
            <a:avLst/>
          </a:prstGeom>
          <a:noFill/>
          <a:ln/>
        </p:spPr>
        <p:txBody>
          <a:bodyPr wrap="square" lIns="0" tIns="0" rIns="0" bIns="0" rtlCol="0" anchor="ctr"/>
          <a:lstStyle/>
          <a:p>
            <a:pPr indent="0" marL="0">
              <a:buNone/>
            </a:pPr>
            <a:r>
              <a:rPr lang="en-US" sz="1500" dirty="0">
                <a:solidFill>
                  <a:schemeClr val="tx1"/>
                </a:solidFill>
              </a:rPr>
              <a:t>Caveat: size-dependent. Without the 10 largest proteomes p = 0.025; as a share of the proteome p = 0.14. Read as 'more than expected for proteome size'.</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The extra proteins are lineage-specific receptors</a:t>
            </a:r>
            <a:endParaRPr lang="en-US" sz="3200" dirty="0"/>
          </a:p>
        </p:txBody>
      </p:sp>
      <p:pic>
        <p:nvPicPr>
          <p:cNvPr id="4" name="fig5_a.png" descr="Report Figure 5a: cell-death domains per species by lineage">    </p:cNvPr>
          <p:cNvPicPr>
            <a:picLocks noChangeAspect="1"/>
          </p:cNvPicPr>
          <p:nvPr/>
        </p:nvPicPr>
        <p:blipFill>
          <a:blip r:embed="rId1"/>
          <a:stretch>
            <a:fillRect/>
          </a:stretch>
        </p:blipFill>
        <p:spPr>
          <a:xfrm>
            <a:off x="457200" y="1765653"/>
            <a:ext cx="7223760" cy="3875335"/>
          </a:xfrm>
          <a:prstGeom prst="rect">
            <a:avLst/>
          </a:prstGeom>
        </p:spPr>
      </p:pic>
      <p:sp>
        <p:nvSpPr>
          <p:cNvPr id="5" name="lineage-dot"/>
          <p:cNvSpPr/>
          <p:nvPr/>
        </p:nvSpPr>
        <p:spPr>
          <a:xfrm>
            <a:off x="7955280" y="1389888"/>
            <a:ext cx="329184" cy="329184"/>
          </a:xfrm>
          <a:prstGeom prst="ellipse">
            <a:avLst/>
          </a:prstGeom>
          <a:solidFill>
            <a:schemeClr val="accent2"/>
          </a:solidFill>
          <a:ln w="12700">
            <a:solidFill>
              <a:schemeClr val="accent2"/>
            </a:solidFill>
            <a:prstDash val="solid"/>
          </a:ln>
        </p:spPr>
      </p:sp>
      <p:sp>
        <p:nvSpPr>
          <p:cNvPr id="6" name="Text 2"/>
          <p:cNvSpPr txBox="1"/>
          <p:nvPr/>
        </p:nvSpPr>
        <p:spPr>
          <a:xfrm>
            <a:off x="8412480" y="1280160"/>
            <a:ext cx="3291840" cy="868680"/>
          </a:xfrm>
          <a:prstGeom prst="rect">
            <a:avLst/>
          </a:prstGeom>
          <a:noFill/>
          <a:ln/>
        </p:spPr>
        <p:txBody>
          <a:bodyPr wrap="square" lIns="0" tIns="0" rIns="0" bIns="0" rtlCol="0" anchor="t"/>
          <a:lstStyle/>
          <a:p>
            <a:pPr indent="0" marL="0">
              <a:buNone/>
            </a:pPr>
            <a:r>
              <a:rPr lang="en-US" sz="1600" b="1" dirty="0">
                <a:solidFill>
                  <a:schemeClr val="tx1"/>
                </a:solidFill>
              </a:rPr>
              <a:t>Land plants</a:t>
            </a:r>
            <a:endParaRPr lang="en-US" sz="1600" dirty="0"/>
          </a:p>
          <a:p>
            <a:pPr indent="0" marL="0">
              <a:buNone/>
            </a:pPr>
            <a:r>
              <a:rPr lang="en-US" sz="1400" dirty="0">
                <a:solidFill>
                  <a:schemeClr val="tx1"/>
                </a:solidFill>
              </a:rPr>
              <a:t>NB-ARC–LRR immune receptors (+84 / species)</a:t>
            </a:r>
            <a:endParaRPr lang="en-US" sz="1600" dirty="0"/>
          </a:p>
        </p:txBody>
      </p:sp>
      <p:sp>
        <p:nvSpPr>
          <p:cNvPr id="7" name="lineage-dot"/>
          <p:cNvSpPr/>
          <p:nvPr/>
        </p:nvSpPr>
        <p:spPr>
          <a:xfrm>
            <a:off x="7955280" y="2368296"/>
            <a:ext cx="329184" cy="329184"/>
          </a:xfrm>
          <a:prstGeom prst="ellipse">
            <a:avLst/>
          </a:prstGeom>
          <a:solidFill>
            <a:schemeClr val="accent4"/>
          </a:solidFill>
          <a:ln w="12700">
            <a:solidFill>
              <a:schemeClr val="accent4"/>
            </a:solidFill>
            <a:prstDash val="solid"/>
          </a:ln>
        </p:spPr>
      </p:sp>
      <p:sp>
        <p:nvSpPr>
          <p:cNvPr id="8" name="Text 4"/>
          <p:cNvSpPr txBox="1"/>
          <p:nvPr/>
        </p:nvSpPr>
        <p:spPr>
          <a:xfrm>
            <a:off x="8412480" y="2258568"/>
            <a:ext cx="3291840" cy="868680"/>
          </a:xfrm>
          <a:prstGeom prst="rect">
            <a:avLst/>
          </a:prstGeom>
          <a:noFill/>
          <a:ln/>
        </p:spPr>
        <p:txBody>
          <a:bodyPr wrap="square" lIns="0" tIns="0" rIns="0" bIns="0" rtlCol="0" anchor="t"/>
          <a:lstStyle/>
          <a:p>
            <a:pPr indent="0" marL="0">
              <a:buNone/>
            </a:pPr>
            <a:r>
              <a:rPr lang="en-US" sz="1600" b="1" dirty="0">
                <a:solidFill>
                  <a:schemeClr val="tx1"/>
                </a:solidFill>
              </a:rPr>
              <a:t>Red algae</a:t>
            </a:r>
            <a:endParaRPr lang="en-US" sz="1600" dirty="0"/>
          </a:p>
          <a:p>
            <a:pPr indent="0" marL="0">
              <a:buNone/>
            </a:pPr>
            <a:r>
              <a:rPr lang="en-US" sz="1400" dirty="0">
                <a:solidFill>
                  <a:schemeClr val="tx1"/>
                </a:solidFill>
              </a:rPr>
              <a:t>NB-ARC–WD40 (+29)</a:t>
            </a:r>
            <a:endParaRPr lang="en-US" sz="1600" dirty="0"/>
          </a:p>
        </p:txBody>
      </p:sp>
      <p:sp>
        <p:nvSpPr>
          <p:cNvPr id="9" name="lineage-dot"/>
          <p:cNvSpPr/>
          <p:nvPr/>
        </p:nvSpPr>
        <p:spPr>
          <a:xfrm>
            <a:off x="7955280" y="3346704"/>
            <a:ext cx="329184" cy="329184"/>
          </a:xfrm>
          <a:prstGeom prst="ellipse">
            <a:avLst/>
          </a:prstGeom>
          <a:solidFill>
            <a:schemeClr val="accent5"/>
          </a:solidFill>
          <a:ln w="12700">
            <a:solidFill>
              <a:schemeClr val="accent5"/>
            </a:solidFill>
            <a:prstDash val="solid"/>
          </a:ln>
        </p:spPr>
      </p:sp>
      <p:sp>
        <p:nvSpPr>
          <p:cNvPr id="10" name="Text 6"/>
          <p:cNvSpPr txBox="1"/>
          <p:nvPr/>
        </p:nvSpPr>
        <p:spPr>
          <a:xfrm>
            <a:off x="8412480" y="3236976"/>
            <a:ext cx="3291840" cy="868680"/>
          </a:xfrm>
          <a:prstGeom prst="rect">
            <a:avLst/>
          </a:prstGeom>
          <a:noFill/>
          <a:ln/>
        </p:spPr>
        <p:txBody>
          <a:bodyPr wrap="square" lIns="0" tIns="0" rIns="0" bIns="0" rtlCol="0" anchor="t"/>
          <a:lstStyle/>
          <a:p>
            <a:pPr indent="0" marL="0">
              <a:buNone/>
            </a:pPr>
            <a:r>
              <a:rPr lang="en-US" sz="1600" b="1" dirty="0">
                <a:solidFill>
                  <a:schemeClr val="tx1"/>
                </a:solidFill>
              </a:rPr>
              <a:t>Filamentous fungi</a:t>
            </a:r>
            <a:endParaRPr lang="en-US" sz="1600" dirty="0"/>
          </a:p>
          <a:p>
            <a:pPr indent="0" marL="0">
              <a:buNone/>
            </a:pPr>
            <a:r>
              <a:rPr lang="en-US" sz="1400" dirty="0">
                <a:solidFill>
                  <a:schemeClr val="tx1"/>
                </a:solidFill>
              </a:rPr>
              <a:t>HET (+37), NACHT: non-self recognition</a:t>
            </a:r>
            <a:endParaRPr lang="en-US" sz="1600" dirty="0"/>
          </a:p>
        </p:txBody>
      </p:sp>
      <p:sp>
        <p:nvSpPr>
          <p:cNvPr id="11" name="lineage-dot"/>
          <p:cNvSpPr/>
          <p:nvPr/>
        </p:nvSpPr>
        <p:spPr>
          <a:xfrm>
            <a:off x="7955280" y="4325112"/>
            <a:ext cx="329184" cy="329184"/>
          </a:xfrm>
          <a:prstGeom prst="ellipse">
            <a:avLst/>
          </a:prstGeom>
          <a:solidFill>
            <a:schemeClr val="accent3"/>
          </a:solidFill>
          <a:ln w="12700">
            <a:solidFill>
              <a:schemeClr val="accent3"/>
            </a:solidFill>
            <a:prstDash val="solid"/>
          </a:ln>
        </p:spPr>
      </p:sp>
      <p:sp>
        <p:nvSpPr>
          <p:cNvPr id="12" name="Text 8"/>
          <p:cNvSpPr txBox="1"/>
          <p:nvPr/>
        </p:nvSpPr>
        <p:spPr>
          <a:xfrm>
            <a:off x="8412480" y="4215384"/>
            <a:ext cx="3291840" cy="868680"/>
          </a:xfrm>
          <a:prstGeom prst="rect">
            <a:avLst/>
          </a:prstGeom>
          <a:noFill/>
          <a:ln/>
        </p:spPr>
        <p:txBody>
          <a:bodyPr wrap="square" lIns="0" tIns="0" rIns="0" bIns="0" rtlCol="0" anchor="t"/>
          <a:lstStyle/>
          <a:p>
            <a:pPr indent="0" marL="0">
              <a:buNone/>
            </a:pPr>
            <a:r>
              <a:rPr lang="en-US" sz="1600" b="1" dirty="0">
                <a:solidFill>
                  <a:schemeClr val="tx1"/>
                </a:solidFill>
              </a:rPr>
              <a:t>Animals</a:t>
            </a:r>
            <a:endParaRPr lang="en-US" sz="1600" dirty="0"/>
          </a:p>
          <a:p>
            <a:pPr indent="0" marL="0">
              <a:buNone/>
            </a:pPr>
            <a:r>
              <a:rPr lang="en-US" sz="1400" dirty="0">
                <a:solidFill>
                  <a:schemeClr val="tx1"/>
                </a:solidFill>
              </a:rPr>
              <a:t>Death, CARD, DED adaptors; caspases</a:t>
            </a:r>
            <a:endParaRPr lang="en-US" sz="1600" dirty="0"/>
          </a:p>
        </p:txBody>
      </p:sp>
      <p:sp>
        <p:nvSpPr>
          <p:cNvPr id="13" name="lineage-dot"/>
          <p:cNvSpPr/>
          <p:nvPr/>
        </p:nvSpPr>
        <p:spPr>
          <a:xfrm>
            <a:off x="7955280" y="5303520"/>
            <a:ext cx="329184" cy="329184"/>
          </a:xfrm>
          <a:prstGeom prst="ellipse">
            <a:avLst/>
          </a:prstGeom>
          <a:solidFill>
            <a:schemeClr val="accent6"/>
          </a:solidFill>
          <a:ln w="12700">
            <a:solidFill>
              <a:schemeClr val="accent6"/>
            </a:solidFill>
            <a:prstDash val="solid"/>
          </a:ln>
        </p:spPr>
      </p:sp>
      <p:sp>
        <p:nvSpPr>
          <p:cNvPr id="14" name="Text 10"/>
          <p:cNvSpPr txBox="1"/>
          <p:nvPr/>
        </p:nvSpPr>
        <p:spPr>
          <a:xfrm>
            <a:off x="8412480" y="5193792"/>
            <a:ext cx="3291840" cy="868680"/>
          </a:xfrm>
          <a:prstGeom prst="rect">
            <a:avLst/>
          </a:prstGeom>
          <a:noFill/>
          <a:ln/>
        </p:spPr>
        <p:txBody>
          <a:bodyPr wrap="square" lIns="0" tIns="0" rIns="0" bIns="0" rtlCol="0" anchor="t"/>
          <a:lstStyle/>
          <a:p>
            <a:pPr indent="0" marL="0">
              <a:buNone/>
            </a:pPr>
            <a:r>
              <a:rPr lang="en-US" sz="1600" b="1" dirty="0">
                <a:solidFill>
                  <a:schemeClr val="tx1"/>
                </a:solidFill>
              </a:rPr>
              <a:t>Dictyostelids, volvocines</a:t>
            </a:r>
            <a:endParaRPr lang="en-US" sz="1600" dirty="0"/>
          </a:p>
          <a:p>
            <a:pPr indent="0" marL="0">
              <a:buNone/>
            </a:pPr>
            <a:r>
              <a:rPr lang="en-US" sz="1400" dirty="0">
                <a:solidFill>
                  <a:schemeClr val="tx1"/>
                </a:solidFill>
              </a:rPr>
              <a:t>no excess</a:t>
            </a:r>
            <a:endParaRPr lang="en-US" sz="16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Motif-binding domains and TF families: null</a:t>
            </a:r>
            <a:endParaRPr lang="en-US" sz="3200" dirty="0"/>
          </a:p>
        </p:txBody>
      </p:sp>
      <p:pic>
        <p:nvPicPr>
          <p:cNvPr id="4" name="fig4_bc.png" descr="Report Figure 4b-c: leave-one-origin-out and proteome-size sensitivity">    </p:cNvPr>
          <p:cNvPicPr>
            <a:picLocks noChangeAspect="1"/>
          </p:cNvPicPr>
          <p:nvPr/>
        </p:nvPicPr>
        <p:blipFill>
          <a:blip r:embed="rId1"/>
          <a:stretch>
            <a:fillRect/>
          </a:stretch>
        </p:blipFill>
        <p:spPr>
          <a:xfrm>
            <a:off x="457200" y="2008969"/>
            <a:ext cx="7863840" cy="3297262"/>
          </a:xfrm>
          <a:prstGeom prst="rect">
            <a:avLst/>
          </a:prstGeom>
        </p:spPr>
      </p:pic>
      <p:sp>
        <p:nvSpPr>
          <p:cNvPr id="5" name="Text 1"/>
          <p:cNvSpPr txBox="1"/>
          <p:nvPr/>
        </p:nvSpPr>
        <p:spPr>
          <a:xfrm>
            <a:off x="8595360" y="1371600"/>
            <a:ext cx="3108960" cy="685800"/>
          </a:xfrm>
          <a:prstGeom prst="rect">
            <a:avLst/>
          </a:prstGeom>
          <a:noFill/>
          <a:ln/>
        </p:spPr>
        <p:txBody>
          <a:bodyPr wrap="square" lIns="0" tIns="0" rIns="0" bIns="0" rtlCol="0" anchor="b"/>
          <a:lstStyle/>
          <a:p>
            <a:pPr indent="0" marL="0">
              <a:buNone/>
            </a:pPr>
            <a:r>
              <a:rPr lang="en-US" sz="4400" b="1" dirty="0">
                <a:solidFill>
                  <a:schemeClr val="accent4"/>
                </a:solidFill>
              </a:rPr>
              <a:t>0.98×</a:t>
            </a:r>
            <a:endParaRPr lang="en-US" sz="4400" dirty="0"/>
          </a:p>
        </p:txBody>
      </p:sp>
      <p:sp>
        <p:nvSpPr>
          <p:cNvPr id="6" name="Text 2"/>
          <p:cNvSpPr txBox="1"/>
          <p:nvPr/>
        </p:nvSpPr>
        <p:spPr>
          <a:xfrm>
            <a:off x="8595360" y="2103120"/>
            <a:ext cx="3108960" cy="685800"/>
          </a:xfrm>
          <a:prstGeom prst="rect">
            <a:avLst/>
          </a:prstGeom>
          <a:noFill/>
          <a:ln/>
        </p:spPr>
        <p:txBody>
          <a:bodyPr wrap="square" lIns="0" tIns="0" rIns="0" bIns="0" rtlCol="0" anchor="t"/>
          <a:lstStyle/>
          <a:p>
            <a:pPr indent="0" marL="0">
              <a:buNone/>
            </a:pPr>
            <a:r>
              <a:rPr lang="en-US" sz="1400" dirty="0">
                <a:solidFill>
                  <a:schemeClr val="tx1"/>
                </a:solidFill>
              </a:rPr>
              <a:t>motif-binding domains, p = 0.72</a:t>
            </a:r>
            <a:endParaRPr lang="en-US" sz="1400" dirty="0"/>
          </a:p>
        </p:txBody>
      </p:sp>
      <p:sp>
        <p:nvSpPr>
          <p:cNvPr id="7" name="Text 3"/>
          <p:cNvSpPr txBox="1"/>
          <p:nvPr/>
        </p:nvSpPr>
        <p:spPr>
          <a:xfrm>
            <a:off x="8595360" y="3017520"/>
            <a:ext cx="3108960" cy="685800"/>
          </a:xfrm>
          <a:prstGeom prst="rect">
            <a:avLst/>
          </a:prstGeom>
          <a:noFill/>
          <a:ln/>
        </p:spPr>
        <p:txBody>
          <a:bodyPr wrap="square" lIns="0" tIns="0" rIns="0" bIns="0" rtlCol="0" anchor="b"/>
          <a:lstStyle/>
          <a:p>
            <a:pPr indent="0" marL="0">
              <a:buNone/>
            </a:pPr>
            <a:r>
              <a:rPr lang="en-US" sz="3600" b="1" dirty="0">
                <a:solidFill>
                  <a:schemeClr val="accent4"/>
                </a:solidFill>
              </a:rPr>
              <a:t>+0.03 SD</a:t>
            </a:r>
            <a:endParaRPr lang="en-US" sz="3600" dirty="0"/>
          </a:p>
        </p:txBody>
      </p:sp>
      <p:sp>
        <p:nvSpPr>
          <p:cNvPr id="8" name="Text 4"/>
          <p:cNvSpPr txBox="1"/>
          <p:nvPr/>
        </p:nvSpPr>
        <p:spPr>
          <a:xfrm>
            <a:off x="8595360" y="3749040"/>
            <a:ext cx="3108960" cy="685800"/>
          </a:xfrm>
          <a:prstGeom prst="rect">
            <a:avLst/>
          </a:prstGeom>
          <a:noFill/>
          <a:ln/>
        </p:spPr>
        <p:txBody>
          <a:bodyPr wrap="square" lIns="0" tIns="0" rIns="0" bIns="0" rtlCol="0" anchor="t"/>
          <a:lstStyle/>
          <a:p>
            <a:pPr indent="0" marL="0">
              <a:buNone/>
            </a:pPr>
            <a:r>
              <a:rPr lang="en-US" sz="1400" dirty="0">
                <a:solidFill>
                  <a:schemeClr val="tx1"/>
                </a:solidFill>
              </a:rPr>
              <a:t>cell-type TF families, p = 0.30</a:t>
            </a:r>
            <a:endParaRPr lang="en-US" sz="1400" dirty="0"/>
          </a:p>
        </p:txBody>
      </p:sp>
      <p:sp>
        <p:nvSpPr>
          <p:cNvPr id="9" name="Text 5"/>
          <p:cNvSpPr txBox="1"/>
          <p:nvPr/>
        </p:nvSpPr>
        <p:spPr>
          <a:xfrm>
            <a:off x="8595360" y="4663440"/>
            <a:ext cx="3063240" cy="1097280"/>
          </a:xfrm>
          <a:prstGeom prst="rect">
            <a:avLst/>
          </a:prstGeom>
          <a:noFill/>
          <a:ln/>
        </p:spPr>
        <p:txBody>
          <a:bodyPr wrap="square" lIns="0" tIns="0" rIns="0" bIns="0" rtlCol="0" anchor="t"/>
          <a:lstStyle/>
          <a:p>
            <a:pPr indent="0" marL="0">
              <a:buNone/>
            </a:pPr>
            <a:r>
              <a:rPr lang="en-US" sz="1100" i="1" dirty="0">
                <a:solidFill>
                  <a:schemeClr val="tx2"/>
                </a:solidFill>
              </a:rPr>
              <a:t>Left: motif-binding estimates are negative in 6 of 7 leave-one-out runs; cell death stays positive in all 7.</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Structure did not help Ancestra</a:t>
            </a:r>
            <a:endParaRPr lang="en-US" sz="3200" dirty="0"/>
          </a:p>
        </p:txBody>
      </p:sp>
      <p:pic>
        <p:nvPicPr>
          <p:cNvPr id="4" name="fig7_a.png" descr="Report Figure 7a: predicted vs AlphaFold-derived letters">    </p:cNvPr>
          <p:cNvPicPr>
            <a:picLocks noChangeAspect="1"/>
          </p:cNvPicPr>
          <p:nvPr/>
        </p:nvPicPr>
        <p:blipFill>
          <a:blip r:embed="rId1"/>
          <a:stretch>
            <a:fillRect/>
          </a:stretch>
        </p:blipFill>
        <p:spPr>
          <a:xfrm>
            <a:off x="546463" y="1188720"/>
            <a:ext cx="5307874" cy="4206240"/>
          </a:xfrm>
          <a:prstGeom prst="rect">
            <a:avLst/>
          </a:prstGeom>
        </p:spPr>
      </p:pic>
      <p:pic>
        <p:nvPicPr>
          <p:cNvPr id="5" name="fig7_b.png" descr="Report Figure 7b: structure mode inside Ancestra">    </p:cNvPr>
          <p:cNvPicPr>
            <a:picLocks noChangeAspect="1"/>
          </p:cNvPicPr>
          <p:nvPr/>
        </p:nvPicPr>
        <p:blipFill>
          <a:blip r:embed="rId2"/>
          <a:stretch>
            <a:fillRect/>
          </a:stretch>
        </p:blipFill>
        <p:spPr>
          <a:xfrm>
            <a:off x="6278336" y="1188720"/>
            <a:ext cx="5182689" cy="4206240"/>
          </a:xfrm>
          <a:prstGeom prst="rect">
            <a:avLst/>
          </a:prstGeom>
        </p:spPr>
      </p:pic>
      <p:sp>
        <p:nvSpPr>
          <p:cNvPr id="6" name="Text 1"/>
          <p:cNvSpPr txBox="1"/>
          <p:nvPr/>
        </p:nvSpPr>
        <p:spPr>
          <a:xfrm>
            <a:off x="640080" y="5349240"/>
            <a:ext cx="3566160" cy="685800"/>
          </a:xfrm>
          <a:prstGeom prst="rect">
            <a:avLst/>
          </a:prstGeom>
          <a:noFill/>
          <a:ln/>
        </p:spPr>
        <p:txBody>
          <a:bodyPr wrap="square" lIns="0" tIns="0" rIns="0" bIns="0" rtlCol="0" anchor="b"/>
          <a:lstStyle/>
          <a:p>
            <a:pPr indent="0" marL="0">
              <a:buNone/>
            </a:pPr>
            <a:r>
              <a:rPr lang="en-US" sz="2600" b="1" dirty="0">
                <a:solidFill>
                  <a:schemeClr val="accent2"/>
                </a:solidFill>
              </a:rPr>
              <a:t>65.5%</a:t>
            </a:r>
            <a:endParaRPr lang="en-US" sz="2600" dirty="0"/>
          </a:p>
        </p:txBody>
      </p:sp>
      <p:sp>
        <p:nvSpPr>
          <p:cNvPr id="7" name="Text 2"/>
          <p:cNvSpPr txBox="1"/>
          <p:nvPr/>
        </p:nvSpPr>
        <p:spPr>
          <a:xfrm>
            <a:off x="640080" y="6080760"/>
            <a:ext cx="3566160" cy="685800"/>
          </a:xfrm>
          <a:prstGeom prst="rect">
            <a:avLst/>
          </a:prstGeom>
          <a:noFill/>
          <a:ln/>
        </p:spPr>
        <p:txBody>
          <a:bodyPr wrap="square" lIns="0" tIns="0" rIns="0" bIns="0" rtlCol="0" anchor="t"/>
          <a:lstStyle/>
          <a:p>
            <a:pPr indent="0" marL="0">
              <a:buNone/>
            </a:pPr>
            <a:r>
              <a:rPr lang="en-US" sz="1400" dirty="0">
                <a:solidFill>
                  <a:schemeClr val="tx1"/>
                </a:solidFill>
              </a:rPr>
              <a:t>letters match AlphaFold (chance 16.7%)</a:t>
            </a:r>
            <a:endParaRPr lang="en-US" sz="1400" dirty="0"/>
          </a:p>
        </p:txBody>
      </p:sp>
      <p:sp>
        <p:nvSpPr>
          <p:cNvPr id="8" name="Text 3"/>
          <p:cNvSpPr txBox="1"/>
          <p:nvPr/>
        </p:nvSpPr>
        <p:spPr>
          <a:xfrm>
            <a:off x="4389120" y="5349240"/>
            <a:ext cx="3566160" cy="685800"/>
          </a:xfrm>
          <a:prstGeom prst="rect">
            <a:avLst/>
          </a:prstGeom>
          <a:noFill/>
          <a:ln/>
        </p:spPr>
        <p:txBody>
          <a:bodyPr wrap="square" lIns="0" tIns="0" rIns="0" bIns="0" rtlCol="0" anchor="b"/>
          <a:lstStyle/>
          <a:p>
            <a:pPr indent="0" marL="0">
              <a:buNone/>
            </a:pPr>
            <a:r>
              <a:rPr lang="en-US" sz="2600" b="1" dirty="0">
                <a:solidFill>
                  <a:schemeClr val="accent4"/>
                </a:solidFill>
              </a:rPr>
              <a:t>23.3% → 20.7%</a:t>
            </a:r>
            <a:endParaRPr lang="en-US" sz="2600" dirty="0"/>
          </a:p>
        </p:txBody>
      </p:sp>
      <p:sp>
        <p:nvSpPr>
          <p:cNvPr id="9" name="Text 4"/>
          <p:cNvSpPr txBox="1"/>
          <p:nvPr/>
        </p:nvSpPr>
        <p:spPr>
          <a:xfrm>
            <a:off x="4389120" y="6080760"/>
            <a:ext cx="3566160" cy="685800"/>
          </a:xfrm>
          <a:prstGeom prst="rect">
            <a:avLst/>
          </a:prstGeom>
          <a:noFill/>
          <a:ln/>
        </p:spPr>
        <p:txBody>
          <a:bodyPr wrap="square" lIns="0" tIns="0" rIns="0" bIns="0" rtlCol="0" anchor="t"/>
          <a:lstStyle/>
          <a:p>
            <a:pPr indent="0" marL="0">
              <a:buNone/>
            </a:pPr>
            <a:r>
              <a:rPr lang="en-US" sz="1400" dirty="0">
                <a:solidFill>
                  <a:schemeClr val="tx1"/>
                </a:solidFill>
              </a:rPr>
              <a:t>EukaryOMA agreement, default → structure</a:t>
            </a:r>
            <a:endParaRPr lang="en-US" sz="1400" dirty="0"/>
          </a:p>
        </p:txBody>
      </p:sp>
      <p:sp>
        <p:nvSpPr>
          <p:cNvPr id="10" name="Text 5"/>
          <p:cNvSpPr txBox="1"/>
          <p:nvPr/>
        </p:nvSpPr>
        <p:spPr>
          <a:xfrm>
            <a:off x="8138160" y="5349240"/>
            <a:ext cx="3566160" cy="685800"/>
          </a:xfrm>
          <a:prstGeom prst="rect">
            <a:avLst/>
          </a:prstGeom>
          <a:noFill/>
          <a:ln/>
        </p:spPr>
        <p:txBody>
          <a:bodyPr wrap="square" lIns="0" tIns="0" rIns="0" bIns="0" rtlCol="0" anchor="b"/>
          <a:lstStyle/>
          <a:p>
            <a:pPr indent="0" marL="0">
              <a:buNone/>
            </a:pPr>
            <a:r>
              <a:rPr lang="en-US" sz="2600" b="1" dirty="0">
                <a:solidFill>
                  <a:schemeClr val="accent4"/>
                </a:solidFill>
              </a:rPr>
              <a:t>1 of 3</a:t>
            </a:r>
            <a:endParaRPr lang="en-US" sz="2600" dirty="0"/>
          </a:p>
        </p:txBody>
      </p:sp>
      <p:sp>
        <p:nvSpPr>
          <p:cNvPr id="11" name="Text 6"/>
          <p:cNvSpPr txBox="1"/>
          <p:nvPr/>
        </p:nvSpPr>
        <p:spPr>
          <a:xfrm>
            <a:off x="8138160" y="6080760"/>
            <a:ext cx="3566160" cy="685800"/>
          </a:xfrm>
          <a:prstGeom prst="rect">
            <a:avLst/>
          </a:prstGeom>
          <a:noFill/>
          <a:ln/>
        </p:spPr>
        <p:txBody>
          <a:bodyPr wrap="square" lIns="0" tIns="0" rIns="0" bIns="0" rtlCol="0" anchor="t"/>
          <a:lstStyle/>
          <a:p>
            <a:pPr indent="0" marL="0">
              <a:buNone/>
            </a:pPr>
            <a:r>
              <a:rPr lang="en-US" sz="1400" dirty="0">
                <a:solidFill>
                  <a:schemeClr val="tx1"/>
                </a:solidFill>
              </a:rPr>
              <a:t>deep-node controls, in every run</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Two structural signals did not survive controls</a:t>
            </a:r>
            <a:endParaRPr lang="en-US" sz="3200" dirty="0"/>
          </a:p>
        </p:txBody>
      </p:sp>
      <p:pic>
        <p:nvPicPr>
          <p:cNvPr id="4" name="fig7_c.png" descr="Report Figure 7c: structurally unmatched families, adjusted">    </p:cNvPr>
          <p:cNvPicPr>
            <a:picLocks noChangeAspect="1"/>
          </p:cNvPicPr>
          <p:nvPr/>
        </p:nvPicPr>
        <p:blipFill>
          <a:blip r:embed="rId1"/>
          <a:stretch>
            <a:fillRect/>
          </a:stretch>
        </p:blipFill>
        <p:spPr>
          <a:xfrm>
            <a:off x="698372" y="1188720"/>
            <a:ext cx="5004057" cy="4206240"/>
          </a:xfrm>
          <a:prstGeom prst="rect">
            <a:avLst/>
          </a:prstGeom>
        </p:spPr>
      </p:pic>
      <p:pic>
        <p:nvPicPr>
          <p:cNvPr id="5" name="fig7_d.png" descr="Report Figure 7d: structure per sequence change with controls">    </p:cNvPr>
          <p:cNvPicPr>
            <a:picLocks noChangeAspect="1"/>
          </p:cNvPicPr>
          <p:nvPr/>
        </p:nvPicPr>
        <p:blipFill>
          <a:blip r:embed="rId2"/>
          <a:stretch>
            <a:fillRect/>
          </a:stretch>
        </p:blipFill>
        <p:spPr>
          <a:xfrm>
            <a:off x="6426662" y="1188720"/>
            <a:ext cx="4886036" cy="4206240"/>
          </a:xfrm>
          <a:prstGeom prst="rect">
            <a:avLst/>
          </a:prstGeom>
        </p:spPr>
      </p:pic>
      <p:sp>
        <p:nvSpPr>
          <p:cNvPr id="6" name="Text 1"/>
          <p:cNvSpPr txBox="1"/>
          <p:nvPr/>
        </p:nvSpPr>
        <p:spPr>
          <a:xfrm>
            <a:off x="640080" y="5349240"/>
            <a:ext cx="5303520" cy="685800"/>
          </a:xfrm>
          <a:prstGeom prst="rect">
            <a:avLst/>
          </a:prstGeom>
          <a:noFill/>
          <a:ln/>
        </p:spPr>
        <p:txBody>
          <a:bodyPr wrap="square" lIns="0" tIns="0" rIns="0" bIns="0" rtlCol="0" anchor="b"/>
          <a:lstStyle/>
          <a:p>
            <a:pPr indent="0" marL="0">
              <a:buNone/>
            </a:pPr>
            <a:r>
              <a:rPr lang="en-US" sz="2600" b="1" dirty="0">
                <a:solidFill>
                  <a:schemeClr val="accent4"/>
                </a:solidFill>
              </a:rPr>
              <a:t>OR 1.44 → 1.18 [0.93–1.49]</a:t>
            </a:r>
            <a:endParaRPr lang="en-US" sz="2600" dirty="0"/>
          </a:p>
        </p:txBody>
      </p:sp>
      <p:sp>
        <p:nvSpPr>
          <p:cNvPr id="7" name="Text 2"/>
          <p:cNvSpPr txBox="1"/>
          <p:nvPr/>
        </p:nvSpPr>
        <p:spPr>
          <a:xfrm>
            <a:off x="640080" y="6080760"/>
            <a:ext cx="5303520" cy="685800"/>
          </a:xfrm>
          <a:prstGeom prst="rect">
            <a:avLst/>
          </a:prstGeom>
          <a:noFill/>
          <a:ln/>
        </p:spPr>
        <p:txBody>
          <a:bodyPr wrap="square" lIns="0" tIns="0" rIns="0" bIns="0" rtlCol="0" anchor="t"/>
          <a:lstStyle/>
          <a:p>
            <a:pPr indent="0" marL="0">
              <a:buNone/>
            </a:pPr>
            <a:r>
              <a:rPr lang="en-US" sz="1400" dirty="0">
                <a:solidFill>
                  <a:schemeClr val="tx1"/>
                </a:solidFill>
              </a:rPr>
              <a:t>after adjusting for length, disorder, depth</a:t>
            </a:r>
            <a:endParaRPr lang="en-US" sz="1400" dirty="0"/>
          </a:p>
        </p:txBody>
      </p:sp>
      <p:sp>
        <p:nvSpPr>
          <p:cNvPr id="8" name="Text 3"/>
          <p:cNvSpPr txBox="1"/>
          <p:nvPr/>
        </p:nvSpPr>
        <p:spPr>
          <a:xfrm>
            <a:off x="6309360" y="5349240"/>
            <a:ext cx="5303520" cy="685800"/>
          </a:xfrm>
          <a:prstGeom prst="rect">
            <a:avLst/>
          </a:prstGeom>
          <a:noFill/>
          <a:ln/>
        </p:spPr>
        <p:txBody>
          <a:bodyPr wrap="square" lIns="0" tIns="0" rIns="0" bIns="0" rtlCol="0" anchor="b"/>
          <a:lstStyle/>
          <a:p>
            <a:pPr indent="0" marL="0">
              <a:buNone/>
            </a:pPr>
            <a:r>
              <a:rPr lang="en-US" sz="2600" b="1" dirty="0">
                <a:solidFill>
                  <a:schemeClr val="accent4"/>
                </a:solidFill>
              </a:rPr>
              <a:t>0.222 vs 0.110</a:t>
            </a:r>
            <a:endParaRPr lang="en-US" sz="2600" dirty="0"/>
          </a:p>
        </p:txBody>
      </p:sp>
      <p:sp>
        <p:nvSpPr>
          <p:cNvPr id="9" name="Text 4"/>
          <p:cNvSpPr txBox="1"/>
          <p:nvPr/>
        </p:nvSpPr>
        <p:spPr>
          <a:xfrm>
            <a:off x="6309360" y="6080760"/>
            <a:ext cx="5303520" cy="685800"/>
          </a:xfrm>
          <a:prstGeom prst="rect">
            <a:avLst/>
          </a:prstGeom>
          <a:noFill/>
          <a:ln/>
        </p:spPr>
        <p:txBody>
          <a:bodyPr wrap="square" lIns="0" tIns="0" rIns="0" bIns="0" rtlCol="0" anchor="t"/>
          <a:lstStyle/>
          <a:p>
            <a:pPr indent="0" marL="0">
              <a:buNone/>
            </a:pPr>
            <a:r>
              <a:rPr lang="en-US" sz="1400" dirty="0">
                <a:solidFill>
                  <a:schemeClr val="tx1"/>
                </a:solidFill>
              </a:rPr>
              <a:t>shuffled control vs real data (animals)</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Protein complexes add nothing detectable</a:t>
            </a:r>
            <a:endParaRPr lang="en-US" sz="3200" dirty="0"/>
          </a:p>
        </p:txBody>
      </p:sp>
      <p:graphicFrame>
        <p:nvGraphicFramePr>
          <p:cNvPr id="4" name="complex-chart" descr=""/>
          <p:cNvGraphicFramePr/>
          <p:nvPr/>
        </p:nvGraphicFramePr>
        <p:xfrm>
          <a:off x="548640" y="12801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5" name="icon-circle-FaUsers"/>
          <p:cNvSpPr/>
          <p:nvPr/>
        </p:nvSpPr>
        <p:spPr>
          <a:xfrm>
            <a:off x="7863840" y="1463040"/>
            <a:ext cx="822960" cy="822960"/>
          </a:xfrm>
          <a:prstGeom prst="ellipse">
            <a:avLst/>
          </a:prstGeom>
          <a:solidFill>
            <a:schemeClr val="accent1"/>
          </a:solidFill>
          <a:ln w="12700">
            <a:solidFill>
              <a:schemeClr val="accent1"/>
            </a:solidFill>
            <a:prstDash val="solid"/>
          </a:ln>
        </p:spPr>
      </p:sp>
      <p:pic>
        <p:nvPicPr>
          <p:cNvPr id="6" name="icon-FaUsers" descr="FaUsers">    </p:cNvPr>
          <p:cNvPicPr>
            <a:picLocks noChangeAspect="1"/>
          </p:cNvPicPr>
          <p:nvPr/>
        </p:nvPicPr>
        <p:blipFill>
          <a:blip r:embed="rId2"/>
          <a:stretch>
            <a:fillRect/>
          </a:stretch>
        </p:blipFill>
        <p:spPr>
          <a:xfrm>
            <a:off x="8061350" y="1660550"/>
            <a:ext cx="427939" cy="427939"/>
          </a:xfrm>
          <a:prstGeom prst="rect">
            <a:avLst/>
          </a:prstGeom>
        </p:spPr>
      </p:pic>
      <p:sp>
        <p:nvSpPr>
          <p:cNvPr id="7" name="Text 2"/>
          <p:cNvSpPr txBox="1"/>
          <p:nvPr/>
        </p:nvSpPr>
        <p:spPr>
          <a:xfrm>
            <a:off x="8869680" y="1417320"/>
            <a:ext cx="2834640" cy="914400"/>
          </a:xfrm>
          <a:prstGeom prst="rect">
            <a:avLst/>
          </a:prstGeom>
          <a:noFill/>
          <a:ln/>
        </p:spPr>
        <p:txBody>
          <a:bodyPr wrap="square" lIns="0" tIns="0" rIns="0" bIns="0" rtlCol="0" anchor="ctr"/>
          <a:lstStyle/>
          <a:p>
            <a:pPr indent="0" marL="0">
              <a:buNone/>
            </a:pPr>
            <a:r>
              <a:rPr lang="en-US" sz="1700" b="1" dirty="0">
                <a:solidFill>
                  <a:schemeClr val="tx1"/>
                </a:solidFill>
              </a:rPr>
              <a:t>No complex enriched across stems after correction</a:t>
            </a:r>
            <a:endParaRPr lang="en-US" sz="1700" dirty="0"/>
          </a:p>
        </p:txBody>
      </p:sp>
      <p:sp>
        <p:nvSpPr>
          <p:cNvPr id="8" name="Text 3"/>
          <p:cNvSpPr txBox="1"/>
          <p:nvPr/>
        </p:nvSpPr>
        <p:spPr>
          <a:xfrm>
            <a:off x="7863840" y="2697480"/>
            <a:ext cx="374904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Map holds only ancient (LECA) complexes</a:t>
            </a:r>
            <a:endParaRPr lang="en-US" sz="1500" dirty="0"/>
          </a:p>
          <a:p>
            <a:pPr marL="342900" indent="-342900">
              <a:spcAft>
                <a:spcPts val="800"/>
              </a:spcAft>
              <a:buSzPct val="100000"/>
              <a:buChar char="•"/>
            </a:pPr>
            <a:r>
              <a:rPr lang="en-US" sz="1500" dirty="0">
                <a:solidFill>
                  <a:schemeClr val="tx1"/>
                </a:solidFill>
              </a:rPr>
              <a:t>13 species mappable</a:t>
            </a:r>
            <a:endParaRPr lang="en-US" sz="1500" dirty="0"/>
          </a:p>
          <a:p>
            <a:pPr marL="342900" indent="-342900">
              <a:spcAft>
                <a:spcPts val="800"/>
              </a:spcAft>
              <a:buSzPct val="100000"/>
              <a:buChar char="•"/>
            </a:pPr>
            <a:r>
              <a:rPr lang="en-US" sz="1500" dirty="0">
                <a:solidFill>
                  <a:schemeClr val="tx1"/>
                </a:solidFill>
              </a:rPr>
              <a:t>Duplication counts are method-dependent</a:t>
            </a:r>
            <a:endParaRPr lang="en-US" sz="1500" dirty="0"/>
          </a:p>
        </p:txBody>
      </p:sp>
      <p:sp>
        <p:nvSpPr>
          <p:cNvPr id="9" name="Text 4"/>
          <p:cNvSpPr txBox="1"/>
          <p:nvPr/>
        </p:nvSpPr>
        <p:spPr>
          <a:xfrm>
            <a:off x="7863840" y="5120640"/>
            <a:ext cx="3749040" cy="640080"/>
          </a:xfrm>
          <a:prstGeom prst="rect">
            <a:avLst/>
          </a:prstGeom>
          <a:noFill/>
          <a:ln/>
        </p:spPr>
        <p:txBody>
          <a:bodyPr wrap="square" lIns="0" tIns="0" rIns="0" bIns="0" rtlCol="0" anchor="t"/>
          <a:lstStyle/>
          <a:p>
            <a:pPr indent="0" marL="0">
              <a:buNone/>
            </a:pPr>
            <a:r>
              <a:rPr lang="en-US" sz="1100" i="1" dirty="0">
                <a:solidFill>
                  <a:schemeClr val="tx2"/>
                </a:solidFill>
              </a:rPr>
              <a:t>Data: Cox et al. 2026, LECA interactome from co-fractionation mass spectrometry.</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Counting independent origins instead of averaging</a:t>
            </a:r>
            <a:endParaRPr lang="en-US" sz="3200" dirty="0"/>
          </a:p>
        </p:txBody>
      </p:sp>
      <p:pic>
        <p:nvPicPr>
          <p:cNvPr id="4" name="fig8_a.png" descr="Report Figure 8a: independent events with a significant result versus chance">    </p:cNvPr>
          <p:cNvPicPr>
            <a:picLocks noChangeAspect="1"/>
          </p:cNvPicPr>
          <p:nvPr/>
        </p:nvPicPr>
        <p:blipFill>
          <a:blip r:embed="rId1"/>
          <a:stretch>
            <a:fillRect/>
          </a:stretch>
        </p:blipFill>
        <p:spPr>
          <a:xfrm>
            <a:off x="739932" y="1188720"/>
            <a:ext cx="5195255" cy="4846320"/>
          </a:xfrm>
          <a:prstGeom prst="rect">
            <a:avLst/>
          </a:prstGeom>
        </p:spPr>
      </p:pic>
      <p:sp>
        <p:nvSpPr>
          <p:cNvPr id="5" name="Text 1"/>
          <p:cNvSpPr txBox="1"/>
          <p:nvPr/>
        </p:nvSpPr>
        <p:spPr>
          <a:xfrm>
            <a:off x="6492240" y="1234440"/>
            <a:ext cx="2468880" cy="502920"/>
          </a:xfrm>
          <a:prstGeom prst="rect">
            <a:avLst/>
          </a:prstGeom>
          <a:noFill/>
          <a:ln/>
        </p:spPr>
        <p:txBody>
          <a:bodyPr wrap="square" lIns="0" tIns="0" rIns="0" bIns="0" rtlCol="0" anchor="b"/>
          <a:lstStyle/>
          <a:p>
            <a:pPr indent="0" marL="0">
              <a:buNone/>
            </a:pPr>
            <a:r>
              <a:rPr lang="en-US" sz="2800" b="1" dirty="0">
                <a:solidFill>
                  <a:schemeClr val="accent1"/>
                </a:solidFill>
              </a:rPr>
              <a:t>0 / 7</a:t>
            </a:r>
            <a:endParaRPr lang="en-US" sz="2800" dirty="0"/>
          </a:p>
        </p:txBody>
      </p:sp>
      <p:sp>
        <p:nvSpPr>
          <p:cNvPr id="6" name="Text 2"/>
          <p:cNvSpPr txBox="1"/>
          <p:nvPr/>
        </p:nvSpPr>
        <p:spPr>
          <a:xfrm>
            <a:off x="6492240" y="1737360"/>
            <a:ext cx="2468880" cy="320040"/>
          </a:xfrm>
          <a:prstGeom prst="rect">
            <a:avLst/>
          </a:prstGeom>
          <a:noFill/>
          <a:ln/>
        </p:spPr>
        <p:txBody>
          <a:bodyPr wrap="square" lIns="0" tIns="0" rIns="0" bIns="0" rtlCol="0" anchor="t"/>
          <a:lstStyle/>
          <a:p>
            <a:pPr indent="0" marL="0">
              <a:buNone/>
            </a:pPr>
            <a:r>
              <a:rPr lang="en-US" sz="1400" dirty="0">
                <a:solidFill>
                  <a:schemeClr val="tx1"/>
                </a:solidFill>
              </a:rPr>
              <a:t>new gene families</a:t>
            </a:r>
            <a:endParaRPr lang="en-US" sz="1400" dirty="0"/>
          </a:p>
        </p:txBody>
      </p:sp>
      <p:sp>
        <p:nvSpPr>
          <p:cNvPr id="7" name="Text 3"/>
          <p:cNvSpPr txBox="1"/>
          <p:nvPr/>
        </p:nvSpPr>
        <p:spPr>
          <a:xfrm>
            <a:off x="9144000" y="1234440"/>
            <a:ext cx="2468880" cy="502920"/>
          </a:xfrm>
          <a:prstGeom prst="rect">
            <a:avLst/>
          </a:prstGeom>
          <a:noFill/>
          <a:ln/>
        </p:spPr>
        <p:txBody>
          <a:bodyPr wrap="square" lIns="0" tIns="0" rIns="0" bIns="0" rtlCol="0" anchor="b"/>
          <a:lstStyle/>
          <a:p>
            <a:pPr indent="0" marL="0">
              <a:buNone/>
            </a:pPr>
            <a:r>
              <a:rPr lang="en-US" sz="2800" b="1" dirty="0">
                <a:solidFill>
                  <a:schemeClr val="accent1"/>
                </a:solidFill>
              </a:rPr>
              <a:t>0 / 7</a:t>
            </a:r>
            <a:endParaRPr lang="en-US" sz="2800" dirty="0"/>
          </a:p>
        </p:txBody>
      </p:sp>
      <p:sp>
        <p:nvSpPr>
          <p:cNvPr id="8" name="Text 4"/>
          <p:cNvSpPr txBox="1"/>
          <p:nvPr/>
        </p:nvSpPr>
        <p:spPr>
          <a:xfrm>
            <a:off x="9144000" y="1737360"/>
            <a:ext cx="2468880" cy="320040"/>
          </a:xfrm>
          <a:prstGeom prst="rect">
            <a:avLst/>
          </a:prstGeom>
          <a:noFill/>
          <a:ln/>
        </p:spPr>
        <p:txBody>
          <a:bodyPr wrap="square" lIns="0" tIns="0" rIns="0" bIns="0" rtlCol="0" anchor="t"/>
          <a:lstStyle/>
          <a:p>
            <a:pPr indent="0" marL="0">
              <a:buNone/>
            </a:pPr>
            <a:r>
              <a:rPr lang="en-US" sz="1400" dirty="0">
                <a:solidFill>
                  <a:schemeClr val="tx1"/>
                </a:solidFill>
              </a:rPr>
              <a:t>TF duplications</a:t>
            </a:r>
            <a:endParaRPr lang="en-US" sz="1400" dirty="0"/>
          </a:p>
        </p:txBody>
      </p:sp>
      <p:sp>
        <p:nvSpPr>
          <p:cNvPr id="9" name="Text 5"/>
          <p:cNvSpPr txBox="1"/>
          <p:nvPr/>
        </p:nvSpPr>
        <p:spPr>
          <a:xfrm>
            <a:off x="6492240" y="2148840"/>
            <a:ext cx="2468880" cy="502920"/>
          </a:xfrm>
          <a:prstGeom prst="rect">
            <a:avLst/>
          </a:prstGeom>
          <a:noFill/>
          <a:ln/>
        </p:spPr>
        <p:txBody>
          <a:bodyPr wrap="square" lIns="0" tIns="0" rIns="0" bIns="0" rtlCol="0" anchor="b"/>
          <a:lstStyle/>
          <a:p>
            <a:pPr indent="0" marL="0">
              <a:buNone/>
            </a:pPr>
            <a:r>
              <a:rPr lang="en-US" sz="2800" b="1" dirty="0">
                <a:solidFill>
                  <a:schemeClr val="accent1"/>
                </a:solidFill>
              </a:rPr>
              <a:t>0 / 7</a:t>
            </a:r>
            <a:endParaRPr lang="en-US" sz="2800" dirty="0"/>
          </a:p>
        </p:txBody>
      </p:sp>
      <p:sp>
        <p:nvSpPr>
          <p:cNvPr id="10" name="Text 6"/>
          <p:cNvSpPr txBox="1"/>
          <p:nvPr/>
        </p:nvSpPr>
        <p:spPr>
          <a:xfrm>
            <a:off x="6492240" y="2651760"/>
            <a:ext cx="2468880" cy="320040"/>
          </a:xfrm>
          <a:prstGeom prst="rect">
            <a:avLst/>
          </a:prstGeom>
          <a:noFill/>
          <a:ln/>
        </p:spPr>
        <p:txBody>
          <a:bodyPr wrap="square" lIns="0" tIns="0" rIns="0" bIns="0" rtlCol="0" anchor="t"/>
          <a:lstStyle/>
          <a:p>
            <a:pPr indent="0" marL="0">
              <a:buNone/>
            </a:pPr>
            <a:r>
              <a:rPr lang="en-US" sz="1400" dirty="0">
                <a:solidFill>
                  <a:schemeClr val="tx1"/>
                </a:solidFill>
              </a:rPr>
              <a:t>adhesion, signalling</a:t>
            </a:r>
            <a:endParaRPr lang="en-US" sz="1400" dirty="0"/>
          </a:p>
        </p:txBody>
      </p:sp>
      <p:sp>
        <p:nvSpPr>
          <p:cNvPr id="11" name="Text 7"/>
          <p:cNvSpPr txBox="1"/>
          <p:nvPr/>
        </p:nvSpPr>
        <p:spPr>
          <a:xfrm>
            <a:off x="9144000" y="2148840"/>
            <a:ext cx="2468880" cy="502920"/>
          </a:xfrm>
          <a:prstGeom prst="rect">
            <a:avLst/>
          </a:prstGeom>
          <a:noFill/>
          <a:ln/>
        </p:spPr>
        <p:txBody>
          <a:bodyPr wrap="square" lIns="0" tIns="0" rIns="0" bIns="0" rtlCol="0" anchor="b"/>
          <a:lstStyle/>
          <a:p>
            <a:pPr indent="0" marL="0">
              <a:buNone/>
            </a:pPr>
            <a:r>
              <a:rPr lang="en-US" sz="2800" b="1" dirty="0">
                <a:solidFill>
                  <a:schemeClr val="accent1"/>
                </a:solidFill>
              </a:rPr>
              <a:t>0 / 6</a:t>
            </a:r>
            <a:endParaRPr lang="en-US" sz="2800" dirty="0"/>
          </a:p>
        </p:txBody>
      </p:sp>
      <p:sp>
        <p:nvSpPr>
          <p:cNvPr id="12" name="Text 8"/>
          <p:cNvSpPr txBox="1"/>
          <p:nvPr/>
        </p:nvSpPr>
        <p:spPr>
          <a:xfrm>
            <a:off x="9144000" y="2651760"/>
            <a:ext cx="2468880" cy="320040"/>
          </a:xfrm>
          <a:prstGeom prst="rect">
            <a:avLst/>
          </a:prstGeom>
          <a:noFill/>
          <a:ln/>
        </p:spPr>
        <p:txBody>
          <a:bodyPr wrap="square" lIns="0" tIns="0" rIns="0" bIns="0" rtlCol="0" anchor="t"/>
          <a:lstStyle/>
          <a:p>
            <a:pPr indent="0" marL="0">
              <a:buNone/>
            </a:pPr>
            <a:r>
              <a:rPr lang="en-US" sz="1400" dirty="0">
                <a:solidFill>
                  <a:schemeClr val="tx1"/>
                </a:solidFill>
              </a:rPr>
              <a:t>flagellar loss</a:t>
            </a:r>
            <a:endParaRPr lang="en-US" sz="1400" dirty="0"/>
          </a:p>
        </p:txBody>
      </p:sp>
      <p:sp>
        <p:nvSpPr>
          <p:cNvPr id="13" name="Text 9"/>
          <p:cNvSpPr txBox="1"/>
          <p:nvPr/>
        </p:nvSpPr>
        <p:spPr>
          <a:xfrm>
            <a:off x="6492240" y="3108960"/>
            <a:ext cx="5212080" cy="731520"/>
          </a:xfrm>
          <a:prstGeom prst="rect">
            <a:avLst/>
          </a:prstGeom>
          <a:noFill/>
          <a:ln/>
        </p:spPr>
        <p:txBody>
          <a:bodyPr wrap="square" lIns="0" tIns="0" rIns="0" bIns="0" rtlCol="0" anchor="t"/>
          <a:lstStyle/>
          <a:p>
            <a:pPr indent="0" marL="0">
              <a:buNone/>
            </a:pPr>
            <a:r>
              <a:rPr lang="en-US" sz="1800" b="1" dirty="0">
                <a:solidFill>
                  <a:schemeClr val="accent4"/>
                </a:solidFill>
              </a:rPr>
              <a:t>Each origin is null on its own</a:t>
            </a:r>
            <a:endParaRPr lang="en-US" sz="1800" dirty="0"/>
          </a:p>
          <a:p>
            <a:pPr indent="0" marL="0">
              <a:buNone/>
            </a:pPr>
            <a:r>
              <a:rPr lang="en-US" sz="1800" dirty="0">
                <a:solidFill>
                  <a:schemeClr val="accent4"/>
                </a:solidFill>
              </a:rPr>
              <a:t>Counting does not rescue the nulls</a:t>
            </a:r>
            <a:endParaRPr lang="en-US" sz="1800" dirty="0"/>
          </a:p>
        </p:txBody>
      </p:sp>
      <p:sp>
        <p:nvSpPr>
          <p:cNvPr id="14" name="Text 10"/>
          <p:cNvSpPr txBox="1"/>
          <p:nvPr/>
        </p:nvSpPr>
        <p:spPr>
          <a:xfrm>
            <a:off x="6492240" y="3931920"/>
            <a:ext cx="5212080" cy="1097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New domain architectures: 2/7, chance P = 0.04, Holm 0.65</a:t>
            </a:r>
            <a:endParaRPr lang="en-US" sz="1500" dirty="0"/>
          </a:p>
          <a:p>
            <a:pPr marL="342900" indent="-342900">
              <a:spcAft>
                <a:spcPts val="600"/>
              </a:spcAft>
              <a:buSzPct val="100000"/>
              <a:buChar char="•"/>
            </a:pPr>
            <a:r>
              <a:rPr lang="en-US" sz="1500" dirty="0">
                <a:solidFill>
                  <a:schemeClr val="tx1"/>
                </a:solidFill>
              </a:rPr>
              <a:t>Simple→complex steps (focused panels): 3/6 top-ranked, P = 0.04, Holm 0.17</a:t>
            </a:r>
            <a:endParaRPr lang="en-US" sz="1500" dirty="0"/>
          </a:p>
        </p:txBody>
      </p:sp>
      <p:sp>
        <p:nvSpPr>
          <p:cNvPr id="15" name="Text 11"/>
          <p:cNvSpPr txBox="1"/>
          <p:nvPr/>
        </p:nvSpPr>
        <p:spPr>
          <a:xfrm>
            <a:off x="6492240" y="5074920"/>
            <a:ext cx="5212080" cy="457200"/>
          </a:xfrm>
          <a:prstGeom prst="rect">
            <a:avLst/>
          </a:prstGeom>
          <a:noFill/>
          <a:ln/>
        </p:spPr>
        <p:txBody>
          <a:bodyPr wrap="square" lIns="0" tIns="0" rIns="0" bIns="0" rtlCol="0" anchor="t"/>
          <a:lstStyle/>
          <a:p>
            <a:pPr indent="0" marL="0">
              <a:buNone/>
            </a:pPr>
            <a:r>
              <a:rPr lang="en-US" sz="1100" i="1" dirty="0">
                <a:solidFill>
                  <a:schemeClr val="tx2"/>
                </a:solidFill>
              </a:rPr>
              <a:t>Cannot add per-event power; it avoids diluting signals. Each tier must be compared with chance.</a:t>
            </a:r>
            <a:endParaRPr lang="en-US" sz="1100" dirty="0"/>
          </a:p>
        </p:txBody>
      </p:sp>
      <p:sp>
        <p:nvSpPr>
          <p:cNvPr id="16" name="Text 12"/>
          <p:cNvSpPr txBox="1"/>
          <p:nvPr/>
        </p:nvSpPr>
        <p:spPr>
          <a:xfrm>
            <a:off x="6492240" y="5669280"/>
            <a:ext cx="5212080" cy="365760"/>
          </a:xfrm>
          <a:prstGeom prst="rect">
            <a:avLst/>
          </a:prstGeom>
          <a:noFill/>
          <a:ln/>
        </p:spPr>
        <p:txBody>
          <a:bodyPr wrap="square" lIns="0" tIns="0" rIns="0" bIns="0" rtlCol="0" anchor="t"/>
          <a:lstStyle/>
          <a:p>
            <a:pPr indent="0" marL="0">
              <a:buNone/>
            </a:pPr>
            <a:r>
              <a:rPr lang="en-US" sz="1200" b="1" dirty="0">
                <a:solidFill>
                  <a:schemeClr val="accent1"/>
                </a:solidFill>
              </a:rPr>
              <a:t>Added after publication at the project lead's request (exploratory)</a:t>
            </a:r>
            <a:endParaRPr lang="en-US" sz="12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Recurrent families: contractions yes, expansions no</a:t>
            </a:r>
            <a:endParaRPr lang="en-US" sz="3200" dirty="0"/>
          </a:p>
        </p:txBody>
      </p:sp>
      <p:pic>
        <p:nvPicPr>
          <p:cNvPr id="4" name="fig8_b.png" descr="Report Figure 8b: gene families expanded in k or more origins, observed versus chance">    </p:cNvPr>
          <p:cNvPicPr>
            <a:picLocks noChangeAspect="1"/>
          </p:cNvPicPr>
          <p:nvPr/>
        </p:nvPicPr>
        <p:blipFill>
          <a:blip r:embed="rId1"/>
          <a:stretch>
            <a:fillRect/>
          </a:stretch>
        </p:blipFill>
        <p:spPr>
          <a:xfrm>
            <a:off x="506073" y="1234440"/>
            <a:ext cx="6668814" cy="4297680"/>
          </a:xfrm>
          <a:prstGeom prst="rect">
            <a:avLst/>
          </a:prstGeom>
        </p:spPr>
      </p:pic>
      <p:sp>
        <p:nvSpPr>
          <p:cNvPr id="5" name="Text 1"/>
          <p:cNvSpPr txBox="1"/>
          <p:nvPr/>
        </p:nvSpPr>
        <p:spPr>
          <a:xfrm>
            <a:off x="7498080" y="1188720"/>
            <a:ext cx="2011680" cy="685800"/>
          </a:xfrm>
          <a:prstGeom prst="rect">
            <a:avLst/>
          </a:prstGeom>
          <a:noFill/>
          <a:ln/>
        </p:spPr>
        <p:txBody>
          <a:bodyPr wrap="square" lIns="0" tIns="0" rIns="0" bIns="0" rtlCol="0" anchor="b"/>
          <a:lstStyle/>
          <a:p>
            <a:pPr indent="0" marL="0">
              <a:buNone/>
            </a:pPr>
            <a:r>
              <a:rPr lang="en-US" sz="2800" b="1" dirty="0">
                <a:solidFill>
                  <a:schemeClr val="accent4"/>
                </a:solidFill>
              </a:rPr>
              <a:t>42 vs 54</a:t>
            </a:r>
            <a:endParaRPr lang="en-US" sz="2800" dirty="0"/>
          </a:p>
        </p:txBody>
      </p:sp>
      <p:sp>
        <p:nvSpPr>
          <p:cNvPr id="6" name="Text 2"/>
          <p:cNvSpPr txBox="1"/>
          <p:nvPr/>
        </p:nvSpPr>
        <p:spPr>
          <a:xfrm>
            <a:off x="7498080" y="1920240"/>
            <a:ext cx="2011680" cy="685800"/>
          </a:xfrm>
          <a:prstGeom prst="rect">
            <a:avLst/>
          </a:prstGeom>
          <a:noFill/>
          <a:ln/>
        </p:spPr>
        <p:txBody>
          <a:bodyPr wrap="square" lIns="0" tIns="0" rIns="0" bIns="0" rtlCol="0" anchor="t"/>
          <a:lstStyle/>
          <a:p>
            <a:pPr indent="0" marL="0">
              <a:buNone/>
            </a:pPr>
            <a:r>
              <a:rPr lang="en-US" sz="1400" dirty="0">
                <a:solidFill>
                  <a:schemeClr val="tx1"/>
                </a:solidFill>
              </a:rPr>
              <a:t>expansions in ≥2 origins, observed vs expected</a:t>
            </a:r>
            <a:endParaRPr lang="en-US" sz="1400" dirty="0"/>
          </a:p>
        </p:txBody>
      </p:sp>
      <p:sp>
        <p:nvSpPr>
          <p:cNvPr id="7" name="Text 3"/>
          <p:cNvSpPr txBox="1"/>
          <p:nvPr/>
        </p:nvSpPr>
        <p:spPr>
          <a:xfrm>
            <a:off x="9692640" y="1188720"/>
            <a:ext cx="2103120" cy="685800"/>
          </a:xfrm>
          <a:prstGeom prst="rect">
            <a:avLst/>
          </a:prstGeom>
          <a:noFill/>
          <a:ln/>
        </p:spPr>
        <p:txBody>
          <a:bodyPr wrap="square" lIns="0" tIns="0" rIns="0" bIns="0" rtlCol="0" anchor="b"/>
          <a:lstStyle/>
          <a:p>
            <a:pPr indent="0" marL="0">
              <a:buNone/>
            </a:pPr>
            <a:r>
              <a:rPr lang="en-US" sz="2800" b="1" dirty="0">
                <a:solidFill>
                  <a:schemeClr val="accent1"/>
                </a:solidFill>
              </a:rPr>
              <a:t>157 vs 90</a:t>
            </a:r>
            <a:endParaRPr lang="en-US" sz="2800" dirty="0"/>
          </a:p>
        </p:txBody>
      </p:sp>
      <p:sp>
        <p:nvSpPr>
          <p:cNvPr id="8" name="Text 4"/>
          <p:cNvSpPr txBox="1"/>
          <p:nvPr/>
        </p:nvSpPr>
        <p:spPr>
          <a:xfrm>
            <a:off x="9692640" y="1920240"/>
            <a:ext cx="2103120" cy="685800"/>
          </a:xfrm>
          <a:prstGeom prst="rect">
            <a:avLst/>
          </a:prstGeom>
          <a:noFill/>
          <a:ln/>
        </p:spPr>
        <p:txBody>
          <a:bodyPr wrap="square" lIns="0" tIns="0" rIns="0" bIns="0" rtlCol="0" anchor="t"/>
          <a:lstStyle/>
          <a:p>
            <a:pPr indent="0" marL="0">
              <a:buNone/>
            </a:pPr>
            <a:r>
              <a:rPr lang="en-US" sz="1400" dirty="0">
                <a:solidFill>
                  <a:schemeClr val="tx1"/>
                </a:solidFill>
              </a:rPr>
              <a:t>contractions; genome-sisters only 29 vs 18</a:t>
            </a:r>
            <a:endParaRPr lang="en-US" sz="1400" dirty="0"/>
          </a:p>
        </p:txBody>
      </p:sp>
      <p:sp>
        <p:nvSpPr>
          <p:cNvPr id="9" name="Text 5"/>
          <p:cNvSpPr txBox="1"/>
          <p:nvPr/>
        </p:nvSpPr>
        <p:spPr>
          <a:xfrm>
            <a:off x="7498080" y="3063240"/>
            <a:ext cx="420624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Contractions inflated by transcriptome-sister artefacts</a:t>
            </a:r>
            <a:endParaRPr lang="en-US" sz="1500" dirty="0"/>
          </a:p>
          <a:p>
            <a:pPr marL="342900" indent="-342900">
              <a:spcAft>
                <a:spcPts val="600"/>
              </a:spcAft>
              <a:buSzPct val="100000"/>
              <a:buChar char="•"/>
            </a:pPr>
            <a:r>
              <a:rPr lang="en-US" sz="1500" dirty="0">
                <a:solidFill>
                  <a:schemeClr val="tx1"/>
                </a:solidFill>
              </a:rPr>
              <a:t>2 families pass correction: PDEase_I, Vint (q = 0.07)</a:t>
            </a:r>
            <a:endParaRPr lang="en-US" sz="1500" dirty="0"/>
          </a:p>
          <a:p>
            <a:pPr marL="342900" indent="-342900">
              <a:spcAft>
                <a:spcPts val="600"/>
              </a:spcAft>
              <a:buSzPct val="100000"/>
              <a:buChar char="•"/>
            </a:pPr>
            <a:r>
              <a:rPr lang="en-US" sz="1500" dirty="0">
                <a:solidFill>
                  <a:schemeClr val="tx1"/>
                </a:solidFill>
              </a:rPr>
              <a:t>NB-ARC expanded in animals, red algae, land plants (nested step); primary origins only P = 0.09</a:t>
            </a:r>
            <a:endParaRPr lang="en-US" sz="1500" dirty="0"/>
          </a:p>
        </p:txBody>
      </p:sp>
      <p:sp>
        <p:nvSpPr>
          <p:cNvPr id="10" name="Text 6"/>
          <p:cNvSpPr txBox="1"/>
          <p:nvPr/>
        </p:nvSpPr>
        <p:spPr>
          <a:xfrm>
            <a:off x="548640" y="5760720"/>
            <a:ext cx="6766560" cy="365760"/>
          </a:xfrm>
          <a:prstGeom prst="rect">
            <a:avLst/>
          </a:prstGeom>
          <a:noFill/>
          <a:ln/>
        </p:spPr>
        <p:txBody>
          <a:bodyPr wrap="square" lIns="0" tIns="0" rIns="0" bIns="0" rtlCol="0" anchor="t"/>
          <a:lstStyle/>
          <a:p>
            <a:pPr indent="0" marL="0">
              <a:buNone/>
            </a:pPr>
            <a:r>
              <a:rPr lang="en-US" sz="1200" b="1" dirty="0">
                <a:solidFill>
                  <a:schemeClr val="accent1"/>
                </a:solidFill>
              </a:rPr>
              <a:t>Added after publication at the project lead's request (exploratory)</a:t>
            </a:r>
            <a:endParaRPr lang="en-US" sz="12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Take-home messages</a:t>
            </a:r>
            <a:endParaRPr lang="en-US" sz="3200" dirty="0"/>
          </a:p>
        </p:txBody>
      </p:sp>
      <p:sp>
        <p:nvSpPr>
          <p:cNvPr id="4" name="icon-circle-FaGlobeEurope"/>
          <p:cNvSpPr/>
          <p:nvPr/>
        </p:nvSpPr>
        <p:spPr>
          <a:xfrm>
            <a:off x="640080" y="1280160"/>
            <a:ext cx="777240" cy="777240"/>
          </a:xfrm>
          <a:prstGeom prst="ellipse">
            <a:avLst/>
          </a:prstGeom>
          <a:solidFill>
            <a:schemeClr val="accent1"/>
          </a:solidFill>
          <a:ln w="12700">
            <a:solidFill>
              <a:schemeClr val="accent1"/>
            </a:solidFill>
            <a:prstDash val="solid"/>
          </a:ln>
        </p:spPr>
      </p:sp>
      <p:pic>
        <p:nvPicPr>
          <p:cNvPr id="5" name="icon-FaGlobeEurope" descr="FaGlobeEurope">    </p:cNvPr>
          <p:cNvPicPr>
            <a:picLocks noChangeAspect="1"/>
          </p:cNvPicPr>
          <p:nvPr/>
        </p:nvPicPr>
        <p:blipFill>
          <a:blip r:embed="rId1"/>
          <a:stretch>
            <a:fillRect/>
          </a:stretch>
        </p:blipFill>
        <p:spPr>
          <a:xfrm>
            <a:off x="826618" y="1466698"/>
            <a:ext cx="404165" cy="404165"/>
          </a:xfrm>
          <a:prstGeom prst="rect">
            <a:avLst/>
          </a:prstGeom>
        </p:spPr>
      </p:pic>
      <p:sp>
        <p:nvSpPr>
          <p:cNvPr id="6" name="Text 2"/>
          <p:cNvSpPr txBox="1"/>
          <p:nvPr/>
        </p:nvSpPr>
        <p:spPr>
          <a:xfrm>
            <a:off x="1600200" y="1280160"/>
            <a:ext cx="457200" cy="777240"/>
          </a:xfrm>
          <a:prstGeom prst="rect">
            <a:avLst/>
          </a:prstGeom>
          <a:noFill/>
          <a:ln/>
        </p:spPr>
        <p:txBody>
          <a:bodyPr wrap="square" lIns="0" tIns="0" rIns="0" bIns="0" rtlCol="0" anchor="ctr"/>
          <a:lstStyle/>
          <a:p>
            <a:pPr indent="0" marL="0">
              <a:buNone/>
            </a:pPr>
            <a:r>
              <a:rPr lang="en-US" sz="2800" b="1" dirty="0">
                <a:solidFill>
                  <a:schemeClr val="accent1"/>
                </a:solidFill>
              </a:rPr>
              <a:t>1</a:t>
            </a:r>
            <a:endParaRPr lang="en-US" sz="2800" dirty="0"/>
          </a:p>
        </p:txBody>
      </p:sp>
      <p:sp>
        <p:nvSpPr>
          <p:cNvPr id="7" name="Text 3"/>
          <p:cNvSpPr txBox="1"/>
          <p:nvPr/>
        </p:nvSpPr>
        <p:spPr>
          <a:xfrm>
            <a:off x="2148840" y="1280160"/>
            <a:ext cx="9418320" cy="777240"/>
          </a:xfrm>
          <a:prstGeom prst="rect">
            <a:avLst/>
          </a:prstGeom>
          <a:noFill/>
          <a:ln/>
        </p:spPr>
        <p:txBody>
          <a:bodyPr wrap="square" lIns="0" tIns="0" rIns="0" bIns="0" rtlCol="0" anchor="ctr"/>
          <a:lstStyle/>
          <a:p>
            <a:pPr indent="0" marL="0">
              <a:buNone/>
            </a:pPr>
            <a:r>
              <a:rPr lang="en-US" sz="2000" b="1" dirty="0">
                <a:solidFill>
                  <a:schemeClr val="tx1"/>
                </a:solidFill>
              </a:rPr>
              <a:t>No shared signature  </a:t>
            </a:r>
            <a:pPr indent="0" marL="0">
              <a:buNone/>
            </a:pPr>
            <a:r>
              <a:rPr lang="en-US" sz="1600" dirty="0">
                <a:solidFill>
                  <a:schemeClr val="tx1"/>
                </a:solidFill>
              </a:rPr>
              <a:t>across origins; no ≥1.5-fold rate shift</a:t>
            </a:r>
            <a:endParaRPr lang="en-US" sz="1500" dirty="0"/>
          </a:p>
        </p:txBody>
      </p:sp>
      <p:sp>
        <p:nvSpPr>
          <p:cNvPr id="8" name="icon-circle-FaShieldAlt"/>
          <p:cNvSpPr/>
          <p:nvPr/>
        </p:nvSpPr>
        <p:spPr>
          <a:xfrm>
            <a:off x="640080" y="2267712"/>
            <a:ext cx="777240" cy="777240"/>
          </a:xfrm>
          <a:prstGeom prst="ellipse">
            <a:avLst/>
          </a:prstGeom>
          <a:solidFill>
            <a:schemeClr val="accent2"/>
          </a:solidFill>
          <a:ln w="12700">
            <a:solidFill>
              <a:schemeClr val="accent2"/>
            </a:solidFill>
            <a:prstDash val="solid"/>
          </a:ln>
        </p:spPr>
      </p:sp>
      <p:pic>
        <p:nvPicPr>
          <p:cNvPr id="9" name="icon-FaShieldAlt" descr="FaShieldAlt">    </p:cNvPr>
          <p:cNvPicPr>
            <a:picLocks noChangeAspect="1"/>
          </p:cNvPicPr>
          <p:nvPr/>
        </p:nvPicPr>
        <p:blipFill>
          <a:blip r:embed="rId2"/>
          <a:stretch>
            <a:fillRect/>
          </a:stretch>
        </p:blipFill>
        <p:spPr>
          <a:xfrm>
            <a:off x="826618" y="2454250"/>
            <a:ext cx="404165" cy="404165"/>
          </a:xfrm>
          <a:prstGeom prst="rect">
            <a:avLst/>
          </a:prstGeom>
        </p:spPr>
      </p:pic>
      <p:sp>
        <p:nvSpPr>
          <p:cNvPr id="10" name="Text 5"/>
          <p:cNvSpPr txBox="1"/>
          <p:nvPr/>
        </p:nvSpPr>
        <p:spPr>
          <a:xfrm>
            <a:off x="1600200" y="2267712"/>
            <a:ext cx="457200" cy="777240"/>
          </a:xfrm>
          <a:prstGeom prst="rect">
            <a:avLst/>
          </a:prstGeom>
          <a:noFill/>
          <a:ln/>
        </p:spPr>
        <p:txBody>
          <a:bodyPr wrap="square" lIns="0" tIns="0" rIns="0" bIns="0" rtlCol="0" anchor="ctr"/>
          <a:lstStyle/>
          <a:p>
            <a:pPr indent="0" marL="0">
              <a:buNone/>
            </a:pPr>
            <a:r>
              <a:rPr lang="en-US" sz="2800" b="1" dirty="0">
                <a:solidFill>
                  <a:schemeClr val="accent2"/>
                </a:solidFill>
              </a:rPr>
              <a:t>2</a:t>
            </a:r>
            <a:endParaRPr lang="en-US" sz="2800" dirty="0"/>
          </a:p>
        </p:txBody>
      </p:sp>
      <p:sp>
        <p:nvSpPr>
          <p:cNvPr id="11" name="Text 6"/>
          <p:cNvSpPr txBox="1"/>
          <p:nvPr/>
        </p:nvSpPr>
        <p:spPr>
          <a:xfrm>
            <a:off x="2148840" y="2267712"/>
            <a:ext cx="9418320" cy="777240"/>
          </a:xfrm>
          <a:prstGeom prst="rect">
            <a:avLst/>
          </a:prstGeom>
          <a:noFill/>
          <a:ln/>
        </p:spPr>
        <p:txBody>
          <a:bodyPr wrap="square" lIns="0" tIns="0" rIns="0" bIns="0" rtlCol="0" anchor="ctr"/>
          <a:lstStyle/>
          <a:p>
            <a:pPr indent="0" marL="0">
              <a:buNone/>
            </a:pPr>
            <a:r>
              <a:rPr lang="en-US" sz="2000" b="1" dirty="0">
                <a:solidFill>
                  <a:schemeClr val="tx1"/>
                </a:solidFill>
              </a:rPr>
              <a:t>Cell death, ~1.2×  </a:t>
            </a:r>
            <a:pPr indent="0" marL="0">
              <a:buNone/>
            </a:pPr>
            <a:r>
              <a:rPr lang="en-US" sz="1600" dirty="0">
                <a:solidFill>
                  <a:schemeClr val="tx1"/>
                </a:solidFill>
              </a:rPr>
              <a:t>lineage-specific immune / self–non-self receptors</a:t>
            </a:r>
            <a:endParaRPr lang="en-US" sz="1500" dirty="0"/>
          </a:p>
        </p:txBody>
      </p:sp>
      <p:sp>
        <p:nvSpPr>
          <p:cNvPr id="12" name="icon-circle-FaExchangeAlt"/>
          <p:cNvSpPr/>
          <p:nvPr/>
        </p:nvSpPr>
        <p:spPr>
          <a:xfrm>
            <a:off x="640080" y="3255264"/>
            <a:ext cx="777240" cy="777240"/>
          </a:xfrm>
          <a:prstGeom prst="ellipse">
            <a:avLst/>
          </a:prstGeom>
          <a:solidFill>
            <a:schemeClr val="accent4"/>
          </a:solidFill>
          <a:ln w="12700">
            <a:solidFill>
              <a:schemeClr val="accent4"/>
            </a:solidFill>
            <a:prstDash val="solid"/>
          </a:ln>
        </p:spPr>
      </p:sp>
      <p:pic>
        <p:nvPicPr>
          <p:cNvPr id="13" name="icon-FaExchangeAlt" descr="FaExchangeAlt">    </p:cNvPr>
          <p:cNvPicPr>
            <a:picLocks noChangeAspect="1"/>
          </p:cNvPicPr>
          <p:nvPr/>
        </p:nvPicPr>
        <p:blipFill>
          <a:blip r:embed="rId3"/>
          <a:stretch>
            <a:fillRect/>
          </a:stretch>
        </p:blipFill>
        <p:spPr>
          <a:xfrm>
            <a:off x="826618" y="3441802"/>
            <a:ext cx="404165" cy="404165"/>
          </a:xfrm>
          <a:prstGeom prst="rect">
            <a:avLst/>
          </a:prstGeom>
        </p:spPr>
      </p:pic>
      <p:sp>
        <p:nvSpPr>
          <p:cNvPr id="14" name="Text 8"/>
          <p:cNvSpPr txBox="1"/>
          <p:nvPr/>
        </p:nvSpPr>
        <p:spPr>
          <a:xfrm>
            <a:off x="1600200" y="3255264"/>
            <a:ext cx="457200" cy="777240"/>
          </a:xfrm>
          <a:prstGeom prst="rect">
            <a:avLst/>
          </a:prstGeom>
          <a:noFill/>
          <a:ln/>
        </p:spPr>
        <p:txBody>
          <a:bodyPr wrap="square" lIns="0" tIns="0" rIns="0" bIns="0" rtlCol="0" anchor="ctr"/>
          <a:lstStyle/>
          <a:p>
            <a:pPr indent="0" marL="0">
              <a:buNone/>
            </a:pPr>
            <a:r>
              <a:rPr lang="en-US" sz="2800" b="1" dirty="0">
                <a:solidFill>
                  <a:schemeClr val="accent4"/>
                </a:solidFill>
              </a:rPr>
              <a:t>3</a:t>
            </a:r>
            <a:endParaRPr lang="en-US" sz="2800" dirty="0"/>
          </a:p>
        </p:txBody>
      </p:sp>
      <p:sp>
        <p:nvSpPr>
          <p:cNvPr id="15" name="Text 9"/>
          <p:cNvSpPr txBox="1"/>
          <p:nvPr/>
        </p:nvSpPr>
        <p:spPr>
          <a:xfrm>
            <a:off x="2148840" y="3255264"/>
            <a:ext cx="9418320" cy="777240"/>
          </a:xfrm>
          <a:prstGeom prst="rect">
            <a:avLst/>
          </a:prstGeom>
          <a:noFill/>
          <a:ln/>
        </p:spPr>
        <p:txBody>
          <a:bodyPr wrap="square" lIns="0" tIns="0" rIns="0" bIns="0" rtlCol="0" anchor="ctr"/>
          <a:lstStyle/>
          <a:p>
            <a:pPr indent="0" marL="0">
              <a:buNone/>
            </a:pPr>
            <a:r>
              <a:rPr lang="en-US" sz="2000" b="1" dirty="0">
                <a:solidFill>
                  <a:schemeClr val="tx1"/>
                </a:solidFill>
              </a:rPr>
              <a:t>Method matters  </a:t>
            </a:r>
            <a:pPr indent="0" marL="0">
              <a:buNone/>
            </a:pPr>
            <a:r>
              <a:rPr lang="en-US" sz="1600" dirty="0">
                <a:solidFill>
                  <a:schemeClr val="tx1"/>
                </a:solidFill>
              </a:rPr>
              <a:t>two orthology methods agree on 29% of stem gains</a:t>
            </a:r>
            <a:endParaRPr lang="en-US" sz="1500" dirty="0"/>
          </a:p>
        </p:txBody>
      </p:sp>
      <p:sp>
        <p:nvSpPr>
          <p:cNvPr id="16" name="icon-circle-FaBalanceScale"/>
          <p:cNvSpPr/>
          <p:nvPr/>
        </p:nvSpPr>
        <p:spPr>
          <a:xfrm>
            <a:off x="640080" y="4242816"/>
            <a:ext cx="777240" cy="777240"/>
          </a:xfrm>
          <a:prstGeom prst="ellipse">
            <a:avLst/>
          </a:prstGeom>
          <a:solidFill>
            <a:schemeClr val="accent5"/>
          </a:solidFill>
          <a:ln w="12700">
            <a:solidFill>
              <a:schemeClr val="accent5"/>
            </a:solidFill>
            <a:prstDash val="solid"/>
          </a:ln>
        </p:spPr>
      </p:sp>
      <p:pic>
        <p:nvPicPr>
          <p:cNvPr id="17" name="icon-FaBalanceScale" descr="FaBalanceScale">    </p:cNvPr>
          <p:cNvPicPr>
            <a:picLocks noChangeAspect="1"/>
          </p:cNvPicPr>
          <p:nvPr/>
        </p:nvPicPr>
        <p:blipFill>
          <a:blip r:embed="rId4"/>
          <a:stretch>
            <a:fillRect/>
          </a:stretch>
        </p:blipFill>
        <p:spPr>
          <a:xfrm>
            <a:off x="826618" y="4429354"/>
            <a:ext cx="404165" cy="404165"/>
          </a:xfrm>
          <a:prstGeom prst="rect">
            <a:avLst/>
          </a:prstGeom>
        </p:spPr>
      </p:pic>
      <p:sp>
        <p:nvSpPr>
          <p:cNvPr id="18" name="Text 11"/>
          <p:cNvSpPr txBox="1"/>
          <p:nvPr/>
        </p:nvSpPr>
        <p:spPr>
          <a:xfrm>
            <a:off x="1600200" y="4242816"/>
            <a:ext cx="457200" cy="777240"/>
          </a:xfrm>
          <a:prstGeom prst="rect">
            <a:avLst/>
          </a:prstGeom>
          <a:noFill/>
          <a:ln/>
        </p:spPr>
        <p:txBody>
          <a:bodyPr wrap="square" lIns="0" tIns="0" rIns="0" bIns="0" rtlCol="0" anchor="ctr"/>
          <a:lstStyle/>
          <a:p>
            <a:pPr indent="0" marL="0">
              <a:buNone/>
            </a:pPr>
            <a:r>
              <a:rPr lang="en-US" sz="2800" b="1" dirty="0">
                <a:solidFill>
                  <a:schemeClr val="accent5"/>
                </a:solidFill>
              </a:rPr>
              <a:t>4</a:t>
            </a:r>
            <a:endParaRPr lang="en-US" sz="2800" dirty="0"/>
          </a:p>
        </p:txBody>
      </p:sp>
      <p:sp>
        <p:nvSpPr>
          <p:cNvPr id="19" name="Text 12"/>
          <p:cNvSpPr txBox="1"/>
          <p:nvPr/>
        </p:nvSpPr>
        <p:spPr>
          <a:xfrm>
            <a:off x="2148840" y="4242816"/>
            <a:ext cx="9418320" cy="777240"/>
          </a:xfrm>
          <a:prstGeom prst="rect">
            <a:avLst/>
          </a:prstGeom>
          <a:noFill/>
          <a:ln/>
        </p:spPr>
        <p:txBody>
          <a:bodyPr wrap="square" lIns="0" tIns="0" rIns="0" bIns="0" rtlCol="0" anchor="ctr"/>
          <a:lstStyle/>
          <a:p>
            <a:pPr indent="0" marL="0">
              <a:buNone/>
            </a:pPr>
            <a:r>
              <a:rPr lang="en-US" sz="2000" b="1" dirty="0">
                <a:solidFill>
                  <a:schemeClr val="tx1"/>
                </a:solidFill>
              </a:rPr>
              <a:t>Compare like with like  </a:t>
            </a:r>
            <a:pPr indent="0" marL="0">
              <a:buNone/>
            </a:pPr>
            <a:r>
              <a:rPr lang="en-US" sz="1600" dirty="0">
                <a:solidFill>
                  <a:schemeClr val="tx1"/>
                </a:solidFill>
              </a:rPr>
              <a:t>single-species branches always look 'novel'</a:t>
            </a:r>
            <a:endParaRPr lang="en-US" sz="1500" dirty="0"/>
          </a:p>
        </p:txBody>
      </p:sp>
      <p:sp>
        <p:nvSpPr>
          <p:cNvPr id="20" name="icon-circle-FaCubes"/>
          <p:cNvSpPr/>
          <p:nvPr/>
        </p:nvSpPr>
        <p:spPr>
          <a:xfrm>
            <a:off x="640080" y="5230368"/>
            <a:ext cx="777240" cy="777240"/>
          </a:xfrm>
          <a:prstGeom prst="ellipse">
            <a:avLst/>
          </a:prstGeom>
          <a:solidFill>
            <a:schemeClr val="accent3"/>
          </a:solidFill>
          <a:ln w="12700">
            <a:solidFill>
              <a:schemeClr val="accent3"/>
            </a:solidFill>
            <a:prstDash val="solid"/>
          </a:ln>
        </p:spPr>
      </p:sp>
      <p:pic>
        <p:nvPicPr>
          <p:cNvPr id="21" name="icon-FaCubes" descr="FaCubes">    </p:cNvPr>
          <p:cNvPicPr>
            <a:picLocks noChangeAspect="1"/>
          </p:cNvPicPr>
          <p:nvPr/>
        </p:nvPicPr>
        <p:blipFill>
          <a:blip r:embed="rId5"/>
          <a:stretch>
            <a:fillRect/>
          </a:stretch>
        </p:blipFill>
        <p:spPr>
          <a:xfrm>
            <a:off x="826618" y="5416906"/>
            <a:ext cx="404165" cy="404165"/>
          </a:xfrm>
          <a:prstGeom prst="rect">
            <a:avLst/>
          </a:prstGeom>
        </p:spPr>
      </p:pic>
      <p:sp>
        <p:nvSpPr>
          <p:cNvPr id="22" name="Text 14"/>
          <p:cNvSpPr txBox="1"/>
          <p:nvPr/>
        </p:nvSpPr>
        <p:spPr>
          <a:xfrm>
            <a:off x="1600200" y="5230368"/>
            <a:ext cx="457200" cy="777240"/>
          </a:xfrm>
          <a:prstGeom prst="rect">
            <a:avLst/>
          </a:prstGeom>
          <a:noFill/>
          <a:ln/>
        </p:spPr>
        <p:txBody>
          <a:bodyPr wrap="square" lIns="0" tIns="0" rIns="0" bIns="0" rtlCol="0" anchor="ctr"/>
          <a:lstStyle/>
          <a:p>
            <a:pPr indent="0" marL="0">
              <a:buNone/>
            </a:pPr>
            <a:r>
              <a:rPr lang="en-US" sz="2800" b="1" dirty="0">
                <a:solidFill>
                  <a:schemeClr val="accent3"/>
                </a:solidFill>
              </a:rPr>
              <a:t>5</a:t>
            </a:r>
            <a:endParaRPr lang="en-US" sz="2800" dirty="0"/>
          </a:p>
        </p:txBody>
      </p:sp>
      <p:sp>
        <p:nvSpPr>
          <p:cNvPr id="23" name="Text 15"/>
          <p:cNvSpPr txBox="1"/>
          <p:nvPr/>
        </p:nvSpPr>
        <p:spPr>
          <a:xfrm>
            <a:off x="2148840" y="5230368"/>
            <a:ext cx="9418320" cy="777240"/>
          </a:xfrm>
          <a:prstGeom prst="rect">
            <a:avLst/>
          </a:prstGeom>
          <a:noFill/>
          <a:ln/>
        </p:spPr>
        <p:txBody>
          <a:bodyPr wrap="square" lIns="0" tIns="0" rIns="0" bIns="0" rtlCol="0" anchor="ctr"/>
          <a:lstStyle/>
          <a:p>
            <a:pPr indent="0" marL="0">
              <a:buNone/>
            </a:pPr>
            <a:r>
              <a:rPr lang="en-US" sz="2000" b="1" dirty="0">
                <a:solidFill>
                  <a:schemeClr val="tx1"/>
                </a:solidFill>
              </a:rPr>
              <a:t>Structure: search, not signal  </a:t>
            </a:r>
            <a:pPr indent="0" marL="0">
              <a:buNone/>
            </a:pPr>
            <a:r>
              <a:rPr lang="en-US" sz="1600" dirty="0">
                <a:solidFill>
                  <a:schemeClr val="tx1"/>
                </a:solidFill>
              </a:rPr>
              <a:t>did not help Ancestra; signals failed controls</a:t>
            </a:r>
            <a:endParaRPr lang="en-US" sz="15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G</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Every hypothesis, one by one</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16 from the literature review, plus the round-2 tests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Scorecard of all hypotheses</a:t>
            </a:r>
            <a:endParaRPr lang="en-US" sz="3200" dirty="0"/>
          </a:p>
        </p:txBody>
      </p:sp>
      <p:sp>
        <p:nvSpPr>
          <p:cNvPr id="4" name="score-chip"/>
          <p:cNvSpPr/>
          <p:nvPr/>
        </p:nvSpPr>
        <p:spPr>
          <a:xfrm>
            <a:off x="548640" y="1234440"/>
            <a:ext cx="3566160" cy="621792"/>
          </a:xfrm>
          <a:prstGeom prst="roundRect">
            <a:avLst>
              <a:gd name="adj" fmla="val 17647"/>
            </a:avLst>
          </a:prstGeom>
          <a:solidFill>
            <a:schemeClr val="accent5"/>
          </a:solidFill>
          <a:ln w="12700">
            <a:solidFill>
              <a:schemeClr val="accent5"/>
            </a:solidFill>
            <a:prstDash val="solid"/>
          </a:ln>
        </p:spPr>
      </p:sp>
      <p:sp>
        <p:nvSpPr>
          <p:cNvPr id="5" name="Text 2"/>
          <p:cNvSpPr txBox="1"/>
          <p:nvPr/>
        </p:nvSpPr>
        <p:spPr>
          <a:xfrm>
            <a:off x="685800" y="123444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H1–H2  </a:t>
            </a:r>
            <a:pPr indent="0" marL="0">
              <a:buNone/>
            </a:pPr>
            <a:r>
              <a:rPr lang="en-US" sz="1500" dirty="0">
                <a:solidFill>
                  <a:schemeClr val="tx1"/>
                </a:solidFill>
              </a:rPr>
              <a:t>co-option vs burst</a:t>
            </a:r>
            <a:endParaRPr lang="en-US" sz="1500" dirty="0"/>
          </a:p>
        </p:txBody>
      </p:sp>
      <p:sp>
        <p:nvSpPr>
          <p:cNvPr id="6" name="score-chip"/>
          <p:cNvSpPr/>
          <p:nvPr/>
        </p:nvSpPr>
        <p:spPr>
          <a:xfrm>
            <a:off x="4297680" y="1234440"/>
            <a:ext cx="3566160" cy="621792"/>
          </a:xfrm>
          <a:prstGeom prst="roundRect">
            <a:avLst>
              <a:gd name="adj" fmla="val 17647"/>
            </a:avLst>
          </a:prstGeom>
          <a:solidFill>
            <a:schemeClr val="accent6"/>
          </a:solidFill>
          <a:ln w="12700">
            <a:solidFill>
              <a:schemeClr val="accent6"/>
            </a:solidFill>
            <a:prstDash val="solid"/>
          </a:ln>
        </p:spPr>
      </p:sp>
      <p:sp>
        <p:nvSpPr>
          <p:cNvPr id="7" name="Text 4"/>
          <p:cNvSpPr txBox="1"/>
          <p:nvPr/>
        </p:nvSpPr>
        <p:spPr>
          <a:xfrm>
            <a:off x="4434840" y="123444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H3  </a:t>
            </a:r>
            <a:pPr indent="0" marL="0">
              <a:buNone/>
            </a:pPr>
            <a:r>
              <a:rPr lang="en-US" sz="1500" dirty="0">
                <a:solidFill>
                  <a:schemeClr val="tx1"/>
                </a:solidFill>
              </a:rPr>
              <a:t>pre-adaptation</a:t>
            </a:r>
            <a:endParaRPr lang="en-US" sz="1500" dirty="0"/>
          </a:p>
        </p:txBody>
      </p:sp>
      <p:sp>
        <p:nvSpPr>
          <p:cNvPr id="8" name="score-chip"/>
          <p:cNvSpPr/>
          <p:nvPr/>
        </p:nvSpPr>
        <p:spPr>
          <a:xfrm>
            <a:off x="8046720" y="1234440"/>
            <a:ext cx="3566160" cy="621792"/>
          </a:xfrm>
          <a:prstGeom prst="roundRect">
            <a:avLst>
              <a:gd name="adj" fmla="val 17647"/>
            </a:avLst>
          </a:prstGeom>
          <a:solidFill>
            <a:schemeClr val="accent5"/>
          </a:solidFill>
          <a:ln w="12700">
            <a:solidFill>
              <a:schemeClr val="accent5"/>
            </a:solidFill>
            <a:prstDash val="solid"/>
          </a:ln>
        </p:spPr>
      </p:sp>
      <p:sp>
        <p:nvSpPr>
          <p:cNvPr id="9" name="Text 6"/>
          <p:cNvSpPr txBox="1"/>
          <p:nvPr/>
        </p:nvSpPr>
        <p:spPr>
          <a:xfrm>
            <a:off x="8183880" y="123444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H4  </a:t>
            </a:r>
            <a:pPr indent="0" marL="0">
              <a:buNone/>
            </a:pPr>
            <a:r>
              <a:rPr lang="en-US" sz="1500" dirty="0">
                <a:solidFill>
                  <a:schemeClr val="tx1"/>
                </a:solidFill>
              </a:rPr>
              <a:t>TF expansion</a:t>
            </a:r>
            <a:endParaRPr lang="en-US" sz="1500" dirty="0"/>
          </a:p>
        </p:txBody>
      </p:sp>
      <p:sp>
        <p:nvSpPr>
          <p:cNvPr id="10" name="score-chip"/>
          <p:cNvSpPr/>
          <p:nvPr/>
        </p:nvSpPr>
        <p:spPr>
          <a:xfrm>
            <a:off x="548640" y="1965960"/>
            <a:ext cx="3566160" cy="621792"/>
          </a:xfrm>
          <a:prstGeom prst="roundRect">
            <a:avLst>
              <a:gd name="adj" fmla="val 17647"/>
            </a:avLst>
          </a:prstGeom>
          <a:solidFill>
            <a:schemeClr val="accent5"/>
          </a:solidFill>
          <a:ln w="12700">
            <a:solidFill>
              <a:schemeClr val="accent5"/>
            </a:solidFill>
            <a:prstDash val="solid"/>
          </a:ln>
        </p:spPr>
      </p:sp>
      <p:sp>
        <p:nvSpPr>
          <p:cNvPr id="11" name="Text 8"/>
          <p:cNvSpPr txBox="1"/>
          <p:nvPr/>
        </p:nvSpPr>
        <p:spPr>
          <a:xfrm>
            <a:off x="685800" y="196596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H5  </a:t>
            </a:r>
            <a:pPr indent="0" marL="0">
              <a:buNone/>
            </a:pPr>
            <a:r>
              <a:rPr lang="en-US" sz="1500" dirty="0">
                <a:solidFill>
                  <a:schemeClr val="tx1"/>
                </a:solidFill>
              </a:rPr>
              <a:t>adhesion, signalling</a:t>
            </a:r>
            <a:endParaRPr lang="en-US" sz="1500" dirty="0"/>
          </a:p>
        </p:txBody>
      </p:sp>
      <p:sp>
        <p:nvSpPr>
          <p:cNvPr id="12" name="score-chip"/>
          <p:cNvSpPr/>
          <p:nvPr/>
        </p:nvSpPr>
        <p:spPr>
          <a:xfrm>
            <a:off x="4297680" y="1965960"/>
            <a:ext cx="3566160" cy="621792"/>
          </a:xfrm>
          <a:prstGeom prst="roundRect">
            <a:avLst>
              <a:gd name="adj" fmla="val 17647"/>
            </a:avLst>
          </a:prstGeom>
          <a:solidFill>
            <a:schemeClr val="accent6"/>
          </a:solidFill>
          <a:ln w="12700">
            <a:solidFill>
              <a:schemeClr val="accent6"/>
            </a:solidFill>
            <a:prstDash val="solid"/>
          </a:ln>
        </p:spPr>
      </p:sp>
      <p:sp>
        <p:nvSpPr>
          <p:cNvPr id="13" name="Text 10"/>
          <p:cNvSpPr txBox="1"/>
          <p:nvPr/>
        </p:nvSpPr>
        <p:spPr>
          <a:xfrm>
            <a:off x="4434840" y="196596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H6  </a:t>
            </a:r>
            <a:pPr indent="0" marL="0">
              <a:buNone/>
            </a:pPr>
            <a:r>
              <a:rPr lang="en-US" sz="1500" dirty="0">
                <a:solidFill>
                  <a:schemeClr val="tx1"/>
                </a:solidFill>
              </a:rPr>
              <a:t>receptor kinases</a:t>
            </a:r>
            <a:endParaRPr lang="en-US" sz="1500" dirty="0"/>
          </a:p>
        </p:txBody>
      </p:sp>
      <p:sp>
        <p:nvSpPr>
          <p:cNvPr id="14" name="score-chip"/>
          <p:cNvSpPr/>
          <p:nvPr/>
        </p:nvSpPr>
        <p:spPr>
          <a:xfrm>
            <a:off x="8046720" y="1965960"/>
            <a:ext cx="3566160" cy="621792"/>
          </a:xfrm>
          <a:prstGeom prst="roundRect">
            <a:avLst>
              <a:gd name="adj" fmla="val 17647"/>
            </a:avLst>
          </a:prstGeom>
          <a:solidFill>
            <a:schemeClr val="accent6"/>
          </a:solidFill>
          <a:ln w="12700">
            <a:solidFill>
              <a:schemeClr val="accent6"/>
            </a:solidFill>
            <a:prstDash val="solid"/>
          </a:ln>
        </p:spPr>
      </p:sp>
      <p:sp>
        <p:nvSpPr>
          <p:cNvPr id="15" name="Text 12"/>
          <p:cNvSpPr txBox="1"/>
          <p:nvPr/>
        </p:nvSpPr>
        <p:spPr>
          <a:xfrm>
            <a:off x="8183880" y="196596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H7–H8  </a:t>
            </a:r>
            <a:pPr indent="0" marL="0">
              <a:buNone/>
            </a:pPr>
            <a:r>
              <a:rPr lang="en-US" sz="1500" dirty="0">
                <a:solidFill>
                  <a:schemeClr val="tx1"/>
                </a:solidFill>
              </a:rPr>
              <a:t>aggregative vs clonal</a:t>
            </a:r>
            <a:endParaRPr lang="en-US" sz="1500" dirty="0"/>
          </a:p>
        </p:txBody>
      </p:sp>
      <p:sp>
        <p:nvSpPr>
          <p:cNvPr id="16" name="score-chip"/>
          <p:cNvSpPr/>
          <p:nvPr/>
        </p:nvSpPr>
        <p:spPr>
          <a:xfrm>
            <a:off x="548640" y="2697480"/>
            <a:ext cx="3566160" cy="621792"/>
          </a:xfrm>
          <a:prstGeom prst="roundRect">
            <a:avLst>
              <a:gd name="adj" fmla="val 17647"/>
            </a:avLst>
          </a:prstGeom>
          <a:solidFill>
            <a:schemeClr val="accent4"/>
          </a:solidFill>
          <a:ln w="12700">
            <a:solidFill>
              <a:schemeClr val="accent4"/>
            </a:solidFill>
            <a:prstDash val="solid"/>
          </a:ln>
        </p:spPr>
      </p:sp>
      <p:sp>
        <p:nvSpPr>
          <p:cNvPr id="17" name="Text 14"/>
          <p:cNvSpPr txBox="1"/>
          <p:nvPr/>
        </p:nvSpPr>
        <p:spPr>
          <a:xfrm>
            <a:off x="685800" y="2697480"/>
            <a:ext cx="3337560" cy="621792"/>
          </a:xfrm>
          <a:prstGeom prst="rect">
            <a:avLst/>
          </a:prstGeom>
          <a:noFill/>
          <a:ln/>
        </p:spPr>
        <p:txBody>
          <a:bodyPr wrap="square" lIns="0" tIns="0" rIns="0" bIns="0" rtlCol="0" anchor="ctr"/>
          <a:lstStyle/>
          <a:p>
            <a:pPr indent="0" marL="0">
              <a:buNone/>
            </a:pPr>
            <a:r>
              <a:rPr lang="en-US" sz="1500" b="1" dirty="0">
                <a:solidFill>
                  <a:schemeClr val="bg1"/>
                </a:solidFill>
              </a:rPr>
              <a:t>H9  </a:t>
            </a:r>
            <a:pPr indent="0" marL="0">
              <a:buNone/>
            </a:pPr>
            <a:r>
              <a:rPr lang="en-US" sz="1500" dirty="0">
                <a:solidFill>
                  <a:schemeClr val="bg1"/>
                </a:solidFill>
              </a:rPr>
              <a:t>relaxed selection</a:t>
            </a:r>
            <a:endParaRPr lang="en-US" sz="1500" dirty="0"/>
          </a:p>
        </p:txBody>
      </p:sp>
      <p:sp>
        <p:nvSpPr>
          <p:cNvPr id="18" name="score-chip"/>
          <p:cNvSpPr/>
          <p:nvPr/>
        </p:nvSpPr>
        <p:spPr>
          <a:xfrm>
            <a:off x="4297680" y="2697480"/>
            <a:ext cx="3566160" cy="621792"/>
          </a:xfrm>
          <a:prstGeom prst="roundRect">
            <a:avLst>
              <a:gd name="adj" fmla="val 17647"/>
            </a:avLst>
          </a:prstGeom>
          <a:solidFill>
            <a:schemeClr val="accent5"/>
          </a:solidFill>
          <a:ln w="12700">
            <a:solidFill>
              <a:schemeClr val="accent5"/>
            </a:solidFill>
            <a:prstDash val="solid"/>
          </a:ln>
        </p:spPr>
      </p:sp>
      <p:sp>
        <p:nvSpPr>
          <p:cNvPr id="19" name="Text 16"/>
          <p:cNvSpPr txBox="1"/>
          <p:nvPr/>
        </p:nvSpPr>
        <p:spPr>
          <a:xfrm>
            <a:off x="4434840" y="269748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H10  </a:t>
            </a:r>
            <a:pPr indent="0" marL="0">
              <a:buNone/>
            </a:pPr>
            <a:r>
              <a:rPr lang="en-US" sz="1500" dirty="0">
                <a:solidFill>
                  <a:schemeClr val="tx1"/>
                </a:solidFill>
              </a:rPr>
              <a:t>disorder</a:t>
            </a:r>
            <a:endParaRPr lang="en-US" sz="1500" dirty="0"/>
          </a:p>
        </p:txBody>
      </p:sp>
      <p:sp>
        <p:nvSpPr>
          <p:cNvPr id="20" name="score-chip"/>
          <p:cNvSpPr/>
          <p:nvPr/>
        </p:nvSpPr>
        <p:spPr>
          <a:xfrm>
            <a:off x="8046720" y="2697480"/>
            <a:ext cx="3566160" cy="621792"/>
          </a:xfrm>
          <a:prstGeom prst="roundRect">
            <a:avLst>
              <a:gd name="adj" fmla="val 17647"/>
            </a:avLst>
          </a:prstGeom>
          <a:solidFill>
            <a:schemeClr val="accent3"/>
          </a:solidFill>
          <a:ln w="12700">
            <a:solidFill>
              <a:schemeClr val="accent3"/>
            </a:solidFill>
            <a:prstDash val="solid"/>
          </a:ln>
        </p:spPr>
      </p:sp>
      <p:sp>
        <p:nvSpPr>
          <p:cNvPr id="21" name="Text 18"/>
          <p:cNvSpPr txBox="1"/>
          <p:nvPr/>
        </p:nvSpPr>
        <p:spPr>
          <a:xfrm>
            <a:off x="8183880" y="2697480"/>
            <a:ext cx="3337560" cy="621792"/>
          </a:xfrm>
          <a:prstGeom prst="rect">
            <a:avLst/>
          </a:prstGeom>
          <a:noFill/>
          <a:ln/>
        </p:spPr>
        <p:txBody>
          <a:bodyPr wrap="square" lIns="0" tIns="0" rIns="0" bIns="0" rtlCol="0" anchor="ctr"/>
          <a:lstStyle/>
          <a:p>
            <a:pPr indent="0" marL="0">
              <a:buNone/>
            </a:pPr>
            <a:r>
              <a:rPr lang="en-US" sz="1500" b="1" dirty="0">
                <a:solidFill>
                  <a:schemeClr val="bg1"/>
                </a:solidFill>
              </a:rPr>
              <a:t>H11  </a:t>
            </a:r>
            <a:pPr indent="0" marL="0">
              <a:buNone/>
            </a:pPr>
            <a:r>
              <a:rPr lang="en-US" sz="1500" dirty="0">
                <a:solidFill>
                  <a:schemeClr val="bg1"/>
                </a:solidFill>
              </a:rPr>
              <a:t>domain shuffling</a:t>
            </a:r>
            <a:endParaRPr lang="en-US" sz="1500" dirty="0"/>
          </a:p>
        </p:txBody>
      </p:sp>
      <p:sp>
        <p:nvSpPr>
          <p:cNvPr id="22" name="score-chip"/>
          <p:cNvSpPr/>
          <p:nvPr/>
        </p:nvSpPr>
        <p:spPr>
          <a:xfrm>
            <a:off x="548640" y="3429000"/>
            <a:ext cx="3566160" cy="621792"/>
          </a:xfrm>
          <a:prstGeom prst="roundRect">
            <a:avLst>
              <a:gd name="adj" fmla="val 17647"/>
            </a:avLst>
          </a:prstGeom>
          <a:solidFill>
            <a:schemeClr val="accent5"/>
          </a:solidFill>
          <a:ln w="12700">
            <a:solidFill>
              <a:schemeClr val="accent5"/>
            </a:solidFill>
            <a:prstDash val="solid"/>
          </a:ln>
        </p:spPr>
      </p:sp>
      <p:sp>
        <p:nvSpPr>
          <p:cNvPr id="23" name="Text 20"/>
          <p:cNvSpPr txBox="1"/>
          <p:nvPr/>
        </p:nvSpPr>
        <p:spPr>
          <a:xfrm>
            <a:off x="685800" y="342900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H12  </a:t>
            </a:r>
            <a:pPr indent="0" marL="0">
              <a:buNone/>
            </a:pPr>
            <a:r>
              <a:rPr lang="en-US" sz="1500" dirty="0">
                <a:solidFill>
                  <a:schemeClr val="tx1"/>
                </a:solidFill>
              </a:rPr>
              <a:t>loss of unicellular genes</a:t>
            </a:r>
            <a:endParaRPr lang="en-US" sz="1500" dirty="0"/>
          </a:p>
        </p:txBody>
      </p:sp>
      <p:sp>
        <p:nvSpPr>
          <p:cNvPr id="24" name="score-chip"/>
          <p:cNvSpPr/>
          <p:nvPr/>
        </p:nvSpPr>
        <p:spPr>
          <a:xfrm>
            <a:off x="4297680" y="3429000"/>
            <a:ext cx="3566160" cy="621792"/>
          </a:xfrm>
          <a:prstGeom prst="roundRect">
            <a:avLst>
              <a:gd name="adj" fmla="val 17647"/>
            </a:avLst>
          </a:prstGeom>
          <a:solidFill>
            <a:schemeClr val="accent6"/>
          </a:solidFill>
          <a:ln w="12700">
            <a:solidFill>
              <a:schemeClr val="accent6"/>
            </a:solidFill>
            <a:prstDash val="solid"/>
          </a:ln>
        </p:spPr>
      </p:sp>
      <p:sp>
        <p:nvSpPr>
          <p:cNvPr id="25" name="Text 22"/>
          <p:cNvSpPr txBox="1"/>
          <p:nvPr/>
        </p:nvSpPr>
        <p:spPr>
          <a:xfrm>
            <a:off x="4434840" y="342900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H13  </a:t>
            </a:r>
            <a:pPr indent="0" marL="0">
              <a:buNone/>
            </a:pPr>
            <a:r>
              <a:rPr lang="en-US" sz="1500" dirty="0">
                <a:solidFill>
                  <a:schemeClr val="tx1"/>
                </a:solidFill>
              </a:rPr>
              <a:t>cell-cycle co-option</a:t>
            </a:r>
            <a:endParaRPr lang="en-US" sz="1500" dirty="0"/>
          </a:p>
        </p:txBody>
      </p:sp>
      <p:sp>
        <p:nvSpPr>
          <p:cNvPr id="26" name="score-chip"/>
          <p:cNvSpPr/>
          <p:nvPr/>
        </p:nvSpPr>
        <p:spPr>
          <a:xfrm>
            <a:off x="8046720" y="3429000"/>
            <a:ext cx="3566160" cy="621792"/>
          </a:xfrm>
          <a:prstGeom prst="roundRect">
            <a:avLst>
              <a:gd name="adj" fmla="val 17647"/>
            </a:avLst>
          </a:prstGeom>
          <a:solidFill>
            <a:schemeClr val="accent6"/>
          </a:solidFill>
          <a:ln w="12700">
            <a:solidFill>
              <a:schemeClr val="accent6"/>
            </a:solidFill>
            <a:prstDash val="solid"/>
          </a:ln>
        </p:spPr>
      </p:sp>
      <p:sp>
        <p:nvSpPr>
          <p:cNvPr id="27" name="Text 24"/>
          <p:cNvSpPr txBox="1"/>
          <p:nvPr/>
        </p:nvSpPr>
        <p:spPr>
          <a:xfrm>
            <a:off x="8183880" y="342900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H14–H15  </a:t>
            </a:r>
            <a:pPr indent="0" marL="0">
              <a:buNone/>
            </a:pPr>
            <a:r>
              <a:rPr lang="en-US" sz="1500" dirty="0">
                <a:solidFill>
                  <a:schemeClr val="tx1"/>
                </a:solidFill>
              </a:rPr>
              <a:t>HGT, site convergence</a:t>
            </a:r>
            <a:endParaRPr lang="en-US" sz="1500" dirty="0"/>
          </a:p>
        </p:txBody>
      </p:sp>
      <p:sp>
        <p:nvSpPr>
          <p:cNvPr id="28" name="score-chip"/>
          <p:cNvSpPr/>
          <p:nvPr/>
        </p:nvSpPr>
        <p:spPr>
          <a:xfrm>
            <a:off x="548640" y="4160520"/>
            <a:ext cx="3566160" cy="621792"/>
          </a:xfrm>
          <a:prstGeom prst="roundRect">
            <a:avLst>
              <a:gd name="adj" fmla="val 17647"/>
            </a:avLst>
          </a:prstGeom>
          <a:solidFill>
            <a:schemeClr val="accent6"/>
          </a:solidFill>
          <a:ln w="12700">
            <a:solidFill>
              <a:schemeClr val="accent6"/>
            </a:solidFill>
            <a:prstDash val="solid"/>
          </a:ln>
        </p:spPr>
      </p:sp>
      <p:sp>
        <p:nvSpPr>
          <p:cNvPr id="29" name="Text 26"/>
          <p:cNvSpPr txBox="1"/>
          <p:nvPr/>
        </p:nvSpPr>
        <p:spPr>
          <a:xfrm>
            <a:off x="685800" y="416052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H16  </a:t>
            </a:r>
            <a:pPr indent="0" marL="0">
              <a:buNone/>
            </a:pPr>
            <a:r>
              <a:rPr lang="en-US" sz="1500" dirty="0">
                <a:solidFill>
                  <a:schemeClr val="tx1"/>
                </a:solidFill>
              </a:rPr>
              <a:t>regulation, not coding</a:t>
            </a:r>
            <a:endParaRPr lang="en-US" sz="1500" dirty="0"/>
          </a:p>
        </p:txBody>
      </p:sp>
      <p:sp>
        <p:nvSpPr>
          <p:cNvPr id="30" name="score-chip"/>
          <p:cNvSpPr/>
          <p:nvPr/>
        </p:nvSpPr>
        <p:spPr>
          <a:xfrm>
            <a:off x="4297680" y="4160520"/>
            <a:ext cx="3566160" cy="621792"/>
          </a:xfrm>
          <a:prstGeom prst="roundRect">
            <a:avLst>
              <a:gd name="adj" fmla="val 17647"/>
            </a:avLst>
          </a:prstGeom>
          <a:solidFill>
            <a:schemeClr val="accent5"/>
          </a:solidFill>
          <a:ln w="12700">
            <a:solidFill>
              <a:schemeClr val="accent5"/>
            </a:solidFill>
            <a:prstDash val="solid"/>
          </a:ln>
        </p:spPr>
      </p:sp>
      <p:sp>
        <p:nvSpPr>
          <p:cNvPr id="31" name="Text 28"/>
          <p:cNvSpPr txBox="1"/>
          <p:nvPr/>
        </p:nvSpPr>
        <p:spPr>
          <a:xfrm>
            <a:off x="4434840" y="4160520"/>
            <a:ext cx="3337560" cy="621792"/>
          </a:xfrm>
          <a:prstGeom prst="rect">
            <a:avLst/>
          </a:prstGeom>
          <a:noFill/>
          <a:ln/>
        </p:spPr>
        <p:txBody>
          <a:bodyPr wrap="square" lIns="0" tIns="0" rIns="0" bIns="0" rtlCol="0" anchor="ctr"/>
          <a:lstStyle/>
          <a:p>
            <a:pPr indent="0" marL="0">
              <a:buNone/>
            </a:pPr>
            <a:r>
              <a:rPr lang="en-US" sz="1500" b="1" dirty="0">
                <a:solidFill>
                  <a:schemeClr val="tx1"/>
                </a:solidFill>
              </a:rPr>
              <a:t>R2-P1  </a:t>
            </a:r>
            <a:pPr indent="0" marL="0">
              <a:buNone/>
            </a:pPr>
            <a:r>
              <a:rPr lang="en-US" sz="1500" dirty="0">
                <a:solidFill>
                  <a:schemeClr val="tx1"/>
                </a:solidFill>
              </a:rPr>
              <a:t>simple → complex novelty</a:t>
            </a:r>
            <a:endParaRPr lang="en-US" sz="1500" dirty="0"/>
          </a:p>
        </p:txBody>
      </p:sp>
      <p:sp>
        <p:nvSpPr>
          <p:cNvPr id="32" name="score-chip"/>
          <p:cNvSpPr/>
          <p:nvPr/>
        </p:nvSpPr>
        <p:spPr>
          <a:xfrm>
            <a:off x="8046720" y="4160520"/>
            <a:ext cx="3566160" cy="621792"/>
          </a:xfrm>
          <a:prstGeom prst="roundRect">
            <a:avLst>
              <a:gd name="adj" fmla="val 17647"/>
            </a:avLst>
          </a:prstGeom>
          <a:solidFill>
            <a:schemeClr val="accent4"/>
          </a:solidFill>
          <a:ln w="12700">
            <a:solidFill>
              <a:schemeClr val="accent4"/>
            </a:solidFill>
            <a:prstDash val="solid"/>
          </a:ln>
        </p:spPr>
      </p:sp>
      <p:sp>
        <p:nvSpPr>
          <p:cNvPr id="33" name="Text 30"/>
          <p:cNvSpPr txBox="1"/>
          <p:nvPr/>
        </p:nvSpPr>
        <p:spPr>
          <a:xfrm>
            <a:off x="8183880" y="4160520"/>
            <a:ext cx="3337560" cy="621792"/>
          </a:xfrm>
          <a:prstGeom prst="rect">
            <a:avLst/>
          </a:prstGeom>
          <a:noFill/>
          <a:ln/>
        </p:spPr>
        <p:txBody>
          <a:bodyPr wrap="square" lIns="0" tIns="0" rIns="0" bIns="0" rtlCol="0" anchor="ctr"/>
          <a:lstStyle/>
          <a:p>
            <a:pPr indent="0" marL="0">
              <a:buNone/>
            </a:pPr>
            <a:r>
              <a:rPr lang="en-US" sz="1500" b="1" dirty="0">
                <a:solidFill>
                  <a:schemeClr val="bg1"/>
                </a:solidFill>
              </a:rPr>
              <a:t>R2-P2  </a:t>
            </a:r>
            <a:pPr indent="0" marL="0">
              <a:buNone/>
            </a:pPr>
            <a:r>
              <a:rPr lang="en-US" sz="1500" dirty="0">
                <a:solidFill>
                  <a:schemeClr val="bg1"/>
                </a:solidFill>
              </a:rPr>
              <a:t>motif-binding domains</a:t>
            </a:r>
            <a:endParaRPr lang="en-US" sz="1500" dirty="0"/>
          </a:p>
        </p:txBody>
      </p:sp>
      <p:sp>
        <p:nvSpPr>
          <p:cNvPr id="34" name="score-chip"/>
          <p:cNvSpPr/>
          <p:nvPr/>
        </p:nvSpPr>
        <p:spPr>
          <a:xfrm>
            <a:off x="548640" y="4892040"/>
            <a:ext cx="3566160" cy="621792"/>
          </a:xfrm>
          <a:prstGeom prst="roundRect">
            <a:avLst>
              <a:gd name="adj" fmla="val 17647"/>
            </a:avLst>
          </a:prstGeom>
          <a:solidFill>
            <a:schemeClr val="accent2"/>
          </a:solidFill>
          <a:ln w="12700">
            <a:solidFill>
              <a:schemeClr val="accent2"/>
            </a:solidFill>
            <a:prstDash val="solid"/>
          </a:ln>
        </p:spPr>
      </p:sp>
      <p:sp>
        <p:nvSpPr>
          <p:cNvPr id="35" name="Text 32"/>
          <p:cNvSpPr txBox="1"/>
          <p:nvPr/>
        </p:nvSpPr>
        <p:spPr>
          <a:xfrm>
            <a:off x="685800" y="4892040"/>
            <a:ext cx="3337560" cy="621792"/>
          </a:xfrm>
          <a:prstGeom prst="rect">
            <a:avLst/>
          </a:prstGeom>
          <a:noFill/>
          <a:ln/>
        </p:spPr>
        <p:txBody>
          <a:bodyPr wrap="square" lIns="0" tIns="0" rIns="0" bIns="0" rtlCol="0" anchor="ctr"/>
          <a:lstStyle/>
          <a:p>
            <a:pPr indent="0" marL="0">
              <a:buNone/>
            </a:pPr>
            <a:r>
              <a:rPr lang="en-US" sz="1500" b="1" dirty="0">
                <a:solidFill>
                  <a:schemeClr val="bg1"/>
                </a:solidFill>
              </a:rPr>
              <a:t>R2-P3  </a:t>
            </a:r>
            <a:pPr indent="0" marL="0">
              <a:buNone/>
            </a:pPr>
            <a:r>
              <a:rPr lang="en-US" sz="1500" dirty="0">
                <a:solidFill>
                  <a:schemeClr val="bg1"/>
                </a:solidFill>
              </a:rPr>
              <a:t>cell death</a:t>
            </a:r>
            <a:endParaRPr lang="en-US" sz="1500" dirty="0"/>
          </a:p>
        </p:txBody>
      </p:sp>
      <p:sp>
        <p:nvSpPr>
          <p:cNvPr id="36" name="score-chip"/>
          <p:cNvSpPr/>
          <p:nvPr/>
        </p:nvSpPr>
        <p:spPr>
          <a:xfrm>
            <a:off x="4297680" y="4892040"/>
            <a:ext cx="3566160" cy="621792"/>
          </a:xfrm>
          <a:prstGeom prst="roundRect">
            <a:avLst>
              <a:gd name="adj" fmla="val 17647"/>
            </a:avLst>
          </a:prstGeom>
          <a:solidFill>
            <a:schemeClr val="accent4"/>
          </a:solidFill>
          <a:ln w="12700">
            <a:solidFill>
              <a:schemeClr val="accent4"/>
            </a:solidFill>
            <a:prstDash val="solid"/>
          </a:ln>
        </p:spPr>
      </p:sp>
      <p:sp>
        <p:nvSpPr>
          <p:cNvPr id="37" name="Text 34"/>
          <p:cNvSpPr txBox="1"/>
          <p:nvPr/>
        </p:nvSpPr>
        <p:spPr>
          <a:xfrm>
            <a:off x="4434840" y="4892040"/>
            <a:ext cx="3337560" cy="621792"/>
          </a:xfrm>
          <a:prstGeom prst="rect">
            <a:avLst/>
          </a:prstGeom>
          <a:noFill/>
          <a:ln/>
        </p:spPr>
        <p:txBody>
          <a:bodyPr wrap="square" lIns="0" tIns="0" rIns="0" bIns="0" rtlCol="0" anchor="ctr"/>
          <a:lstStyle/>
          <a:p>
            <a:pPr indent="0" marL="0">
              <a:buNone/>
            </a:pPr>
            <a:r>
              <a:rPr lang="en-US" sz="1500" b="1" dirty="0">
                <a:solidFill>
                  <a:schemeClr val="bg1"/>
                </a:solidFill>
              </a:rPr>
              <a:t>R2  </a:t>
            </a:r>
            <a:pPr indent="0" marL="0">
              <a:buNone/>
            </a:pPr>
            <a:r>
              <a:rPr lang="en-US" sz="1500" dirty="0">
                <a:solidFill>
                  <a:schemeClr val="bg1"/>
                </a:solidFill>
              </a:rPr>
              <a:t>structural novelty</a:t>
            </a:r>
            <a:endParaRPr lang="en-US" sz="1500" dirty="0"/>
          </a:p>
        </p:txBody>
      </p:sp>
      <p:sp>
        <p:nvSpPr>
          <p:cNvPr id="38" name="score-chip"/>
          <p:cNvSpPr/>
          <p:nvPr/>
        </p:nvSpPr>
        <p:spPr>
          <a:xfrm>
            <a:off x="8046720" y="4892040"/>
            <a:ext cx="3566160" cy="621792"/>
          </a:xfrm>
          <a:prstGeom prst="roundRect">
            <a:avLst>
              <a:gd name="adj" fmla="val 17647"/>
            </a:avLst>
          </a:prstGeom>
          <a:solidFill>
            <a:schemeClr val="accent4"/>
          </a:solidFill>
          <a:ln w="12700">
            <a:solidFill>
              <a:schemeClr val="accent4"/>
            </a:solidFill>
            <a:prstDash val="solid"/>
          </a:ln>
        </p:spPr>
      </p:sp>
      <p:sp>
        <p:nvSpPr>
          <p:cNvPr id="39" name="Text 36"/>
          <p:cNvSpPr txBox="1"/>
          <p:nvPr/>
        </p:nvSpPr>
        <p:spPr>
          <a:xfrm>
            <a:off x="8183880" y="4892040"/>
            <a:ext cx="3337560" cy="621792"/>
          </a:xfrm>
          <a:prstGeom prst="rect">
            <a:avLst/>
          </a:prstGeom>
          <a:noFill/>
          <a:ln/>
        </p:spPr>
        <p:txBody>
          <a:bodyPr wrap="square" lIns="0" tIns="0" rIns="0" bIns="0" rtlCol="0" anchor="ctr"/>
          <a:lstStyle/>
          <a:p>
            <a:pPr indent="0" marL="0">
              <a:buNone/>
            </a:pPr>
            <a:r>
              <a:rPr lang="en-US" sz="1500" b="1" dirty="0">
                <a:solidFill>
                  <a:schemeClr val="bg1"/>
                </a:solidFill>
              </a:rPr>
              <a:t>R2  </a:t>
            </a:r>
            <a:pPr indent="0" marL="0">
              <a:buNone/>
            </a:pPr>
            <a:r>
              <a:rPr lang="en-US" sz="1500" dirty="0">
                <a:solidFill>
                  <a:schemeClr val="bg1"/>
                </a:solidFill>
              </a:rPr>
              <a:t>protein complexes</a:t>
            </a:r>
            <a:endParaRPr lang="en-US" sz="1500" dirty="0"/>
          </a:p>
        </p:txBody>
      </p:sp>
      <p:sp>
        <p:nvSpPr>
          <p:cNvPr id="40" name="legend-dot"/>
          <p:cNvSpPr/>
          <p:nvPr/>
        </p:nvSpPr>
        <p:spPr>
          <a:xfrm>
            <a:off x="548640" y="5779008"/>
            <a:ext cx="274320" cy="274320"/>
          </a:xfrm>
          <a:prstGeom prst="ellipse">
            <a:avLst/>
          </a:prstGeom>
          <a:solidFill>
            <a:schemeClr val="accent2"/>
          </a:solidFill>
          <a:ln w="12700">
            <a:solidFill>
              <a:schemeClr val="accent2"/>
            </a:solidFill>
            <a:prstDash val="solid"/>
          </a:ln>
        </p:spPr>
      </p:sp>
      <p:sp>
        <p:nvSpPr>
          <p:cNvPr id="41" name="Text 38"/>
          <p:cNvSpPr txBox="1"/>
          <p:nvPr/>
        </p:nvSpPr>
        <p:spPr>
          <a:xfrm>
            <a:off x="914400" y="5733288"/>
            <a:ext cx="1828800" cy="365760"/>
          </a:xfrm>
          <a:prstGeom prst="rect">
            <a:avLst/>
          </a:prstGeom>
          <a:noFill/>
          <a:ln/>
        </p:spPr>
        <p:txBody>
          <a:bodyPr wrap="square" lIns="0" tIns="0" rIns="0" bIns="0" rtlCol="0" anchor="ctr"/>
          <a:lstStyle/>
          <a:p>
            <a:pPr indent="0" marL="0">
              <a:buNone/>
            </a:pPr>
            <a:r>
              <a:rPr lang="en-US" sz="1300" dirty="0">
                <a:solidFill>
                  <a:schemeClr val="tx1"/>
                </a:solidFill>
              </a:rPr>
              <a:t>supported</a:t>
            </a:r>
            <a:endParaRPr lang="en-US" sz="1300" dirty="0"/>
          </a:p>
        </p:txBody>
      </p:sp>
      <p:sp>
        <p:nvSpPr>
          <p:cNvPr id="42" name="legend-dot"/>
          <p:cNvSpPr/>
          <p:nvPr/>
        </p:nvSpPr>
        <p:spPr>
          <a:xfrm>
            <a:off x="2788920" y="5779008"/>
            <a:ext cx="274320" cy="274320"/>
          </a:xfrm>
          <a:prstGeom prst="ellipse">
            <a:avLst/>
          </a:prstGeom>
          <a:solidFill>
            <a:schemeClr val="accent5"/>
          </a:solidFill>
          <a:ln w="12700">
            <a:solidFill>
              <a:schemeClr val="accent5"/>
            </a:solidFill>
            <a:prstDash val="solid"/>
          </a:ln>
        </p:spPr>
      </p:sp>
      <p:sp>
        <p:nvSpPr>
          <p:cNvPr id="43" name="Text 40"/>
          <p:cNvSpPr txBox="1"/>
          <p:nvPr/>
        </p:nvSpPr>
        <p:spPr>
          <a:xfrm>
            <a:off x="3154680" y="5733288"/>
            <a:ext cx="1828800" cy="365760"/>
          </a:xfrm>
          <a:prstGeom prst="rect">
            <a:avLst/>
          </a:prstGeom>
          <a:noFill/>
          <a:ln/>
        </p:spPr>
        <p:txBody>
          <a:bodyPr wrap="square" lIns="0" tIns="0" rIns="0" bIns="0" rtlCol="0" anchor="ctr"/>
          <a:lstStyle/>
          <a:p>
            <a:pPr indent="0" marL="0">
              <a:buNone/>
            </a:pPr>
            <a:r>
              <a:rPr lang="en-US" sz="1300" dirty="0">
                <a:solidFill>
                  <a:schemeClr val="tx1"/>
                </a:solidFill>
              </a:rPr>
              <a:t>not detected / n.s.</a:t>
            </a:r>
            <a:endParaRPr lang="en-US" sz="1300" dirty="0"/>
          </a:p>
        </p:txBody>
      </p:sp>
      <p:sp>
        <p:nvSpPr>
          <p:cNvPr id="44" name="legend-dot"/>
          <p:cNvSpPr/>
          <p:nvPr/>
        </p:nvSpPr>
        <p:spPr>
          <a:xfrm>
            <a:off x="5029200" y="5779008"/>
            <a:ext cx="274320" cy="274320"/>
          </a:xfrm>
          <a:prstGeom prst="ellipse">
            <a:avLst/>
          </a:prstGeom>
          <a:solidFill>
            <a:schemeClr val="accent4"/>
          </a:solidFill>
          <a:ln w="12700">
            <a:solidFill>
              <a:schemeClr val="accent4"/>
            </a:solidFill>
            <a:prstDash val="solid"/>
          </a:ln>
        </p:spPr>
      </p:sp>
      <p:sp>
        <p:nvSpPr>
          <p:cNvPr id="45" name="Text 42"/>
          <p:cNvSpPr txBox="1"/>
          <p:nvPr/>
        </p:nvSpPr>
        <p:spPr>
          <a:xfrm>
            <a:off x="5394960" y="5733288"/>
            <a:ext cx="1828800" cy="365760"/>
          </a:xfrm>
          <a:prstGeom prst="rect">
            <a:avLst/>
          </a:prstGeom>
          <a:noFill/>
          <a:ln/>
        </p:spPr>
        <p:txBody>
          <a:bodyPr wrap="square" lIns="0" tIns="0" rIns="0" bIns="0" rtlCol="0" anchor="ctr"/>
          <a:lstStyle/>
          <a:p>
            <a:pPr indent="0" marL="0">
              <a:buNone/>
            </a:pPr>
            <a:r>
              <a:rPr lang="en-US" sz="1300" dirty="0">
                <a:solidFill>
                  <a:schemeClr val="tx1"/>
                </a:solidFill>
              </a:rPr>
              <a:t>not supported / null</a:t>
            </a:r>
            <a:endParaRPr lang="en-US" sz="1300" dirty="0"/>
          </a:p>
        </p:txBody>
      </p:sp>
      <p:sp>
        <p:nvSpPr>
          <p:cNvPr id="46" name="legend-dot"/>
          <p:cNvSpPr/>
          <p:nvPr/>
        </p:nvSpPr>
        <p:spPr>
          <a:xfrm>
            <a:off x="7269480" y="5779008"/>
            <a:ext cx="274320" cy="274320"/>
          </a:xfrm>
          <a:prstGeom prst="ellipse">
            <a:avLst/>
          </a:prstGeom>
          <a:solidFill>
            <a:schemeClr val="accent3"/>
          </a:solidFill>
          <a:ln w="12700">
            <a:solidFill>
              <a:schemeClr val="accent3"/>
            </a:solidFill>
            <a:prstDash val="solid"/>
          </a:ln>
        </p:spPr>
      </p:sp>
      <p:sp>
        <p:nvSpPr>
          <p:cNvPr id="47" name="Text 44"/>
          <p:cNvSpPr txBox="1"/>
          <p:nvPr/>
        </p:nvSpPr>
        <p:spPr>
          <a:xfrm>
            <a:off x="7635240" y="5733288"/>
            <a:ext cx="1828800" cy="365760"/>
          </a:xfrm>
          <a:prstGeom prst="rect">
            <a:avLst/>
          </a:prstGeom>
          <a:noFill/>
          <a:ln/>
        </p:spPr>
        <p:txBody>
          <a:bodyPr wrap="square" lIns="0" tIns="0" rIns="0" bIns="0" rtlCol="0" anchor="ctr"/>
          <a:lstStyle/>
          <a:p>
            <a:pPr indent="0" marL="0">
              <a:buNone/>
            </a:pPr>
            <a:r>
              <a:rPr lang="en-US" sz="1300" dirty="0">
                <a:solidFill>
                  <a:schemeClr val="tx1"/>
                </a:solidFill>
              </a:rPr>
              <a:t>exploratory lead</a:t>
            </a:r>
            <a:endParaRPr lang="en-US" sz="1300" dirty="0"/>
          </a:p>
        </p:txBody>
      </p:sp>
      <p:sp>
        <p:nvSpPr>
          <p:cNvPr id="48" name="legend-dot"/>
          <p:cNvSpPr/>
          <p:nvPr/>
        </p:nvSpPr>
        <p:spPr>
          <a:xfrm>
            <a:off x="9509760" y="5779008"/>
            <a:ext cx="274320" cy="274320"/>
          </a:xfrm>
          <a:prstGeom prst="ellipse">
            <a:avLst/>
          </a:prstGeom>
          <a:solidFill>
            <a:schemeClr val="accent6"/>
          </a:solidFill>
          <a:ln w="12700">
            <a:solidFill>
              <a:schemeClr val="accent6"/>
            </a:solidFill>
            <a:prstDash val="solid"/>
          </a:ln>
        </p:spPr>
      </p:sp>
      <p:sp>
        <p:nvSpPr>
          <p:cNvPr id="49" name="Text 46"/>
          <p:cNvSpPr txBox="1"/>
          <p:nvPr/>
        </p:nvSpPr>
        <p:spPr>
          <a:xfrm>
            <a:off x="9875520" y="5733288"/>
            <a:ext cx="1828800" cy="365760"/>
          </a:xfrm>
          <a:prstGeom prst="rect">
            <a:avLst/>
          </a:prstGeom>
          <a:noFill/>
          <a:ln/>
        </p:spPr>
        <p:txBody>
          <a:bodyPr wrap="square" lIns="0" tIns="0" rIns="0" bIns="0" rtlCol="0" anchor="ctr"/>
          <a:lstStyle/>
          <a:p>
            <a:pPr indent="0" marL="0">
              <a:buNone/>
            </a:pPr>
            <a:r>
              <a:rPr lang="en-US" sz="1300" dirty="0">
                <a:solidFill>
                  <a:schemeClr val="tx1"/>
                </a:solidFill>
              </a:rPr>
              <a:t>not tested</a:t>
            </a:r>
            <a:endParaRPr lang="en-US" sz="13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H1–H2 · Co-option or a burst of new genes?</a:t>
            </a:r>
            <a:endParaRPr lang="en-US" sz="3200" dirty="0"/>
          </a:p>
        </p:txBody>
      </p:sp>
      <p:pic>
        <p:nvPicPr>
          <p:cNvPr id="4" name="hyp_h01_h02.png" descr="Schematic of hypothesis H1–H2 · Co-option or a burst of new genes?">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Paps &amp; Holland 2018; Bowles et al. 2020; Denoeud et al. 2024; King et al. 2008; Sebé-Pedrós et al. 2010; Prochnik et al. 2010; Kiss et al. 2019; Richter et al. 2018</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Burst: more new gene families on transition stems than on controls. Co-option: no excess; the genes were already there.</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Bursts reported at animal, land-plant and brown-algal origins; choanoflagellates already carry cadherins and kinases.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Gain counts inflate 2.1–2.6×; denser outgroup sampling moves 'animal-specific' families earlier.</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5"/>
          </a:solidFill>
          <a:ln w="12700">
            <a:solidFill>
              <a:schemeClr val="accent5"/>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DETECTED (LOW POWER)</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pooled 1.67× [0.64–4.34], p = 0.11 (Holm 0.45); 80–100% of expanded families present before</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H3 · Pre-adaptation before the transition?</a:t>
            </a:r>
            <a:endParaRPr lang="en-US" sz="3200" dirty="0"/>
          </a:p>
        </p:txBody>
      </p:sp>
      <p:pic>
        <p:nvPicPr>
          <p:cNvPr id="4" name="hyp_h03.png" descr="Schematic of hypothesis H3 · Pre-adaptation before the transition?">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Ocaña-Pallarès et al. 2022; Grau-Bové et al. 2017; Merényi et al. 2020</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Ancestors of lineages that later turned multicellular already had more adhesion, TF and signalling genes than sisters that never did.</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'Predisposition' reported for complex fungi; gradual assembly of the toolkit in holozoans.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Needs many transitioning and non-transitioning sister pairs with good genomes.</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6"/>
          </a:solidFill>
          <a:ln w="12700">
            <a:solidFill>
              <a:schemeClr val="accent6"/>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TESTED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not run in either round</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H4 · Do transcription-factor families expand?</a:t>
            </a:r>
            <a:endParaRPr lang="en-US" sz="3200" dirty="0"/>
          </a:p>
        </p:txBody>
      </p:sp>
      <p:pic>
        <p:nvPicPr>
          <p:cNvPr id="4" name="hyp_h04.png" descr="Schematic of hypothesis H4 · Do transcription-factor families expand?">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de Mendoza et al. 2013; Larroux et al. 2008; Lang et al. 2010; Catarino et al. 2016; Knoll 2011; Nagy et al. 2014</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More TF duplications on transition stems than on controls, strongest in complex lineages.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TF repertoires track cell-type number; expansions reappear within origins (T-box, Runt in animals; TEA in fungi; SBP in plants).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Much of the TF toolkit predates multicellular lineages.</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5"/>
          </a:solidFill>
          <a:ln w="12700">
            <a:solidFill>
              <a:schemeClr val="accent5"/>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DETECTED (LOW POWER)</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R1: odds ratio 1.16 [0.62–2.19], p = 0.36 · R2 TF families: +0.03 SD, p = 0.30</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H5 · Convergent adhesion and signalling expansion?</a:t>
            </a:r>
            <a:endParaRPr lang="en-US" sz="3200" dirty="0"/>
          </a:p>
        </p:txBody>
      </p:sp>
      <p:pic>
        <p:nvPicPr>
          <p:cNvPr id="4" name="hyp_h05.png" descr="Schematic of hypothesis H5 · Convergent adhesion and signalling expansion?">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Knoll 2011; Abedin &amp; King 2010; Pereira Lobo et al. 2025; Rokas 2008a</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The same adhesion/ECM and signalling domains expand independently in two or more lineages.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Every multicellular body needs cell adhesion and communication.</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Classical cadherins are new domain combinations inside old families, invisible to family-level dating.</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5"/>
          </a:solidFill>
          <a:ln w="12700">
            <a:solidFill>
              <a:schemeClr val="accent5"/>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DETECTED (LOW POWER)</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odds ratio 0.83 [0.55–1.27], p = 0.77; Pfam-wide expansions not above chance</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H6 · Receptor kinases in complex lineages?</a:t>
            </a:r>
            <a:endParaRPr lang="en-US" sz="3200" dirty="0"/>
          </a:p>
        </p:txBody>
      </p:sp>
      <p:pic>
        <p:nvPicPr>
          <p:cNvPr id="4" name="hyp_h06.png" descr="Schematic of hypothesis H6 · Receptor kinases in complex lineages?">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Cock et al. 2010; Shiu &amp; Bleecker 2001; Manning et al. 2008; Kiss et al. 2019</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Receptor-kinase families duplicate on brown-algal, plant and animal stems, but not on fungal hyphae.</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Receptor kinases expanded in Ectocarpus and Arabidopsis; R2: one new kinase family at 5 of 7 complex events.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Receptor-kinase classification not run; kinase recurrence is only suggestive (q = 0.06).</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6"/>
          </a:solidFill>
          <a:ln w="12700">
            <a:solidFill>
              <a:schemeClr val="accent6"/>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PARTLY TESTED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fungal 'no expansion' control passed; kinase recurrence p = 0.023, q = 0.06</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H7–H8 · Aggregative versus clonal</a:t>
            </a:r>
            <a:endParaRPr lang="en-US" sz="3200" dirty="0"/>
          </a:p>
        </p:txBody>
      </p:sp>
      <p:pic>
        <p:nvPicPr>
          <p:cNvPr id="4" name="hyp_h07_h08.png" descr="Schematic of hypothesis H7–H8 · Aggregative versus clonal">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Glöckner et al. 2016; Grosberg &amp; Strathmann 2007; Fisher et al. 2013; Márquez-Zacarías et al. 2021</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H7: aggregative origins gain secreted and membrane signals. H8: clonal origins show more gene turnover.</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Dictyostelid development relies on extracellular signals; clonal development allows more cell types.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Few aggregative lineages with genomes; most are single species, so the stem is also a tip.</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6"/>
          </a:solidFill>
          <a:ln w="12700">
            <a:solidFill>
              <a:schemeClr val="accent6"/>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TESTED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one aggregative primary origin (dictyostelids); not run</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H9 · Relaxed selection after the transition?</a:t>
            </a:r>
            <a:endParaRPr lang="en-US" sz="3200" dirty="0"/>
          </a:p>
        </p:txBody>
      </p:sp>
      <p:pic>
        <p:nvPicPr>
          <p:cNvPr id="4" name="hyp_h09.png" descr="Schematic of hypothesis H9 · Relaxed selection after the transition?">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Lynch &amp; Conery 2003; Lynch 2007; Bingham &amp; Ratcliff 2024; Pentz et al. 2023</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Smaller populations weaken selection: faster protein evolution and larger proteomes after eukaryotic transitions.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Drift theory of genome complexity, recently extended to multicellularity.</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Rates differ by lineage (4 stems faster, 3 slower); R2 structure-per-sequence test failed its control.</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4"/>
          </a:solidFill>
          <a:ln w="12700">
            <a:solidFill>
              <a:schemeClr val="accent4"/>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bg1"/>
                </a:solidFill>
              </a:rPr>
              <a:t>NOT SUPPORTED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pooled rate ratio 1.10 [0.96–1.26]: no ≥1.5-fold shift; exact p = 0.31</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H10 · More disorder with complexity?</a:t>
            </a:r>
            <a:endParaRPr lang="en-US" sz="3200" dirty="0"/>
          </a:p>
        </p:txBody>
      </p:sp>
      <p:pic>
        <p:nvPicPr>
          <p:cNvPr id="4" name="hyp_h10.png" descr="Schematic of hypothesis H10 · More disorder with complexity?">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Schad et al. 2011; Yruela et al. 2017; Chen et al. 2014; Dunker et al. 2015</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Disorder in transcription factors rises with cell-type number and on transition stems.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Disorder and alternative splicing scale with organismal complexity in earlier surveys.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Mixed directions: disorder up in 4 of 7 transitions, down in volvocines and animals.</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5"/>
          </a:solidFill>
          <a:ln w="12700">
            <a:solidFill>
              <a:schemeClr val="accent5"/>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DETECTED (LOW POWER)</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percentiles vs controls 0.34–0.73; regression on cell-type number not run</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H11 · New domain combinations?</a:t>
            </a:r>
            <a:endParaRPr lang="en-US" sz="3200" dirty="0"/>
          </a:p>
        </p:txBody>
      </p:sp>
      <p:pic>
        <p:nvPicPr>
          <p:cNvPr id="4" name="hyp_h11.png" descr="Schematic of hypothesis H11 · New domain combinations?">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Ekman et al. 2007; Denoeud et al. 2024; Ocaña-Pallarès et al. 2022</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More new multi-domain architectures on complex-lineage stems than on controls.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Domain shuffling builds new proteins; animal stem: 1,131 new architectures vs control median 34.</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Fails a completeness filter (BUSCO ≥ 80%: p = 0.16); exploratory only.</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3"/>
          </a:solidFill>
          <a:ln w="12700">
            <a:solidFill>
              <a:schemeClr val="accent3"/>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bg1"/>
                </a:solidFill>
              </a:rPr>
              <a:t>EXPLORATORY LEAD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p = 0.005, survives leave-one-out, not robust to data quality</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H12 · Shedding unicellular functions?</a:t>
            </a:r>
            <a:endParaRPr lang="en-US" sz="3200" dirty="0"/>
          </a:p>
        </p:txBody>
      </p:sp>
      <p:pic>
        <p:nvPicPr>
          <p:cNvPr id="4" name="hyp_h12.png" descr="Schematic of hypothesis H12 · Shedding unicellular functions?">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Merényi et al. 2023; Yang et al. 2026; Nguyen et al. 2017</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Flagellar and phagotrophy genes are lost at transitions; reversals lose multicellularity genes.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Fungi and dictyostelids lost all four flagellar modules, as expected ('shedding of protist genes').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Only two loss-expected stems (power ≤ 0.33); reversals do not preferentially shed transition genes.</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5"/>
          </a:solidFill>
          <a:ln w="12700">
            <a:solidFill>
              <a:schemeClr val="accent5"/>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DETECTED (LOW POWER)</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p = 0.020, Holm-adjusted 0.10; reversal odds 0.86–1.39</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H13 · Is cell-cycle control co-opted?</a:t>
            </a:r>
            <a:endParaRPr lang="en-US" sz="3200" dirty="0"/>
          </a:p>
        </p:txBody>
      </p:sp>
      <p:pic>
        <p:nvPicPr>
          <p:cNvPr id="4" name="hyp_h13.png" descr="Schematic of hypothesis H13 · Is cell-cycle control co-opted?">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Hanschen et al. 2016; Featherston et al. 2018; Chaigne &amp; Brunet 2022</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RB/E2F, ubiquitin–proteasome and ESCRT/septin genes duplicate or speed up on clonal stems only.</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Gonium co-opted the retinoblastoma pathway; incomplete cell division links cells by bridges.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Duplication and rate contrasts were not run; only one co-option control.</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6"/>
          </a:solidFill>
          <a:ln w="12700">
            <a:solidFill>
              <a:schemeClr val="accent6"/>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TESTED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RB pathway already present in the unicellular volvocine ancestor (control recovered)</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H14–H15 · Gene transfer and site convergence</a:t>
            </a:r>
            <a:endParaRPr lang="en-US" sz="3200" dirty="0"/>
          </a:p>
        </p:txBody>
      </p:sp>
      <p:pic>
        <p:nvPicPr>
          <p:cNvPr id="4" name="hyp_h14_h15.png" descr="Schematic of hypothesis H14–H15 · Gene transfer and site convergence">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Ocaña-Pallarès et al. 2022; Denoeud et al. 2024; Sheikh et al. 2024; Glöckner et al. 2016; Merényi et al. 2020; Iizuka et al. 2026</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H14: non-animal origins gain more genes by horizontal transfer. H15: the same amino-acid changes recur at independent origins.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Gene transfer is common in fungi, protists and brown algae; strong molecular convergence in complex fungi.</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Both need per-family gene trees; cut for time at the design stage.</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6"/>
          </a:solidFill>
          <a:ln w="12700">
            <a:solidFill>
              <a:schemeClr val="accent6"/>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TESTED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cut for time (DESIGN.md §4.2)</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H16 · Regulation rather than new proteins?</a:t>
            </a:r>
            <a:endParaRPr lang="en-US" sz="3200" dirty="0"/>
          </a:p>
        </p:txBody>
      </p:sp>
      <p:pic>
        <p:nvPicPr>
          <p:cNvPr id="4" name="hyp_h16.png" descr="Schematic of hypothesis H16 · Regulation rather than new proteins?">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Sebé-Pedrós et al. 2016; Jiménez-Marín et al. 2022; Nagy et al. 2014</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Multicellularity mainly rewires gene regulation; protein-coding content changes little.</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Dynamic regulatory genome in Capsaspora; our many nulls are compatible with it.</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Regulatory change is invisible in proteomes; compatibility is not evidence.</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6"/>
          </a:solidFill>
          <a:ln w="12700">
            <a:solidFill>
              <a:schemeClr val="accent6"/>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TESTABLE HERE</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outside the scope of protein-only data</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R2-P1 · New genes at simple-to-complex steps?</a:t>
            </a:r>
            <a:endParaRPr lang="en-US" sz="3200" dirty="0"/>
          </a:p>
        </p:txBody>
      </p:sp>
      <p:pic>
        <p:nvPicPr>
          <p:cNvPr id="4" name="hyp_r2_p1.png" descr="Schematic of hypothesis R2-P1 · New genes at simple-to-complex steps?">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Knoll 2011; Bowles et al. 2020; Merényi et al. 2020; Nagy et al. 2018; Herron &amp; Michod 2008; Lindsey et al. 2021</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Four unseen simple → complex events carry more sequence-novel families than matched controls.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Round-1 lead at nested events (1.9–3.3×); land-plant bursts; convergent expansions in complex fungi.</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Power 18–41%; two events are single-species tips; three share one panel's controls.</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5"/>
          </a:solidFill>
          <a:ln w="12700">
            <a:solidFill>
              <a:schemeClr val="accent5"/>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tx1"/>
                </a:solidFill>
              </a:rPr>
              <a:t>NOT SIGNIFICANT</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combined p = 0.050 (Holm 0.10); internal-only 2.8× [1.3–5.9], exploratory</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R2-P2 · More motif-binding domains?</a:t>
            </a:r>
            <a:endParaRPr lang="en-US" sz="3200" dirty="0"/>
          </a:p>
        </p:txBody>
      </p:sp>
      <p:pic>
        <p:nvPicPr>
          <p:cNvPr id="4" name="hyp_r2_p2.png" descr="Schematic of hypothesis R2-P2 · More motif-binding domains?">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Kumar et al. 2024 (ELM resource)</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Domains binding short linear motifs (SH2, SH3, PDZ, WW, 14-3-3…) are more abundant in multicellular genomes.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Proposed to expand with regulatory complexity; 115 families fixed from ELM before testing.</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Expansion only within animals; contraction in hyphal fungi.</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4"/>
          </a:solidFill>
          <a:ln w="12700">
            <a:solidFill>
              <a:schemeClr val="accent4"/>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bg1"/>
                </a:solidFill>
              </a:rPr>
              <a:t>NULL</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0.98-fold, p = 0.72; 6 of 7 leave-one-out estimates negative</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R2-P3 · More cell-death machinery?</a:t>
            </a:r>
            <a:endParaRPr lang="en-US" sz="3200" dirty="0"/>
          </a:p>
        </p:txBody>
      </p:sp>
      <p:pic>
        <p:nvPicPr>
          <p:cNvPr id="4" name="hyp_r2_p3.png" descr="Schematic of hypothesis R2-P3 · More cell-death machinery?">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Durand et al. 2016; Iranzo et al. 2014; Klim et al. 2018; Jones &amp; Dangl 2006; Dyrka et al. 2014</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Multicellular genomes carry more programmed-cell-death proteins than expected for proteome size.</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Cell death can benefit relatives; a joint origin with virus arms races has been proposed.</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Size-dependent; mostly immune receptors; core apoptosis machinery already in the common ancestor of eukaryotes.</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2"/>
          </a:solidFill>
          <a:ln w="12700">
            <a:solidFill>
              <a:schemeClr val="accent2"/>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bg1"/>
                </a:solidFill>
              </a:rPr>
              <a:t>SUPPORTED</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1.21× [1.04–1.42], Holm p = 0.014; mainly complex lineages</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R2 · Structural novelty and constraint</a:t>
            </a:r>
            <a:endParaRPr lang="en-US" sz="3200" dirty="0"/>
          </a:p>
        </p:txBody>
      </p:sp>
      <p:pic>
        <p:nvPicPr>
          <p:cNvPr id="4" name="hyp_r2_struct.png" descr="Schematic of hypothesis R2 · Structural novelty and constraint">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Weisman et al. 2020; van Kempen et al. 2024; Heinzinger et al. 2024; Lynch &amp; Conery 2003</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Families new at events lack structural relatives; structure changes faster per sequence change in multicellular clades.</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Folds outlast sequences; ProstT5 + Foldseek make proteome-scale structural search feasible.</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'No match' tracks short, disordered proteins; a shuffled-letter control gave the same 'effect'.</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4"/>
          </a:solidFill>
          <a:ln w="12700">
            <a:solidFill>
              <a:schemeClr val="accent4"/>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bg1"/>
                </a:solidFill>
              </a:rPr>
              <a:t>OVERTURNED / INCONCLUSIVE</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OR 1.44 → 1.18 [0.93–1.49] after adjustment; divergence test inconclusive</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R2 · Protein complexes kept or duplicated?</a:t>
            </a:r>
            <a:endParaRPr lang="en-US" sz="3200" dirty="0"/>
          </a:p>
        </p:txBody>
      </p:sp>
      <p:pic>
        <p:nvPicPr>
          <p:cNvPr id="4" name="hyp_r2_complex.png" descr="Schematic of hypothesis R2 · Protein complexes kept or duplicated?">    </p:cNvPr>
          <p:cNvPicPr>
            <a:picLocks noChangeAspect="1"/>
          </p:cNvPicPr>
          <p:nvPr/>
        </p:nvPicPr>
        <p:blipFill>
          <a:blip r:embed="rId1"/>
          <a:stretch>
            <a:fillRect/>
          </a:stretch>
        </p:blipFill>
        <p:spPr>
          <a:xfrm>
            <a:off x="416384" y="1188720"/>
            <a:ext cx="5750912" cy="3246120"/>
          </a:xfrm>
          <a:prstGeom prst="rect">
            <a:avLst/>
          </a:prstGeom>
        </p:spPr>
      </p:pic>
      <p:sp>
        <p:nvSpPr>
          <p:cNvPr id="5" name="literature-box"/>
          <p:cNvSpPr/>
          <p:nvPr/>
        </p:nvSpPr>
        <p:spPr>
          <a:xfrm>
            <a:off x="548640" y="4617720"/>
            <a:ext cx="5486400" cy="1600200"/>
          </a:xfrm>
          <a:prstGeom prst="roundRect">
            <a:avLst>
              <a:gd name="adj" fmla="val 6857"/>
            </a:avLst>
          </a:prstGeom>
          <a:solidFill>
            <a:schemeClr val="bg2"/>
          </a:solidFill>
          <a:ln w="12700">
            <a:solidFill>
              <a:schemeClr val="bg2"/>
            </a:solidFill>
            <a:prstDash val="solid"/>
          </a:ln>
        </p:spPr>
      </p:sp>
      <p:sp>
        <p:nvSpPr>
          <p:cNvPr id="6" name="icon-circle-FaBookOpen"/>
          <p:cNvSpPr/>
          <p:nvPr/>
        </p:nvSpPr>
        <p:spPr>
          <a:xfrm>
            <a:off x="685800" y="4754880"/>
            <a:ext cx="502920" cy="502920"/>
          </a:xfrm>
          <a:prstGeom prst="ellipse">
            <a:avLst/>
          </a:prstGeom>
          <a:solidFill>
            <a:schemeClr val="tx2"/>
          </a:solidFill>
          <a:ln w="12700">
            <a:solidFill>
              <a:schemeClr val="tx2"/>
            </a:solidFill>
            <a:prstDash val="solid"/>
          </a:ln>
        </p:spPr>
      </p:sp>
      <p:pic>
        <p:nvPicPr>
          <p:cNvPr id="7" name="icon-FaBookOpen" descr="FaBookOpen">    </p:cNvPr>
          <p:cNvPicPr>
            <a:picLocks noChangeAspect="1"/>
          </p:cNvPicPr>
          <p:nvPr/>
        </p:nvPicPr>
        <p:blipFill>
          <a:blip r:embed="rId2"/>
          <a:stretch>
            <a:fillRect/>
          </a:stretch>
        </p:blipFill>
        <p:spPr>
          <a:xfrm>
            <a:off x="806501" y="4875581"/>
            <a:ext cx="261518" cy="261518"/>
          </a:xfrm>
          <a:prstGeom prst="rect">
            <a:avLst/>
          </a:prstGeom>
        </p:spPr>
      </p:pic>
      <p:sp>
        <p:nvSpPr>
          <p:cNvPr id="8" name="Text 3"/>
          <p:cNvSpPr txBox="1"/>
          <p:nvPr/>
        </p:nvSpPr>
        <p:spPr>
          <a:xfrm>
            <a:off x="1325880" y="4681728"/>
            <a:ext cx="4572000" cy="1463040"/>
          </a:xfrm>
          <a:prstGeom prst="rect">
            <a:avLst/>
          </a:prstGeom>
          <a:noFill/>
          <a:ln/>
        </p:spPr>
        <p:txBody>
          <a:bodyPr wrap="square" lIns="0" tIns="0" rIns="0" bIns="0" rtlCol="0" anchor="t"/>
          <a:lstStyle/>
          <a:p>
            <a:pPr indent="0" marL="0">
              <a:buNone/>
            </a:pPr>
            <a:r>
              <a:rPr lang="en-US" sz="1200" b="1" dirty="0">
                <a:solidFill>
                  <a:schemeClr val="tx2"/>
                </a:solidFill>
              </a:rPr>
              <a:t>Literature  </a:t>
            </a:r>
            <a:pPr indent="0" marL="0">
              <a:buNone/>
            </a:pPr>
            <a:r>
              <a:rPr lang="en-US" sz="1200" dirty="0">
                <a:solidFill>
                  <a:schemeClr val="tx1"/>
                </a:solidFill>
              </a:rPr>
              <a:t>Cox et al. 2026 (Marcotte lab; preprint Cox et al. 2024)</a:t>
            </a:r>
            <a:endParaRPr lang="en-US" sz="1200" dirty="0"/>
          </a:p>
        </p:txBody>
      </p:sp>
      <p:sp>
        <p:nvSpPr>
          <p:cNvPr id="9" name="Text 4"/>
          <p:cNvSpPr txBox="1"/>
          <p:nvPr/>
        </p:nvSpPr>
        <p:spPr>
          <a:xfrm>
            <a:off x="6446520" y="1234440"/>
            <a:ext cx="5212080" cy="1005840"/>
          </a:xfrm>
          <a:prstGeom prst="rect">
            <a:avLst/>
          </a:prstGeom>
          <a:noFill/>
          <a:ln/>
        </p:spPr>
        <p:txBody>
          <a:bodyPr wrap="square" lIns="0" tIns="0" rIns="0" bIns="0" rtlCol="0" anchor="t"/>
          <a:lstStyle/>
          <a:p>
            <a:pPr indent="0" marL="0">
              <a:buNone/>
            </a:pPr>
            <a:r>
              <a:rPr lang="en-US" sz="1500" b="1" dirty="0">
                <a:solidFill>
                  <a:schemeClr val="accent1"/>
                </a:solidFill>
              </a:rPr>
              <a:t>Predicts  </a:t>
            </a:r>
            <a:pPr indent="0" marL="0">
              <a:buNone/>
            </a:pPr>
            <a:r>
              <a:rPr lang="en-US" sz="1500" dirty="0">
                <a:solidFill>
                  <a:schemeClr val="tx1"/>
                </a:solidFill>
              </a:rPr>
              <a:t>Duplications on multicellular stems hit subunits of ancient complexes; complexes stay intact more often.</a:t>
            </a:r>
            <a:endParaRPr lang="en-US" sz="1500" dirty="0"/>
          </a:p>
        </p:txBody>
      </p:sp>
      <p:sp>
        <p:nvSpPr>
          <p:cNvPr id="10" name="pros"/>
          <p:cNvSpPr/>
          <p:nvPr/>
        </p:nvSpPr>
        <p:spPr>
          <a:xfrm>
            <a:off x="6446520" y="2331720"/>
            <a:ext cx="5212080" cy="1234440"/>
          </a:xfrm>
          <a:prstGeom prst="roundRect">
            <a:avLst>
              <a:gd name="adj" fmla="val 8889"/>
            </a:avLst>
          </a:prstGeom>
          <a:solidFill>
            <a:schemeClr val="bg2"/>
          </a:solidFill>
          <a:ln w="12700">
            <a:solidFill>
              <a:schemeClr val="bg2"/>
            </a:solidFill>
            <a:prstDash val="solid"/>
          </a:ln>
        </p:spPr>
      </p:sp>
      <p:sp>
        <p:nvSpPr>
          <p:cNvPr id="11" name="icon-circle-FaThumbsUp"/>
          <p:cNvSpPr/>
          <p:nvPr/>
        </p:nvSpPr>
        <p:spPr>
          <a:xfrm>
            <a:off x="6583680" y="2487168"/>
            <a:ext cx="502920" cy="502920"/>
          </a:xfrm>
          <a:prstGeom prst="ellipse">
            <a:avLst/>
          </a:prstGeom>
          <a:solidFill>
            <a:schemeClr val="accent2"/>
          </a:solidFill>
          <a:ln w="12700">
            <a:solidFill>
              <a:schemeClr val="accent2"/>
            </a:solidFill>
            <a:prstDash val="solid"/>
          </a:ln>
        </p:spPr>
      </p:sp>
      <p:pic>
        <p:nvPicPr>
          <p:cNvPr id="12" name="icon-FaThumbsUp" descr="FaThumbsUp">    </p:cNvPr>
          <p:cNvPicPr>
            <a:picLocks noChangeAspect="1"/>
          </p:cNvPicPr>
          <p:nvPr/>
        </p:nvPicPr>
        <p:blipFill>
          <a:blip r:embed="rId3"/>
          <a:stretch>
            <a:fillRect/>
          </a:stretch>
        </p:blipFill>
        <p:spPr>
          <a:xfrm>
            <a:off x="6704381" y="2607869"/>
            <a:ext cx="261518" cy="261518"/>
          </a:xfrm>
          <a:prstGeom prst="rect">
            <a:avLst/>
          </a:prstGeom>
        </p:spPr>
      </p:pic>
      <p:sp>
        <p:nvSpPr>
          <p:cNvPr id="13" name="Text 7"/>
          <p:cNvSpPr txBox="1"/>
          <p:nvPr/>
        </p:nvSpPr>
        <p:spPr>
          <a:xfrm>
            <a:off x="7223760" y="23774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LECA interactome from co-fractionation mass spectrometry across 31 species.</a:t>
            </a:r>
            <a:endParaRPr lang="en-US" sz="1400" dirty="0"/>
          </a:p>
        </p:txBody>
      </p:sp>
      <p:sp>
        <p:nvSpPr>
          <p:cNvPr id="14" name="cons"/>
          <p:cNvSpPr/>
          <p:nvPr/>
        </p:nvSpPr>
        <p:spPr>
          <a:xfrm>
            <a:off x="6446520" y="3703320"/>
            <a:ext cx="5212080" cy="1234440"/>
          </a:xfrm>
          <a:prstGeom prst="roundRect">
            <a:avLst>
              <a:gd name="adj" fmla="val 8889"/>
            </a:avLst>
          </a:prstGeom>
          <a:solidFill>
            <a:schemeClr val="bg2"/>
          </a:solidFill>
          <a:ln w="12700">
            <a:solidFill>
              <a:schemeClr val="bg2"/>
            </a:solidFill>
            <a:prstDash val="solid"/>
          </a:ln>
        </p:spPr>
      </p:sp>
      <p:sp>
        <p:nvSpPr>
          <p:cNvPr id="15" name="icon-circle-FaThumbsDown"/>
          <p:cNvSpPr/>
          <p:nvPr/>
        </p:nvSpPr>
        <p:spPr>
          <a:xfrm>
            <a:off x="6583680" y="3858768"/>
            <a:ext cx="502920" cy="502920"/>
          </a:xfrm>
          <a:prstGeom prst="ellipse">
            <a:avLst/>
          </a:prstGeom>
          <a:solidFill>
            <a:schemeClr val="accent4"/>
          </a:solidFill>
          <a:ln w="12700">
            <a:solidFill>
              <a:schemeClr val="accent4"/>
            </a:solidFill>
            <a:prstDash val="solid"/>
          </a:ln>
        </p:spPr>
      </p:sp>
      <p:pic>
        <p:nvPicPr>
          <p:cNvPr id="16" name="icon-FaThumbsDown" descr="FaThumbsDown">    </p:cNvPr>
          <p:cNvPicPr>
            <a:picLocks noChangeAspect="1"/>
          </p:cNvPicPr>
          <p:nvPr/>
        </p:nvPicPr>
        <p:blipFill>
          <a:blip r:embed="rId4"/>
          <a:stretch>
            <a:fillRect/>
          </a:stretch>
        </p:blipFill>
        <p:spPr>
          <a:xfrm>
            <a:off x="6704381" y="3979469"/>
            <a:ext cx="261518" cy="261518"/>
          </a:xfrm>
          <a:prstGeom prst="rect">
            <a:avLst/>
          </a:prstGeom>
        </p:spPr>
      </p:pic>
      <p:sp>
        <p:nvSpPr>
          <p:cNvPr id="17" name="Text 10"/>
          <p:cNvSpPr txBox="1"/>
          <p:nvPr/>
        </p:nvSpPr>
        <p:spPr>
          <a:xfrm>
            <a:off x="7223760" y="3749040"/>
            <a:ext cx="4297680" cy="1143000"/>
          </a:xfrm>
          <a:prstGeom prst="rect">
            <a:avLst/>
          </a:prstGeom>
          <a:noFill/>
          <a:ln/>
        </p:spPr>
        <p:txBody>
          <a:bodyPr wrap="square" lIns="0" tIns="0" rIns="0" bIns="0" rtlCol="0" anchor="ctr"/>
          <a:lstStyle/>
          <a:p>
            <a:pPr indent="0" marL="0">
              <a:buNone/>
            </a:pPr>
            <a:r>
              <a:rPr lang="en-US" sz="1400" dirty="0">
                <a:solidFill>
                  <a:schemeClr val="tx1"/>
                </a:solidFill>
              </a:rPr>
              <a:t>Map holds only ancient complexes; 13 mappable species; duplication counts depend on the method.</a:t>
            </a:r>
            <a:endParaRPr lang="en-US" sz="1400" dirty="0"/>
          </a:p>
        </p:txBody>
      </p:sp>
      <p:sp>
        <p:nvSpPr>
          <p:cNvPr id="18" name="verdict-badge"/>
          <p:cNvSpPr/>
          <p:nvPr/>
        </p:nvSpPr>
        <p:spPr>
          <a:xfrm>
            <a:off x="6446520" y="5120640"/>
            <a:ext cx="3017520" cy="384048"/>
          </a:xfrm>
          <a:prstGeom prst="roundRect">
            <a:avLst>
              <a:gd name="adj" fmla="val 47619"/>
            </a:avLst>
          </a:prstGeom>
          <a:solidFill>
            <a:schemeClr val="accent4"/>
          </a:solidFill>
          <a:ln w="12700">
            <a:solidFill>
              <a:schemeClr val="accent4"/>
            </a:solidFill>
            <a:prstDash val="solid"/>
          </a:ln>
        </p:spPr>
      </p:sp>
      <p:sp>
        <p:nvSpPr>
          <p:cNvPr id="19" name="Text 12"/>
          <p:cNvSpPr txBox="1"/>
          <p:nvPr/>
        </p:nvSpPr>
        <p:spPr>
          <a:xfrm>
            <a:off x="6446520" y="5120640"/>
            <a:ext cx="3017520" cy="384048"/>
          </a:xfrm>
          <a:prstGeom prst="rect">
            <a:avLst/>
          </a:prstGeom>
          <a:noFill/>
          <a:ln/>
        </p:spPr>
        <p:txBody>
          <a:bodyPr wrap="square" lIns="0" tIns="0" rIns="0" bIns="0" rtlCol="0" anchor="ctr"/>
          <a:lstStyle/>
          <a:p>
            <a:pPr algn="ctr" indent="0" marL="0">
              <a:buNone/>
            </a:pPr>
            <a:r>
              <a:rPr lang="en-US" sz="1300" b="1" dirty="0">
                <a:solidFill>
                  <a:schemeClr val="bg1"/>
                </a:solidFill>
              </a:rPr>
              <a:t>NULL</a:t>
            </a:r>
            <a:endParaRPr lang="en-US" sz="1300" dirty="0"/>
          </a:p>
        </p:txBody>
      </p:sp>
      <p:sp>
        <p:nvSpPr>
          <p:cNvPr id="20" name="Text 13"/>
          <p:cNvSpPr txBox="1"/>
          <p:nvPr/>
        </p:nvSpPr>
        <p:spPr>
          <a:xfrm>
            <a:off x="6446520" y="5577840"/>
            <a:ext cx="5212080" cy="685800"/>
          </a:xfrm>
          <a:prstGeom prst="rect">
            <a:avLst/>
          </a:prstGeom>
          <a:noFill/>
          <a:ln/>
        </p:spPr>
        <p:txBody>
          <a:bodyPr wrap="square" lIns="0" tIns="0" rIns="0" bIns="0" rtlCol="0" anchor="t"/>
          <a:lstStyle/>
          <a:p>
            <a:pPr indent="0" marL="0">
              <a:buNone/>
            </a:pPr>
            <a:r>
              <a:rPr lang="en-US" sz="1400" b="1" dirty="0">
                <a:solidFill>
                  <a:schemeClr val="tx2"/>
                </a:solidFill>
              </a:rPr>
              <a:t>66.6% (animals), 72.1% (fungi) vs 63.6% controls; none enriched after correction</a:t>
            </a:r>
            <a:endParaRPr lang="en-US" sz="14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H</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Decisions that transfer</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What this project did, what went wrong, and what future projects should copy</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From this project to future projects</a:t>
            </a:r>
            <a:endParaRPr lang="en-US" sz="3200" dirty="0"/>
          </a:p>
        </p:txBody>
      </p:sp>
      <p:sp>
        <p:nvSpPr>
          <p:cNvPr id="4" name="Text 1"/>
          <p:cNvSpPr txBox="1"/>
          <p:nvPr/>
        </p:nvSpPr>
        <p:spPr>
          <a:xfrm>
            <a:off x="548640" y="1188720"/>
            <a:ext cx="4937760" cy="411480"/>
          </a:xfrm>
          <a:prstGeom prst="rect">
            <a:avLst/>
          </a:prstGeom>
          <a:noFill/>
          <a:ln/>
        </p:spPr>
        <p:txBody>
          <a:bodyPr wrap="square" lIns="0" tIns="0" rIns="0" bIns="0" rtlCol="0" anchor="t"/>
          <a:lstStyle/>
          <a:p>
            <a:pPr indent="0" marL="0">
              <a:buNone/>
            </a:pPr>
            <a:r>
              <a:rPr lang="en-US" sz="1800" b="1" dirty="0">
                <a:solidFill>
                  <a:schemeClr val="accent1"/>
                </a:solidFill>
              </a:rPr>
              <a:t>This project</a:t>
            </a:r>
            <a:endParaRPr lang="en-US" sz="1800" dirty="0"/>
          </a:p>
        </p:txBody>
      </p:sp>
      <p:sp>
        <p:nvSpPr>
          <p:cNvPr id="5" name="Text 2"/>
          <p:cNvSpPr txBox="1"/>
          <p:nvPr/>
        </p:nvSpPr>
        <p:spPr>
          <a:xfrm>
            <a:off x="6675120" y="1188720"/>
            <a:ext cx="4937760" cy="411480"/>
          </a:xfrm>
          <a:prstGeom prst="rect">
            <a:avLst/>
          </a:prstGeom>
          <a:noFill/>
          <a:ln/>
        </p:spPr>
        <p:txBody>
          <a:bodyPr wrap="square" lIns="0" tIns="0" rIns="0" bIns="0" rtlCol="0" anchor="t"/>
          <a:lstStyle/>
          <a:p>
            <a:pPr indent="0" marL="0">
              <a:buNone/>
            </a:pPr>
            <a:r>
              <a:rPr lang="en-US" sz="1800" b="1" dirty="0">
                <a:solidFill>
                  <a:schemeClr val="accent4"/>
                </a:solidFill>
              </a:rPr>
              <a:t>Future projects</a:t>
            </a:r>
            <a:endParaRPr lang="en-US" sz="1800" dirty="0"/>
          </a:p>
        </p:txBody>
      </p:sp>
      <p:sp>
        <p:nvSpPr>
          <p:cNvPr id="6" name="icon-circle-FaLock"/>
          <p:cNvSpPr/>
          <p:nvPr/>
        </p:nvSpPr>
        <p:spPr>
          <a:xfrm>
            <a:off x="548640" y="1691640"/>
            <a:ext cx="512064" cy="512064"/>
          </a:xfrm>
          <a:prstGeom prst="ellipse">
            <a:avLst/>
          </a:prstGeom>
          <a:solidFill>
            <a:schemeClr val="accent1"/>
          </a:solidFill>
          <a:ln w="12700">
            <a:solidFill>
              <a:schemeClr val="accent1"/>
            </a:solidFill>
            <a:prstDash val="solid"/>
          </a:ln>
        </p:spPr>
      </p:sp>
      <p:pic>
        <p:nvPicPr>
          <p:cNvPr id="7" name="icon-FaLock" descr="FaLock">    </p:cNvPr>
          <p:cNvPicPr>
            <a:picLocks noChangeAspect="1"/>
          </p:cNvPicPr>
          <p:nvPr/>
        </p:nvPicPr>
        <p:blipFill>
          <a:blip r:embed="rId1"/>
          <a:stretch>
            <a:fillRect/>
          </a:stretch>
        </p:blipFill>
        <p:spPr>
          <a:xfrm>
            <a:off x="671535" y="1814535"/>
            <a:ext cx="266273" cy="266273"/>
          </a:xfrm>
          <a:prstGeom prst="rect">
            <a:avLst/>
          </a:prstGeom>
        </p:spPr>
      </p:pic>
      <p:sp>
        <p:nvSpPr>
          <p:cNvPr id="8" name="this-row"/>
          <p:cNvSpPr/>
          <p:nvPr/>
        </p:nvSpPr>
        <p:spPr>
          <a:xfrm>
            <a:off x="1188720" y="1691640"/>
            <a:ext cx="4526280" cy="512064"/>
          </a:xfrm>
          <a:prstGeom prst="roundRect">
            <a:avLst>
              <a:gd name="adj" fmla="val 21429"/>
            </a:avLst>
          </a:prstGeom>
          <a:solidFill>
            <a:schemeClr val="bg2"/>
          </a:solidFill>
          <a:ln w="12700">
            <a:solidFill>
              <a:schemeClr val="bg2"/>
            </a:solidFill>
            <a:prstDash val="solid"/>
          </a:ln>
        </p:spPr>
      </p:sp>
      <p:sp>
        <p:nvSpPr>
          <p:cNvPr id="9" name="Text 5"/>
          <p:cNvSpPr txBox="1"/>
          <p:nvPr/>
        </p:nvSpPr>
        <p:spPr>
          <a:xfrm>
            <a:off x="1325880" y="1691640"/>
            <a:ext cx="4297680" cy="512064"/>
          </a:xfrm>
          <a:prstGeom prst="rect">
            <a:avLst/>
          </a:prstGeom>
          <a:noFill/>
          <a:ln/>
        </p:spPr>
        <p:txBody>
          <a:bodyPr wrap="square" lIns="0" tIns="0" rIns="0" bIns="0" rtlCol="0" anchor="ctr"/>
          <a:lstStyle/>
          <a:p>
            <a:pPr indent="0" marL="0">
              <a:buNone/>
            </a:pPr>
            <a:r>
              <a:rPr lang="en-US" sz="1400" dirty="0">
                <a:solidFill>
                  <a:schemeClr val="tx1"/>
                </a:solidFill>
              </a:rPr>
              <a:t>Hashed pre-registration, 3 tags</a:t>
            </a:r>
            <a:endParaRPr lang="en-US" sz="1400" dirty="0"/>
          </a:p>
        </p:txBody>
      </p:sp>
      <p:sp>
        <p:nvSpPr>
          <p:cNvPr id="10" name="arrow"/>
          <p:cNvSpPr/>
          <p:nvPr/>
        </p:nvSpPr>
        <p:spPr>
          <a:xfrm>
            <a:off x="5806440" y="1947672"/>
            <a:ext cx="731520" cy="914"/>
          </a:xfrm>
          <a:prstGeom prst="line">
            <a:avLst/>
          </a:prstGeom>
          <a:noFill/>
          <a:ln w="28575">
            <a:solidFill>
              <a:schemeClr val="accent4"/>
            </a:solidFill>
            <a:prstDash val="solid"/>
            <a:tailEnd type="triangle"/>
          </a:ln>
        </p:spPr>
      </p:sp>
      <p:sp>
        <p:nvSpPr>
          <p:cNvPr id="11" name="future-row"/>
          <p:cNvSpPr/>
          <p:nvPr/>
        </p:nvSpPr>
        <p:spPr>
          <a:xfrm>
            <a:off x="6675120" y="1691640"/>
            <a:ext cx="4983480" cy="512064"/>
          </a:xfrm>
          <a:prstGeom prst="roundRect">
            <a:avLst>
              <a:gd name="adj" fmla="val 21429"/>
            </a:avLst>
          </a:prstGeom>
          <a:solidFill>
            <a:schemeClr val="accent1"/>
          </a:solidFill>
          <a:ln w="12700">
            <a:solidFill>
              <a:schemeClr val="accent1"/>
            </a:solidFill>
            <a:prstDash val="solid"/>
          </a:ln>
        </p:spPr>
      </p:sp>
      <p:sp>
        <p:nvSpPr>
          <p:cNvPr id="12" name="Text 8"/>
          <p:cNvSpPr txBox="1"/>
          <p:nvPr/>
        </p:nvSpPr>
        <p:spPr>
          <a:xfrm>
            <a:off x="6812280" y="1691640"/>
            <a:ext cx="4754880" cy="512064"/>
          </a:xfrm>
          <a:prstGeom prst="rect">
            <a:avLst/>
          </a:prstGeom>
          <a:noFill/>
          <a:ln/>
        </p:spPr>
        <p:txBody>
          <a:bodyPr wrap="square" lIns="0" tIns="0" rIns="0" bIns="0" rtlCol="0" anchor="ctr"/>
          <a:lstStyle/>
          <a:p>
            <a:pPr indent="0" marL="0">
              <a:buNone/>
            </a:pPr>
            <a:r>
              <a:rPr lang="en-US" sz="1400" b="1" dirty="0">
                <a:solidFill>
                  <a:schemeClr val="bg1"/>
                </a:solidFill>
              </a:rPr>
              <a:t>Label tests with &lt; 40% power as estimation</a:t>
            </a:r>
            <a:endParaRPr lang="en-US" sz="1400" dirty="0"/>
          </a:p>
        </p:txBody>
      </p:sp>
      <p:sp>
        <p:nvSpPr>
          <p:cNvPr id="13" name="icon-circle-FaVial"/>
          <p:cNvSpPr/>
          <p:nvPr/>
        </p:nvSpPr>
        <p:spPr>
          <a:xfrm>
            <a:off x="548640" y="2331720"/>
            <a:ext cx="512064" cy="512064"/>
          </a:xfrm>
          <a:prstGeom prst="ellipse">
            <a:avLst/>
          </a:prstGeom>
          <a:solidFill>
            <a:schemeClr val="accent1"/>
          </a:solidFill>
          <a:ln w="12700">
            <a:solidFill>
              <a:schemeClr val="accent1"/>
            </a:solidFill>
            <a:prstDash val="solid"/>
          </a:ln>
        </p:spPr>
      </p:sp>
      <p:pic>
        <p:nvPicPr>
          <p:cNvPr id="14" name="icon-FaVial" descr="FaVial">    </p:cNvPr>
          <p:cNvPicPr>
            <a:picLocks noChangeAspect="1"/>
          </p:cNvPicPr>
          <p:nvPr/>
        </p:nvPicPr>
        <p:blipFill>
          <a:blip r:embed="rId2"/>
          <a:stretch>
            <a:fillRect/>
          </a:stretch>
        </p:blipFill>
        <p:spPr>
          <a:xfrm>
            <a:off x="671535" y="2454615"/>
            <a:ext cx="266273" cy="266273"/>
          </a:xfrm>
          <a:prstGeom prst="rect">
            <a:avLst/>
          </a:prstGeom>
        </p:spPr>
      </p:pic>
      <p:sp>
        <p:nvSpPr>
          <p:cNvPr id="15" name="this-row"/>
          <p:cNvSpPr/>
          <p:nvPr/>
        </p:nvSpPr>
        <p:spPr>
          <a:xfrm>
            <a:off x="1188720" y="2331720"/>
            <a:ext cx="4526280" cy="512064"/>
          </a:xfrm>
          <a:prstGeom prst="roundRect">
            <a:avLst>
              <a:gd name="adj" fmla="val 21429"/>
            </a:avLst>
          </a:prstGeom>
          <a:solidFill>
            <a:schemeClr val="bg2"/>
          </a:solidFill>
          <a:ln w="12700">
            <a:solidFill>
              <a:schemeClr val="bg2"/>
            </a:solidFill>
            <a:prstDash val="solid"/>
          </a:ln>
        </p:spPr>
      </p:sp>
      <p:sp>
        <p:nvSpPr>
          <p:cNvPr id="16" name="Text 11"/>
          <p:cNvSpPr txBox="1"/>
          <p:nvPr/>
        </p:nvSpPr>
        <p:spPr>
          <a:xfrm>
            <a:off x="1325880" y="2331720"/>
            <a:ext cx="4297680" cy="512064"/>
          </a:xfrm>
          <a:prstGeom prst="rect">
            <a:avLst/>
          </a:prstGeom>
          <a:noFill/>
          <a:ln/>
        </p:spPr>
        <p:txBody>
          <a:bodyPr wrap="square" lIns="0" tIns="0" rIns="0" bIns="0" rtlCol="0" anchor="ctr"/>
          <a:lstStyle/>
          <a:p>
            <a:pPr indent="0" marL="0">
              <a:buNone/>
            </a:pPr>
            <a:r>
              <a:rPr lang="en-US" sz="1400" dirty="0">
                <a:solidFill>
                  <a:schemeClr val="tx1"/>
                </a:solidFill>
              </a:rPr>
              <a:t>Calibrated on simulations (2.1–2.6×)</a:t>
            </a:r>
            <a:endParaRPr lang="en-US" sz="1400" dirty="0"/>
          </a:p>
        </p:txBody>
      </p:sp>
      <p:sp>
        <p:nvSpPr>
          <p:cNvPr id="17" name="arrow"/>
          <p:cNvSpPr/>
          <p:nvPr/>
        </p:nvSpPr>
        <p:spPr>
          <a:xfrm>
            <a:off x="5806440" y="2587752"/>
            <a:ext cx="731520" cy="914"/>
          </a:xfrm>
          <a:prstGeom prst="line">
            <a:avLst/>
          </a:prstGeom>
          <a:noFill/>
          <a:ln w="28575">
            <a:solidFill>
              <a:schemeClr val="accent4"/>
            </a:solidFill>
            <a:prstDash val="solid"/>
            <a:tailEnd type="triangle"/>
          </a:ln>
        </p:spPr>
      </p:sp>
      <p:sp>
        <p:nvSpPr>
          <p:cNvPr id="18" name="future-row"/>
          <p:cNvSpPr/>
          <p:nvPr/>
        </p:nvSpPr>
        <p:spPr>
          <a:xfrm>
            <a:off x="6675120" y="2331720"/>
            <a:ext cx="4983480" cy="512064"/>
          </a:xfrm>
          <a:prstGeom prst="roundRect">
            <a:avLst>
              <a:gd name="adj" fmla="val 21429"/>
            </a:avLst>
          </a:prstGeom>
          <a:solidFill>
            <a:schemeClr val="accent1"/>
          </a:solidFill>
          <a:ln w="12700">
            <a:solidFill>
              <a:schemeClr val="accent1"/>
            </a:solidFill>
            <a:prstDash val="solid"/>
          </a:ln>
        </p:spPr>
      </p:sp>
      <p:sp>
        <p:nvSpPr>
          <p:cNvPr id="19" name="Text 14"/>
          <p:cNvSpPr txBox="1"/>
          <p:nvPr/>
        </p:nvSpPr>
        <p:spPr>
          <a:xfrm>
            <a:off x="6812280" y="2331720"/>
            <a:ext cx="4754880" cy="512064"/>
          </a:xfrm>
          <a:prstGeom prst="rect">
            <a:avLst/>
          </a:prstGeom>
          <a:noFill/>
          <a:ln/>
        </p:spPr>
        <p:txBody>
          <a:bodyPr wrap="square" lIns="0" tIns="0" rIns="0" bIns="0" rtlCol="0" anchor="ctr"/>
          <a:lstStyle/>
          <a:p>
            <a:pPr indent="0" marL="0">
              <a:buNone/>
            </a:pPr>
            <a:r>
              <a:rPr lang="en-US" sz="1400" b="1" dirty="0">
                <a:solidFill>
                  <a:schemeClr val="bg1"/>
                </a:solidFill>
              </a:rPr>
              <a:t>Pilot every statistic on control-only data</a:t>
            </a:r>
            <a:endParaRPr lang="en-US" sz="1400" dirty="0"/>
          </a:p>
        </p:txBody>
      </p:sp>
      <p:sp>
        <p:nvSpPr>
          <p:cNvPr id="20" name="icon-circle-FaCheckDouble"/>
          <p:cNvSpPr/>
          <p:nvPr/>
        </p:nvSpPr>
        <p:spPr>
          <a:xfrm>
            <a:off x="548640" y="2971800"/>
            <a:ext cx="512064" cy="512064"/>
          </a:xfrm>
          <a:prstGeom prst="ellipse">
            <a:avLst/>
          </a:prstGeom>
          <a:solidFill>
            <a:schemeClr val="accent1"/>
          </a:solidFill>
          <a:ln w="12700">
            <a:solidFill>
              <a:schemeClr val="accent1"/>
            </a:solidFill>
            <a:prstDash val="solid"/>
          </a:ln>
        </p:spPr>
      </p:sp>
      <p:pic>
        <p:nvPicPr>
          <p:cNvPr id="21" name="icon-FaCheckDouble" descr="FaCheckDouble">    </p:cNvPr>
          <p:cNvPicPr>
            <a:picLocks noChangeAspect="1"/>
          </p:cNvPicPr>
          <p:nvPr/>
        </p:nvPicPr>
        <p:blipFill>
          <a:blip r:embed="rId3"/>
          <a:stretch>
            <a:fillRect/>
          </a:stretch>
        </p:blipFill>
        <p:spPr>
          <a:xfrm>
            <a:off x="671535" y="3094695"/>
            <a:ext cx="266273" cy="266273"/>
          </a:xfrm>
          <a:prstGeom prst="rect">
            <a:avLst/>
          </a:prstGeom>
        </p:spPr>
      </p:pic>
      <p:sp>
        <p:nvSpPr>
          <p:cNvPr id="22" name="this-row"/>
          <p:cNvSpPr/>
          <p:nvPr/>
        </p:nvSpPr>
        <p:spPr>
          <a:xfrm>
            <a:off x="1188720" y="2971800"/>
            <a:ext cx="4526280" cy="512064"/>
          </a:xfrm>
          <a:prstGeom prst="roundRect">
            <a:avLst>
              <a:gd name="adj" fmla="val 21429"/>
            </a:avLst>
          </a:prstGeom>
          <a:solidFill>
            <a:schemeClr val="bg2"/>
          </a:solidFill>
          <a:ln w="12700">
            <a:solidFill>
              <a:schemeClr val="bg2"/>
            </a:solidFill>
            <a:prstDash val="solid"/>
          </a:ln>
        </p:spPr>
      </p:sp>
      <p:sp>
        <p:nvSpPr>
          <p:cNvPr id="23" name="Text 17"/>
          <p:cNvSpPr txBox="1"/>
          <p:nvPr/>
        </p:nvSpPr>
        <p:spPr>
          <a:xfrm>
            <a:off x="1325880" y="2971800"/>
            <a:ext cx="4297680" cy="512064"/>
          </a:xfrm>
          <a:prstGeom prst="rect">
            <a:avLst/>
          </a:prstGeom>
          <a:noFill/>
          <a:ln/>
        </p:spPr>
        <p:txBody>
          <a:bodyPr wrap="square" lIns="0" tIns="0" rIns="0" bIns="0" rtlCol="0" anchor="ctr"/>
          <a:lstStyle/>
          <a:p>
            <a:pPr indent="0" marL="0">
              <a:buNone/>
            </a:pPr>
            <a:r>
              <a:rPr lang="en-US" sz="1400" dirty="0">
                <a:solidFill>
                  <a:schemeClr val="tx1"/>
                </a:solidFill>
              </a:rPr>
              <a:t>Adversarial verification: 2 claims overturned</a:t>
            </a:r>
            <a:endParaRPr lang="en-US" sz="1400" dirty="0"/>
          </a:p>
        </p:txBody>
      </p:sp>
      <p:sp>
        <p:nvSpPr>
          <p:cNvPr id="24" name="arrow"/>
          <p:cNvSpPr/>
          <p:nvPr/>
        </p:nvSpPr>
        <p:spPr>
          <a:xfrm>
            <a:off x="5806440" y="3227832"/>
            <a:ext cx="731520" cy="914"/>
          </a:xfrm>
          <a:prstGeom prst="line">
            <a:avLst/>
          </a:prstGeom>
          <a:noFill/>
          <a:ln w="28575">
            <a:solidFill>
              <a:schemeClr val="accent4"/>
            </a:solidFill>
            <a:prstDash val="solid"/>
            <a:tailEnd type="triangle"/>
          </a:ln>
        </p:spPr>
      </p:sp>
      <p:sp>
        <p:nvSpPr>
          <p:cNvPr id="25" name="future-row"/>
          <p:cNvSpPr/>
          <p:nvPr/>
        </p:nvSpPr>
        <p:spPr>
          <a:xfrm>
            <a:off x="6675120" y="2971800"/>
            <a:ext cx="4983480" cy="512064"/>
          </a:xfrm>
          <a:prstGeom prst="roundRect">
            <a:avLst>
              <a:gd name="adj" fmla="val 21429"/>
            </a:avLst>
          </a:prstGeom>
          <a:solidFill>
            <a:schemeClr val="accent1"/>
          </a:solidFill>
          <a:ln w="12700">
            <a:solidFill>
              <a:schemeClr val="accent1"/>
            </a:solidFill>
            <a:prstDash val="solid"/>
          </a:ln>
        </p:spPr>
      </p:sp>
      <p:sp>
        <p:nvSpPr>
          <p:cNvPr id="26" name="Text 20"/>
          <p:cNvSpPr txBox="1"/>
          <p:nvPr/>
        </p:nvSpPr>
        <p:spPr>
          <a:xfrm>
            <a:off x="6812280" y="2971800"/>
            <a:ext cx="4754880" cy="512064"/>
          </a:xfrm>
          <a:prstGeom prst="rect">
            <a:avLst/>
          </a:prstGeom>
          <a:noFill/>
          <a:ln/>
        </p:spPr>
        <p:txBody>
          <a:bodyPr wrap="square" lIns="0" tIns="0" rIns="0" bIns="0" rtlCol="0" anchor="ctr"/>
          <a:lstStyle/>
          <a:p>
            <a:pPr indent="0" marL="0">
              <a:buNone/>
            </a:pPr>
            <a:r>
              <a:rPr lang="en-US" sz="1400" b="1" dirty="0">
                <a:solidFill>
                  <a:schemeClr val="bg1"/>
                </a:solidFill>
              </a:rPr>
              <a:t>Never let authors verify their own work</a:t>
            </a:r>
            <a:endParaRPr lang="en-US" sz="1400" dirty="0"/>
          </a:p>
        </p:txBody>
      </p:sp>
      <p:sp>
        <p:nvSpPr>
          <p:cNvPr id="27" name="icon-circle-FaUserTie"/>
          <p:cNvSpPr/>
          <p:nvPr/>
        </p:nvSpPr>
        <p:spPr>
          <a:xfrm>
            <a:off x="548640" y="3611880"/>
            <a:ext cx="512064" cy="512064"/>
          </a:xfrm>
          <a:prstGeom prst="ellipse">
            <a:avLst/>
          </a:prstGeom>
          <a:solidFill>
            <a:schemeClr val="accent1"/>
          </a:solidFill>
          <a:ln w="12700">
            <a:solidFill>
              <a:schemeClr val="accent1"/>
            </a:solidFill>
            <a:prstDash val="solid"/>
          </a:ln>
        </p:spPr>
      </p:sp>
      <p:pic>
        <p:nvPicPr>
          <p:cNvPr id="28" name="icon-FaUserTie" descr="FaUserTie">    </p:cNvPr>
          <p:cNvPicPr>
            <a:picLocks noChangeAspect="1"/>
          </p:cNvPicPr>
          <p:nvPr/>
        </p:nvPicPr>
        <p:blipFill>
          <a:blip r:embed="rId4"/>
          <a:stretch>
            <a:fillRect/>
          </a:stretch>
        </p:blipFill>
        <p:spPr>
          <a:xfrm>
            <a:off x="671535" y="3734775"/>
            <a:ext cx="266273" cy="266273"/>
          </a:xfrm>
          <a:prstGeom prst="rect">
            <a:avLst/>
          </a:prstGeom>
        </p:spPr>
      </p:pic>
      <p:sp>
        <p:nvSpPr>
          <p:cNvPr id="29" name="this-row"/>
          <p:cNvSpPr/>
          <p:nvPr/>
        </p:nvSpPr>
        <p:spPr>
          <a:xfrm>
            <a:off x="1188720" y="3611880"/>
            <a:ext cx="4526280" cy="512064"/>
          </a:xfrm>
          <a:prstGeom prst="roundRect">
            <a:avLst>
              <a:gd name="adj" fmla="val 21429"/>
            </a:avLst>
          </a:prstGeom>
          <a:solidFill>
            <a:schemeClr val="bg2"/>
          </a:solidFill>
          <a:ln w="12700">
            <a:solidFill>
              <a:schemeClr val="bg2"/>
            </a:solidFill>
            <a:prstDash val="solid"/>
          </a:ln>
        </p:spPr>
      </p:sp>
      <p:sp>
        <p:nvSpPr>
          <p:cNvPr id="30" name="Text 23"/>
          <p:cNvSpPr txBox="1"/>
          <p:nvPr/>
        </p:nvSpPr>
        <p:spPr>
          <a:xfrm>
            <a:off x="1325880" y="3611880"/>
            <a:ext cx="4297680" cy="512064"/>
          </a:xfrm>
          <a:prstGeom prst="rect">
            <a:avLst/>
          </a:prstGeom>
          <a:noFill/>
          <a:ln/>
        </p:spPr>
        <p:txBody>
          <a:bodyPr wrap="square" lIns="0" tIns="0" rIns="0" bIns="0" rtlCol="0" anchor="ctr"/>
          <a:lstStyle/>
          <a:p>
            <a:pPr indent="0" marL="0">
              <a:buNone/>
            </a:pPr>
            <a:r>
              <a:rPr lang="en-US" sz="1400" dirty="0">
                <a:solidFill>
                  <a:schemeClr val="tx1"/>
                </a:solidFill>
              </a:rPr>
              <a:t>Department-head review steered round 2</a:t>
            </a:r>
            <a:endParaRPr lang="en-US" sz="1400" dirty="0"/>
          </a:p>
        </p:txBody>
      </p:sp>
      <p:sp>
        <p:nvSpPr>
          <p:cNvPr id="31" name="arrow"/>
          <p:cNvSpPr/>
          <p:nvPr/>
        </p:nvSpPr>
        <p:spPr>
          <a:xfrm>
            <a:off x="5806440" y="3867912"/>
            <a:ext cx="731520" cy="914"/>
          </a:xfrm>
          <a:prstGeom prst="line">
            <a:avLst/>
          </a:prstGeom>
          <a:noFill/>
          <a:ln w="28575">
            <a:solidFill>
              <a:schemeClr val="accent4"/>
            </a:solidFill>
            <a:prstDash val="solid"/>
            <a:tailEnd type="triangle"/>
          </a:ln>
        </p:spPr>
      </p:sp>
      <p:sp>
        <p:nvSpPr>
          <p:cNvPr id="32" name="future-row"/>
          <p:cNvSpPr/>
          <p:nvPr/>
        </p:nvSpPr>
        <p:spPr>
          <a:xfrm>
            <a:off x="6675120" y="3611880"/>
            <a:ext cx="4983480" cy="512064"/>
          </a:xfrm>
          <a:prstGeom prst="roundRect">
            <a:avLst>
              <a:gd name="adj" fmla="val 21429"/>
            </a:avLst>
          </a:prstGeom>
          <a:solidFill>
            <a:schemeClr val="accent1"/>
          </a:solidFill>
          <a:ln w="12700">
            <a:solidFill>
              <a:schemeClr val="accent1"/>
            </a:solidFill>
            <a:prstDash val="solid"/>
          </a:ln>
        </p:spPr>
      </p:sp>
      <p:sp>
        <p:nvSpPr>
          <p:cNvPr id="33" name="Text 26"/>
          <p:cNvSpPr txBox="1"/>
          <p:nvPr/>
        </p:nvSpPr>
        <p:spPr>
          <a:xfrm>
            <a:off x="6812280" y="3611880"/>
            <a:ext cx="4754880" cy="512064"/>
          </a:xfrm>
          <a:prstGeom prst="rect">
            <a:avLst/>
          </a:prstGeom>
          <a:noFill/>
          <a:ln/>
        </p:spPr>
        <p:txBody>
          <a:bodyPr wrap="square" lIns="0" tIns="0" rIns="0" bIns="0" rtlCol="0" anchor="ctr"/>
          <a:lstStyle/>
          <a:p>
            <a:pPr indent="0" marL="0">
              <a:buNone/>
            </a:pPr>
            <a:r>
              <a:rPr lang="en-US" sz="1400" b="1" dirty="0">
                <a:solidFill>
                  <a:schemeClr val="bg1"/>
                </a:solidFill>
              </a:rPr>
              <a:t>External review at every round boundary</a:t>
            </a:r>
            <a:endParaRPr lang="en-US" sz="1400" dirty="0"/>
          </a:p>
        </p:txBody>
      </p:sp>
      <p:sp>
        <p:nvSpPr>
          <p:cNvPr id="34" name="icon-circle-FaLayerGroup"/>
          <p:cNvSpPr/>
          <p:nvPr/>
        </p:nvSpPr>
        <p:spPr>
          <a:xfrm>
            <a:off x="548640" y="4251960"/>
            <a:ext cx="512064" cy="512064"/>
          </a:xfrm>
          <a:prstGeom prst="ellipse">
            <a:avLst/>
          </a:prstGeom>
          <a:solidFill>
            <a:schemeClr val="accent1"/>
          </a:solidFill>
          <a:ln w="12700">
            <a:solidFill>
              <a:schemeClr val="accent1"/>
            </a:solidFill>
            <a:prstDash val="solid"/>
          </a:ln>
        </p:spPr>
      </p:sp>
      <p:pic>
        <p:nvPicPr>
          <p:cNvPr id="35" name="icon-FaLayerGroup" descr="FaLayerGroup">    </p:cNvPr>
          <p:cNvPicPr>
            <a:picLocks noChangeAspect="1"/>
          </p:cNvPicPr>
          <p:nvPr/>
        </p:nvPicPr>
        <p:blipFill>
          <a:blip r:embed="rId5"/>
          <a:stretch>
            <a:fillRect/>
          </a:stretch>
        </p:blipFill>
        <p:spPr>
          <a:xfrm>
            <a:off x="671535" y="4374855"/>
            <a:ext cx="266273" cy="266273"/>
          </a:xfrm>
          <a:prstGeom prst="rect">
            <a:avLst/>
          </a:prstGeom>
        </p:spPr>
      </p:pic>
      <p:sp>
        <p:nvSpPr>
          <p:cNvPr id="36" name="this-row"/>
          <p:cNvSpPr/>
          <p:nvPr/>
        </p:nvSpPr>
        <p:spPr>
          <a:xfrm>
            <a:off x="1188720" y="4251960"/>
            <a:ext cx="4526280" cy="512064"/>
          </a:xfrm>
          <a:prstGeom prst="roundRect">
            <a:avLst>
              <a:gd name="adj" fmla="val 21429"/>
            </a:avLst>
          </a:prstGeom>
          <a:solidFill>
            <a:schemeClr val="bg2"/>
          </a:solidFill>
          <a:ln w="12700">
            <a:solidFill>
              <a:schemeClr val="bg2"/>
            </a:solidFill>
            <a:prstDash val="solid"/>
          </a:ln>
        </p:spPr>
      </p:sp>
      <p:sp>
        <p:nvSpPr>
          <p:cNvPr id="37" name="Text 29"/>
          <p:cNvSpPr txBox="1"/>
          <p:nvPr/>
        </p:nvSpPr>
        <p:spPr>
          <a:xfrm>
            <a:off x="1325880" y="4251960"/>
            <a:ext cx="4297680" cy="512064"/>
          </a:xfrm>
          <a:prstGeom prst="rect">
            <a:avLst/>
          </a:prstGeom>
          <a:noFill/>
          <a:ln/>
        </p:spPr>
        <p:txBody>
          <a:bodyPr wrap="square" lIns="0" tIns="0" rIns="0" bIns="0" rtlCol="0" anchor="ctr"/>
          <a:lstStyle/>
          <a:p>
            <a:pPr indent="0" marL="0">
              <a:buNone/>
            </a:pPr>
            <a:r>
              <a:rPr lang="en-US" sz="1400" dirty="0">
                <a:solidFill>
                  <a:schemeClr val="tx1"/>
                </a:solidFill>
              </a:rPr>
              <a:t>Dense panels, 15–45 min each</a:t>
            </a:r>
            <a:endParaRPr lang="en-US" sz="1400" dirty="0"/>
          </a:p>
        </p:txBody>
      </p:sp>
      <p:sp>
        <p:nvSpPr>
          <p:cNvPr id="38" name="arrow"/>
          <p:cNvSpPr/>
          <p:nvPr/>
        </p:nvSpPr>
        <p:spPr>
          <a:xfrm>
            <a:off x="5806440" y="4507992"/>
            <a:ext cx="731520" cy="914"/>
          </a:xfrm>
          <a:prstGeom prst="line">
            <a:avLst/>
          </a:prstGeom>
          <a:noFill/>
          <a:ln w="28575">
            <a:solidFill>
              <a:schemeClr val="accent4"/>
            </a:solidFill>
            <a:prstDash val="solid"/>
            <a:tailEnd type="triangle"/>
          </a:ln>
        </p:spPr>
      </p:sp>
      <p:sp>
        <p:nvSpPr>
          <p:cNvPr id="39" name="future-row"/>
          <p:cNvSpPr/>
          <p:nvPr/>
        </p:nvSpPr>
        <p:spPr>
          <a:xfrm>
            <a:off x="6675120" y="4251960"/>
            <a:ext cx="4983480" cy="512064"/>
          </a:xfrm>
          <a:prstGeom prst="roundRect">
            <a:avLst>
              <a:gd name="adj" fmla="val 21429"/>
            </a:avLst>
          </a:prstGeom>
          <a:solidFill>
            <a:schemeClr val="accent1"/>
          </a:solidFill>
          <a:ln w="12700">
            <a:solidFill>
              <a:schemeClr val="accent1"/>
            </a:solidFill>
            <a:prstDash val="solid"/>
          </a:ln>
        </p:spPr>
      </p:sp>
      <p:sp>
        <p:nvSpPr>
          <p:cNvPr id="40" name="Text 32"/>
          <p:cNvSpPr txBox="1"/>
          <p:nvPr/>
        </p:nvSpPr>
        <p:spPr>
          <a:xfrm>
            <a:off x="6812280" y="4251960"/>
            <a:ext cx="4754880" cy="512064"/>
          </a:xfrm>
          <a:prstGeom prst="rect">
            <a:avLst/>
          </a:prstGeom>
          <a:noFill/>
          <a:ln/>
        </p:spPr>
        <p:txBody>
          <a:bodyPr wrap="square" lIns="0" tIns="0" rIns="0" bIns="0" rtlCol="0" anchor="ctr"/>
          <a:lstStyle/>
          <a:p>
            <a:pPr indent="0" marL="0">
              <a:buNone/>
            </a:pPr>
            <a:r>
              <a:rPr lang="en-US" sz="1400" b="1" dirty="0">
                <a:solidFill>
                  <a:schemeClr val="bg1"/>
                </a:solidFill>
              </a:rPr>
              <a:t>Many small runs beat one giant run</a:t>
            </a:r>
            <a:endParaRPr lang="en-US" sz="1400" dirty="0"/>
          </a:p>
        </p:txBody>
      </p:sp>
      <p:sp>
        <p:nvSpPr>
          <p:cNvPr id="41" name="icon-circle-FaExchangeAlt"/>
          <p:cNvSpPr/>
          <p:nvPr/>
        </p:nvSpPr>
        <p:spPr>
          <a:xfrm>
            <a:off x="548640" y="4892040"/>
            <a:ext cx="512064" cy="512064"/>
          </a:xfrm>
          <a:prstGeom prst="ellipse">
            <a:avLst/>
          </a:prstGeom>
          <a:solidFill>
            <a:schemeClr val="accent1"/>
          </a:solidFill>
          <a:ln w="12700">
            <a:solidFill>
              <a:schemeClr val="accent1"/>
            </a:solidFill>
            <a:prstDash val="solid"/>
          </a:ln>
        </p:spPr>
      </p:sp>
      <p:pic>
        <p:nvPicPr>
          <p:cNvPr id="42" name="icon-FaExchangeAlt" descr="FaExchangeAlt">    </p:cNvPr>
          <p:cNvPicPr>
            <a:picLocks noChangeAspect="1"/>
          </p:cNvPicPr>
          <p:nvPr/>
        </p:nvPicPr>
        <p:blipFill>
          <a:blip r:embed="rId6"/>
          <a:stretch>
            <a:fillRect/>
          </a:stretch>
        </p:blipFill>
        <p:spPr>
          <a:xfrm>
            <a:off x="671535" y="5014935"/>
            <a:ext cx="266273" cy="266273"/>
          </a:xfrm>
          <a:prstGeom prst="rect">
            <a:avLst/>
          </a:prstGeom>
        </p:spPr>
      </p:pic>
      <p:sp>
        <p:nvSpPr>
          <p:cNvPr id="43" name="this-row"/>
          <p:cNvSpPr/>
          <p:nvPr/>
        </p:nvSpPr>
        <p:spPr>
          <a:xfrm>
            <a:off x="1188720" y="4892040"/>
            <a:ext cx="4526280" cy="512064"/>
          </a:xfrm>
          <a:prstGeom prst="roundRect">
            <a:avLst>
              <a:gd name="adj" fmla="val 21429"/>
            </a:avLst>
          </a:prstGeom>
          <a:solidFill>
            <a:schemeClr val="bg2"/>
          </a:solidFill>
          <a:ln w="12700">
            <a:solidFill>
              <a:schemeClr val="bg2"/>
            </a:solidFill>
            <a:prstDash val="solid"/>
          </a:ln>
        </p:spPr>
      </p:sp>
      <p:sp>
        <p:nvSpPr>
          <p:cNvPr id="44" name="Text 35"/>
          <p:cNvSpPr txBox="1"/>
          <p:nvPr/>
        </p:nvSpPr>
        <p:spPr>
          <a:xfrm>
            <a:off x="1325880" y="4892040"/>
            <a:ext cx="4297680" cy="512064"/>
          </a:xfrm>
          <a:prstGeom prst="rect">
            <a:avLst/>
          </a:prstGeom>
          <a:noFill/>
          <a:ln/>
        </p:spPr>
        <p:txBody>
          <a:bodyPr wrap="square" lIns="0" tIns="0" rIns="0" bIns="0" rtlCol="0" anchor="ctr"/>
          <a:lstStyle/>
          <a:p>
            <a:pPr indent="0" marL="0">
              <a:buNone/>
            </a:pPr>
            <a:r>
              <a:rPr lang="en-US" sz="1400" dirty="0">
                <a:solidFill>
                  <a:schemeClr val="tx1"/>
                </a:solidFill>
              </a:rPr>
              <a:t>EukaryOMA cross-check (29%)</a:t>
            </a:r>
            <a:endParaRPr lang="en-US" sz="1400" dirty="0"/>
          </a:p>
        </p:txBody>
      </p:sp>
      <p:sp>
        <p:nvSpPr>
          <p:cNvPr id="45" name="arrow"/>
          <p:cNvSpPr/>
          <p:nvPr/>
        </p:nvSpPr>
        <p:spPr>
          <a:xfrm>
            <a:off x="5806440" y="5148072"/>
            <a:ext cx="731520" cy="914"/>
          </a:xfrm>
          <a:prstGeom prst="line">
            <a:avLst/>
          </a:prstGeom>
          <a:noFill/>
          <a:ln w="28575">
            <a:solidFill>
              <a:schemeClr val="accent4"/>
            </a:solidFill>
            <a:prstDash val="solid"/>
            <a:tailEnd type="triangle"/>
          </a:ln>
        </p:spPr>
      </p:sp>
      <p:sp>
        <p:nvSpPr>
          <p:cNvPr id="46" name="future-row"/>
          <p:cNvSpPr/>
          <p:nvPr/>
        </p:nvSpPr>
        <p:spPr>
          <a:xfrm>
            <a:off x="6675120" y="4892040"/>
            <a:ext cx="4983480" cy="512064"/>
          </a:xfrm>
          <a:prstGeom prst="roundRect">
            <a:avLst>
              <a:gd name="adj" fmla="val 21429"/>
            </a:avLst>
          </a:prstGeom>
          <a:solidFill>
            <a:schemeClr val="accent1"/>
          </a:solidFill>
          <a:ln w="12700">
            <a:solidFill>
              <a:schemeClr val="accent1"/>
            </a:solidFill>
            <a:prstDash val="solid"/>
          </a:ln>
        </p:spPr>
      </p:sp>
      <p:sp>
        <p:nvSpPr>
          <p:cNvPr id="47" name="Text 38"/>
          <p:cNvSpPr txBox="1"/>
          <p:nvPr/>
        </p:nvSpPr>
        <p:spPr>
          <a:xfrm>
            <a:off x="6812280" y="4892040"/>
            <a:ext cx="4754880" cy="512064"/>
          </a:xfrm>
          <a:prstGeom prst="rect">
            <a:avLst/>
          </a:prstGeom>
          <a:noFill/>
          <a:ln/>
        </p:spPr>
        <p:txBody>
          <a:bodyPr wrap="square" lIns="0" tIns="0" rIns="0" bIns="0" rtlCol="0" anchor="ctr"/>
          <a:lstStyle/>
          <a:p>
            <a:pPr indent="0" marL="0">
              <a:buNone/>
            </a:pPr>
            <a:r>
              <a:rPr lang="en-US" sz="1400" b="1" dirty="0">
                <a:solidFill>
                  <a:schemeClr val="bg1"/>
                </a:solidFill>
              </a:rPr>
              <a:t>Run a second method on key counts</a:t>
            </a:r>
            <a:endParaRPr lang="en-US" sz="1400" dirty="0"/>
          </a:p>
        </p:txBody>
      </p:sp>
      <p:sp>
        <p:nvSpPr>
          <p:cNvPr id="48" name="icon-circle-FaMicrochip"/>
          <p:cNvSpPr/>
          <p:nvPr/>
        </p:nvSpPr>
        <p:spPr>
          <a:xfrm>
            <a:off x="548640" y="5532120"/>
            <a:ext cx="512064" cy="512064"/>
          </a:xfrm>
          <a:prstGeom prst="ellipse">
            <a:avLst/>
          </a:prstGeom>
          <a:solidFill>
            <a:schemeClr val="accent1"/>
          </a:solidFill>
          <a:ln w="12700">
            <a:solidFill>
              <a:schemeClr val="accent1"/>
            </a:solidFill>
            <a:prstDash val="solid"/>
          </a:ln>
        </p:spPr>
      </p:sp>
      <p:pic>
        <p:nvPicPr>
          <p:cNvPr id="49" name="icon-FaMicrochip" descr="FaMicrochip">    </p:cNvPr>
          <p:cNvPicPr>
            <a:picLocks noChangeAspect="1"/>
          </p:cNvPicPr>
          <p:nvPr/>
        </p:nvPicPr>
        <p:blipFill>
          <a:blip r:embed="rId7"/>
          <a:stretch>
            <a:fillRect/>
          </a:stretch>
        </p:blipFill>
        <p:spPr>
          <a:xfrm>
            <a:off x="671535" y="5655015"/>
            <a:ext cx="266273" cy="266273"/>
          </a:xfrm>
          <a:prstGeom prst="rect">
            <a:avLst/>
          </a:prstGeom>
        </p:spPr>
      </p:pic>
      <p:sp>
        <p:nvSpPr>
          <p:cNvPr id="50" name="this-row"/>
          <p:cNvSpPr/>
          <p:nvPr/>
        </p:nvSpPr>
        <p:spPr>
          <a:xfrm>
            <a:off x="1188720" y="5532120"/>
            <a:ext cx="4526280" cy="512064"/>
          </a:xfrm>
          <a:prstGeom prst="roundRect">
            <a:avLst>
              <a:gd name="adj" fmla="val 21429"/>
            </a:avLst>
          </a:prstGeom>
          <a:solidFill>
            <a:schemeClr val="bg2"/>
          </a:solidFill>
          <a:ln w="12700">
            <a:solidFill>
              <a:schemeClr val="bg2"/>
            </a:solidFill>
            <a:prstDash val="solid"/>
          </a:ln>
        </p:spPr>
      </p:sp>
      <p:sp>
        <p:nvSpPr>
          <p:cNvPr id="51" name="Text 41"/>
          <p:cNvSpPr txBox="1"/>
          <p:nvPr/>
        </p:nvSpPr>
        <p:spPr>
          <a:xfrm>
            <a:off x="1325880" y="5532120"/>
            <a:ext cx="4297680" cy="512064"/>
          </a:xfrm>
          <a:prstGeom prst="rect">
            <a:avLst/>
          </a:prstGeom>
          <a:noFill/>
          <a:ln/>
        </p:spPr>
        <p:txBody>
          <a:bodyPr wrap="square" lIns="0" tIns="0" rIns="0" bIns="0" rtlCol="0" anchor="ctr"/>
          <a:lstStyle/>
          <a:p>
            <a:pPr indent="0" marL="0">
              <a:buNone/>
            </a:pPr>
            <a:r>
              <a:rPr lang="en-US" sz="1400" dirty="0">
                <a:solidFill>
                  <a:schemeClr val="tx1"/>
                </a:solidFill>
              </a:rPr>
              <a:t>GPU pilot caught a silent CPU fallback</a:t>
            </a:r>
            <a:endParaRPr lang="en-US" sz="1400" dirty="0"/>
          </a:p>
        </p:txBody>
      </p:sp>
      <p:sp>
        <p:nvSpPr>
          <p:cNvPr id="52" name="arrow"/>
          <p:cNvSpPr/>
          <p:nvPr/>
        </p:nvSpPr>
        <p:spPr>
          <a:xfrm>
            <a:off x="5806440" y="5788152"/>
            <a:ext cx="731520" cy="914"/>
          </a:xfrm>
          <a:prstGeom prst="line">
            <a:avLst/>
          </a:prstGeom>
          <a:noFill/>
          <a:ln w="28575">
            <a:solidFill>
              <a:schemeClr val="accent4"/>
            </a:solidFill>
            <a:prstDash val="solid"/>
            <a:tailEnd type="triangle"/>
          </a:ln>
        </p:spPr>
      </p:sp>
      <p:sp>
        <p:nvSpPr>
          <p:cNvPr id="53" name="future-row"/>
          <p:cNvSpPr/>
          <p:nvPr/>
        </p:nvSpPr>
        <p:spPr>
          <a:xfrm>
            <a:off x="6675120" y="5532120"/>
            <a:ext cx="4983480" cy="512064"/>
          </a:xfrm>
          <a:prstGeom prst="roundRect">
            <a:avLst>
              <a:gd name="adj" fmla="val 21429"/>
            </a:avLst>
          </a:prstGeom>
          <a:solidFill>
            <a:schemeClr val="accent1"/>
          </a:solidFill>
          <a:ln w="12700">
            <a:solidFill>
              <a:schemeClr val="accent1"/>
            </a:solidFill>
            <a:prstDash val="solid"/>
          </a:ln>
        </p:spPr>
      </p:sp>
      <p:sp>
        <p:nvSpPr>
          <p:cNvPr id="54" name="Text 44"/>
          <p:cNvSpPr txBox="1"/>
          <p:nvPr/>
        </p:nvSpPr>
        <p:spPr>
          <a:xfrm>
            <a:off x="6812280" y="5532120"/>
            <a:ext cx="4754880" cy="512064"/>
          </a:xfrm>
          <a:prstGeom prst="rect">
            <a:avLst/>
          </a:prstGeom>
          <a:noFill/>
          <a:ln/>
        </p:spPr>
        <p:txBody>
          <a:bodyPr wrap="square" lIns="0" tIns="0" rIns="0" bIns="0" rtlCol="0" anchor="ctr"/>
          <a:lstStyle/>
          <a:p>
            <a:pPr indent="0" marL="0">
              <a:buNone/>
            </a:pPr>
            <a:r>
              <a:rPr lang="en-US" sz="1400" b="1" dirty="0">
                <a:solidFill>
                  <a:schemeClr val="bg1"/>
                </a:solidFill>
              </a:rPr>
              <a:t>Check the device before long jobs</a:t>
            </a:r>
            <a:endParaRPr lang="en-US" sz="1400" dirty="0"/>
          </a:p>
        </p:txBody>
      </p:sp>
      <p:sp>
        <p:nvSpPr>
          <p:cNvPr id="55" name="Text 45"/>
          <p:cNvSpPr txBox="1"/>
          <p:nvPr/>
        </p:nvSpPr>
        <p:spPr>
          <a:xfrm>
            <a:off x="548640" y="6263640"/>
            <a:ext cx="10058400" cy="274320"/>
          </a:xfrm>
          <a:prstGeom prst="rect">
            <a:avLst/>
          </a:prstGeom>
          <a:noFill/>
          <a:ln/>
        </p:spPr>
        <p:txBody>
          <a:bodyPr wrap="square" lIns="0" tIns="0" rIns="0" bIns="0" rtlCol="0" anchor="t"/>
          <a:lstStyle/>
          <a:p>
            <a:pPr indent="0" marL="0">
              <a:buNone/>
            </a:pPr>
            <a:r>
              <a:rPr lang="en-US" sz="1100" i="1" dirty="0">
                <a:solidFill>
                  <a:schemeClr val="tx2"/>
                </a:solidFill>
              </a:rPr>
              <a:t>Condensed from LESSONS.md (14 rules) and the fresh-agent retrospective.</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tx2"/>
                </a:solidFill>
              </a:rPr>
              <a:t>What went wrong</a:t>
            </a:r>
            <a:endParaRPr lang="en-US" sz="3200" dirty="0"/>
          </a:p>
        </p:txBody>
      </p:sp>
      <p:sp>
        <p:nvSpPr>
          <p:cNvPr id="4" name="wrong-card"/>
          <p:cNvSpPr/>
          <p:nvPr/>
        </p:nvSpPr>
        <p:spPr>
          <a:xfrm>
            <a:off x="548640" y="1325880"/>
            <a:ext cx="5440680" cy="2194560"/>
          </a:xfrm>
          <a:prstGeom prst="roundRect">
            <a:avLst>
              <a:gd name="adj" fmla="val 5000"/>
            </a:avLst>
          </a:prstGeom>
          <a:solidFill>
            <a:schemeClr val="bg2"/>
          </a:solidFill>
          <a:ln w="12700">
            <a:solidFill>
              <a:schemeClr val="bg2"/>
            </a:solidFill>
            <a:prstDash val="solid"/>
          </a:ln>
        </p:spPr>
      </p:sp>
      <p:sp>
        <p:nvSpPr>
          <p:cNvPr id="5" name="icon-circle-FaUndo"/>
          <p:cNvSpPr/>
          <p:nvPr/>
        </p:nvSpPr>
        <p:spPr>
          <a:xfrm>
            <a:off x="777240" y="1600200"/>
            <a:ext cx="822960" cy="822960"/>
          </a:xfrm>
          <a:prstGeom prst="ellipse">
            <a:avLst/>
          </a:prstGeom>
          <a:solidFill>
            <a:schemeClr val="accent5"/>
          </a:solidFill>
          <a:ln w="12700">
            <a:solidFill>
              <a:schemeClr val="accent5"/>
            </a:solidFill>
            <a:prstDash val="solid"/>
          </a:ln>
        </p:spPr>
      </p:sp>
      <p:pic>
        <p:nvPicPr>
          <p:cNvPr id="6" name="icon-FaUndo" descr="FaUndo">    </p:cNvPr>
          <p:cNvPicPr>
            <a:picLocks noChangeAspect="1"/>
          </p:cNvPicPr>
          <p:nvPr/>
        </p:nvPicPr>
        <p:blipFill>
          <a:blip r:embed="rId1"/>
          <a:stretch>
            <a:fillRect/>
          </a:stretch>
        </p:blipFill>
        <p:spPr>
          <a:xfrm>
            <a:off x="974750" y="1797710"/>
            <a:ext cx="427939" cy="427939"/>
          </a:xfrm>
          <a:prstGeom prst="rect">
            <a:avLst/>
          </a:prstGeom>
        </p:spPr>
      </p:pic>
      <p:sp>
        <p:nvSpPr>
          <p:cNvPr id="7" name="Text 3"/>
          <p:cNvSpPr txBox="1"/>
          <p:nvPr/>
        </p:nvSpPr>
        <p:spPr>
          <a:xfrm>
            <a:off x="1828800" y="1554480"/>
            <a:ext cx="4023360" cy="1783080"/>
          </a:xfrm>
          <a:prstGeom prst="rect">
            <a:avLst/>
          </a:prstGeom>
          <a:noFill/>
          <a:ln/>
        </p:spPr>
        <p:txBody>
          <a:bodyPr wrap="square" lIns="0" tIns="0" rIns="0" bIns="0" rtlCol="0" anchor="t"/>
          <a:lstStyle/>
          <a:p>
            <a:pPr indent="0" marL="0">
              <a:buNone/>
            </a:pPr>
            <a:r>
              <a:rPr lang="en-US" sz="2000" b="1" dirty="0">
                <a:solidFill>
                  <a:schemeClr val="tx1"/>
                </a:solidFill>
              </a:rPr>
              <a:t>Errata</a:t>
            </a:r>
            <a:endParaRPr lang="en-US" sz="1500" dirty="0"/>
          </a:p>
          <a:p>
            <a:pPr indent="0" marL="0">
              <a:buNone/>
            </a:pPr>
            <a:r>
              <a:rPr lang="en-US" sz="1600" dirty="0">
                <a:solidFill>
                  <a:schemeClr val="tx1"/>
                </a:solidFill>
              </a:rPr>
              <a:t>3 round-1 overstatements; 8 mismatches in the final numbers audit</a:t>
            </a:r>
            <a:endParaRPr lang="en-US" sz="1500" dirty="0"/>
          </a:p>
        </p:txBody>
      </p:sp>
      <p:sp>
        <p:nvSpPr>
          <p:cNvPr id="8" name="wrong-card"/>
          <p:cNvSpPr/>
          <p:nvPr/>
        </p:nvSpPr>
        <p:spPr>
          <a:xfrm>
            <a:off x="6172200" y="1325880"/>
            <a:ext cx="5440680" cy="2194560"/>
          </a:xfrm>
          <a:prstGeom prst="roundRect">
            <a:avLst>
              <a:gd name="adj" fmla="val 5000"/>
            </a:avLst>
          </a:prstGeom>
          <a:solidFill>
            <a:schemeClr val="bg2"/>
          </a:solidFill>
          <a:ln w="12700">
            <a:solidFill>
              <a:schemeClr val="bg2"/>
            </a:solidFill>
            <a:prstDash val="solid"/>
          </a:ln>
        </p:spPr>
      </p:sp>
      <p:sp>
        <p:nvSpPr>
          <p:cNvPr id="9" name="icon-circle-FaTimes"/>
          <p:cNvSpPr/>
          <p:nvPr/>
        </p:nvSpPr>
        <p:spPr>
          <a:xfrm>
            <a:off x="6400800" y="1600200"/>
            <a:ext cx="822960" cy="822960"/>
          </a:xfrm>
          <a:prstGeom prst="ellipse">
            <a:avLst/>
          </a:prstGeom>
          <a:solidFill>
            <a:schemeClr val="accent4"/>
          </a:solidFill>
          <a:ln w="12700">
            <a:solidFill>
              <a:schemeClr val="accent4"/>
            </a:solidFill>
            <a:prstDash val="solid"/>
          </a:ln>
        </p:spPr>
      </p:sp>
      <p:pic>
        <p:nvPicPr>
          <p:cNvPr id="10" name="icon-FaTimes" descr="FaTimes">    </p:cNvPr>
          <p:cNvPicPr>
            <a:picLocks noChangeAspect="1"/>
          </p:cNvPicPr>
          <p:nvPr/>
        </p:nvPicPr>
        <p:blipFill>
          <a:blip r:embed="rId2"/>
          <a:stretch>
            <a:fillRect/>
          </a:stretch>
        </p:blipFill>
        <p:spPr>
          <a:xfrm>
            <a:off x="6598310" y="1797710"/>
            <a:ext cx="427939" cy="427939"/>
          </a:xfrm>
          <a:prstGeom prst="rect">
            <a:avLst/>
          </a:prstGeom>
        </p:spPr>
      </p:pic>
      <p:sp>
        <p:nvSpPr>
          <p:cNvPr id="11" name="Text 6"/>
          <p:cNvSpPr txBox="1"/>
          <p:nvPr/>
        </p:nvSpPr>
        <p:spPr>
          <a:xfrm>
            <a:off x="7452360" y="1554480"/>
            <a:ext cx="4023360" cy="1783080"/>
          </a:xfrm>
          <a:prstGeom prst="rect">
            <a:avLst/>
          </a:prstGeom>
          <a:noFill/>
          <a:ln/>
        </p:spPr>
        <p:txBody>
          <a:bodyPr wrap="square" lIns="0" tIns="0" rIns="0" bIns="0" rtlCol="0" anchor="t"/>
          <a:lstStyle/>
          <a:p>
            <a:pPr indent="0" marL="0">
              <a:buNone/>
            </a:pPr>
            <a:r>
              <a:rPr lang="en-US" sz="2000" b="1" dirty="0">
                <a:solidFill>
                  <a:schemeClr val="tx1"/>
                </a:solidFill>
              </a:rPr>
              <a:t>Overturned claims</a:t>
            </a:r>
            <a:endParaRPr lang="en-US" sz="1500" dirty="0"/>
          </a:p>
          <a:p>
            <a:pPr indent="0" marL="0">
              <a:buNone/>
            </a:pPr>
            <a:r>
              <a:rPr lang="en-US" sz="1600" dirty="0">
                <a:solidFill>
                  <a:schemeClr val="tx1"/>
                </a:solidFill>
              </a:rPr>
              <a:t>structural novelty and stem agreement, after verification</a:t>
            </a:r>
            <a:endParaRPr lang="en-US" sz="1500" dirty="0"/>
          </a:p>
        </p:txBody>
      </p:sp>
      <p:sp>
        <p:nvSpPr>
          <p:cNvPr id="12" name="wrong-card"/>
          <p:cNvSpPr/>
          <p:nvPr/>
        </p:nvSpPr>
        <p:spPr>
          <a:xfrm>
            <a:off x="548640" y="3749040"/>
            <a:ext cx="5440680" cy="2194560"/>
          </a:xfrm>
          <a:prstGeom prst="roundRect">
            <a:avLst>
              <a:gd name="adj" fmla="val 5000"/>
            </a:avLst>
          </a:prstGeom>
          <a:solidFill>
            <a:schemeClr val="bg2"/>
          </a:solidFill>
          <a:ln w="12700">
            <a:solidFill>
              <a:schemeClr val="bg2"/>
            </a:solidFill>
            <a:prstDash val="solid"/>
          </a:ln>
        </p:spPr>
      </p:sp>
      <p:sp>
        <p:nvSpPr>
          <p:cNvPr id="13" name="icon-circle-FaBug"/>
          <p:cNvSpPr/>
          <p:nvPr/>
        </p:nvSpPr>
        <p:spPr>
          <a:xfrm>
            <a:off x="777240" y="4023360"/>
            <a:ext cx="822960" cy="822960"/>
          </a:xfrm>
          <a:prstGeom prst="ellipse">
            <a:avLst/>
          </a:prstGeom>
          <a:solidFill>
            <a:schemeClr val="tx2"/>
          </a:solidFill>
          <a:ln w="12700">
            <a:solidFill>
              <a:schemeClr val="tx2"/>
            </a:solidFill>
            <a:prstDash val="solid"/>
          </a:ln>
        </p:spPr>
      </p:sp>
      <p:pic>
        <p:nvPicPr>
          <p:cNvPr id="14" name="icon-FaBug" descr="FaBug">    </p:cNvPr>
          <p:cNvPicPr>
            <a:picLocks noChangeAspect="1"/>
          </p:cNvPicPr>
          <p:nvPr/>
        </p:nvPicPr>
        <p:blipFill>
          <a:blip r:embed="rId3"/>
          <a:stretch>
            <a:fillRect/>
          </a:stretch>
        </p:blipFill>
        <p:spPr>
          <a:xfrm>
            <a:off x="974750" y="4220870"/>
            <a:ext cx="427939" cy="427939"/>
          </a:xfrm>
          <a:prstGeom prst="rect">
            <a:avLst/>
          </a:prstGeom>
        </p:spPr>
      </p:pic>
      <p:sp>
        <p:nvSpPr>
          <p:cNvPr id="15" name="Text 9"/>
          <p:cNvSpPr txBox="1"/>
          <p:nvPr/>
        </p:nvSpPr>
        <p:spPr>
          <a:xfrm>
            <a:off x="1828800" y="3977640"/>
            <a:ext cx="4023360" cy="1783080"/>
          </a:xfrm>
          <a:prstGeom prst="rect">
            <a:avLst/>
          </a:prstGeom>
          <a:noFill/>
          <a:ln/>
        </p:spPr>
        <p:txBody>
          <a:bodyPr wrap="square" lIns="0" tIns="0" rIns="0" bIns="0" rtlCol="0" anchor="t"/>
          <a:lstStyle/>
          <a:p>
            <a:pPr indent="0" marL="0">
              <a:buNone/>
            </a:pPr>
            <a:r>
              <a:rPr lang="en-US" sz="2000" b="1" dirty="0">
                <a:solidFill>
                  <a:schemeClr val="tx1"/>
                </a:solidFill>
              </a:rPr>
              <a:t>Tool incidents</a:t>
            </a:r>
            <a:endParaRPr lang="en-US" sz="1500" dirty="0"/>
          </a:p>
          <a:p>
            <a:pPr indent="0" marL="0">
              <a:buNone/>
            </a:pPr>
            <a:r>
              <a:rPr lang="en-US" sz="1600" dirty="0">
                <a:solidFill>
                  <a:schemeClr val="tx1"/>
                </a:solidFill>
              </a:rPr>
              <a:t>self-killing pattern kill (×2), orphaned GPU job, premature wait-loop run, undocumented floor</a:t>
            </a:r>
            <a:endParaRPr lang="en-US" sz="1500" dirty="0"/>
          </a:p>
        </p:txBody>
      </p:sp>
      <p:sp>
        <p:nvSpPr>
          <p:cNvPr id="16" name="wrong-card"/>
          <p:cNvSpPr/>
          <p:nvPr/>
        </p:nvSpPr>
        <p:spPr>
          <a:xfrm>
            <a:off x="6172200" y="3749040"/>
            <a:ext cx="5440680" cy="2194560"/>
          </a:xfrm>
          <a:prstGeom prst="roundRect">
            <a:avLst>
              <a:gd name="adj" fmla="val 5000"/>
            </a:avLst>
          </a:prstGeom>
          <a:solidFill>
            <a:schemeClr val="bg2"/>
          </a:solidFill>
          <a:ln w="12700">
            <a:solidFill>
              <a:schemeClr val="bg2"/>
            </a:solidFill>
            <a:prstDash val="solid"/>
          </a:ln>
        </p:spPr>
      </p:sp>
      <p:sp>
        <p:nvSpPr>
          <p:cNvPr id="17" name="icon-circle-FaHourglassHalf"/>
          <p:cNvSpPr/>
          <p:nvPr/>
        </p:nvSpPr>
        <p:spPr>
          <a:xfrm>
            <a:off x="6400800" y="4023360"/>
            <a:ext cx="822960" cy="822960"/>
          </a:xfrm>
          <a:prstGeom prst="ellipse">
            <a:avLst/>
          </a:prstGeom>
          <a:solidFill>
            <a:schemeClr val="accent3"/>
          </a:solidFill>
          <a:ln w="12700">
            <a:solidFill>
              <a:schemeClr val="accent3"/>
            </a:solidFill>
            <a:prstDash val="solid"/>
          </a:ln>
        </p:spPr>
      </p:sp>
      <p:pic>
        <p:nvPicPr>
          <p:cNvPr id="18" name="icon-FaHourglassHalf" descr="FaHourglassHalf">    </p:cNvPr>
          <p:cNvPicPr>
            <a:picLocks noChangeAspect="1"/>
          </p:cNvPicPr>
          <p:nvPr/>
        </p:nvPicPr>
        <p:blipFill>
          <a:blip r:embed="rId4"/>
          <a:stretch>
            <a:fillRect/>
          </a:stretch>
        </p:blipFill>
        <p:spPr>
          <a:xfrm>
            <a:off x="6598310" y="4220870"/>
            <a:ext cx="427939" cy="427939"/>
          </a:xfrm>
          <a:prstGeom prst="rect">
            <a:avLst/>
          </a:prstGeom>
        </p:spPr>
      </p:pic>
      <p:sp>
        <p:nvSpPr>
          <p:cNvPr id="19" name="Text 12"/>
          <p:cNvSpPr txBox="1"/>
          <p:nvPr/>
        </p:nvSpPr>
        <p:spPr>
          <a:xfrm>
            <a:off x="7452360" y="3977640"/>
            <a:ext cx="4023360" cy="1783080"/>
          </a:xfrm>
          <a:prstGeom prst="rect">
            <a:avLst/>
          </a:prstGeom>
          <a:noFill/>
          <a:ln/>
        </p:spPr>
        <p:txBody>
          <a:bodyPr wrap="square" lIns="0" tIns="0" rIns="0" bIns="0" rtlCol="0" anchor="t"/>
          <a:lstStyle/>
          <a:p>
            <a:pPr indent="0" marL="0">
              <a:buNone/>
            </a:pPr>
            <a:r>
              <a:rPr lang="en-US" sz="2000" b="1" dirty="0">
                <a:solidFill>
                  <a:schemeClr val="tx1"/>
                </a:solidFill>
              </a:rPr>
              <a:t>Low-power test</a:t>
            </a:r>
            <a:endParaRPr lang="en-US" sz="1500" dirty="0"/>
          </a:p>
          <a:p>
            <a:pPr indent="0" marL="0">
              <a:buNone/>
            </a:pPr>
            <a:r>
              <a:rPr lang="en-US" sz="1600" dirty="0">
                <a:solidFill>
                  <a:schemeClr val="tx1"/>
                </a:solidFill>
              </a:rPr>
              <a:t>simple → complex test: 18–41% power, could never pass Holm</a:t>
            </a:r>
            <a:endParaRPr lang="en-US" sz="1500" dirty="0"/>
          </a:p>
        </p:txBody>
      </p:sp>
      <p:sp>
        <p:nvSpPr>
          <p:cNvPr id="20" name="Text 13"/>
          <p:cNvSpPr txBox="1"/>
          <p:nvPr/>
        </p:nvSpPr>
        <p:spPr>
          <a:xfrm>
            <a:off x="548640" y="6172200"/>
            <a:ext cx="10972800" cy="320040"/>
          </a:xfrm>
          <a:prstGeom prst="rect">
            <a:avLst/>
          </a:prstGeom>
          <a:noFill/>
          <a:ln/>
        </p:spPr>
        <p:txBody>
          <a:bodyPr wrap="square" lIns="0" tIns="0" rIns="0" bIns="0" rtlCol="0" anchor="t"/>
          <a:lstStyle/>
          <a:p>
            <a:pPr indent="0" marL="0">
              <a:buNone/>
            </a:pPr>
            <a:r>
              <a:rPr lang="en-US" sz="1100" i="1" dirty="0">
                <a:solidFill>
                  <a:schemeClr val="tx2"/>
                </a:solidFill>
              </a:rPr>
              <a:t>All were caught and documented by the process itself; none is hidden in the report.</a:t>
            </a:r>
            <a:endParaRPr lang="en-US" sz="11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731520" y="960120"/>
            <a:ext cx="1828800" cy="822960"/>
          </a:xfrm>
          <a:prstGeom prst="rect">
            <a:avLst/>
          </a:prstGeom>
          <a:noFill/>
          <a:ln/>
        </p:spPr>
        <p:txBody>
          <a:bodyPr wrap="square" lIns="0" tIns="0" rIns="0" bIns="0" rtlCol="0" anchor="b"/>
          <a:lstStyle/>
          <a:p>
            <a:pPr indent="0" marL="0">
              <a:buNone/>
            </a:pPr>
            <a:r>
              <a:rPr lang="en-US" sz="2800" b="1" dirty="0">
                <a:solidFill>
                  <a:schemeClr val="accent5"/>
                </a:solidFill>
              </a:rPr>
              <a:t>I</a:t>
            </a:r>
            <a:endParaRPr lang="en-US" sz="2800" dirty="0"/>
          </a:p>
        </p:txBody>
      </p:sp>
      <p:sp>
        <p:nvSpPr>
          <p:cNvPr id="3" name="Text 0"/>
          <p:cNvSpPr/>
          <p:nvPr>
            <p:ph idx="101" type="title" hasCustomPrompt="1"/>
          </p:nvPr>
        </p:nvSpPr>
        <p:spPr>
          <a:xfrm>
            <a:off x="731520" y="1874520"/>
            <a:ext cx="7863840" cy="1554480"/>
          </a:xfrm>
          <a:prstGeom prst="rect">
            <a:avLst/>
          </a:prstGeom>
          <a:noFill/>
          <a:ln/>
        </p:spPr>
        <p:txBody>
          <a:bodyPr wrap="square" rtlCol="0" anchor="b"/>
          <a:lstStyle/>
          <a:p>
            <a:pPr algn="l" indent="0" marL="0">
              <a:buNone/>
            </a:pPr>
            <a:r>
              <a:rPr lang="en-US" sz="4000" b="1" dirty="0">
                <a:solidFill>
                  <a:schemeClr val="bg1"/>
                </a:solidFill>
              </a:rPr>
              <a:t>Conclusion</a:t>
            </a:r>
            <a:endParaRPr lang="en-US" sz="4000" dirty="0"/>
          </a:p>
        </p:txBody>
      </p:sp>
      <p:sp>
        <p:nvSpPr>
          <p:cNvPr id="4" name="Text 0"/>
          <p:cNvSpPr/>
          <p:nvPr>
            <p:ph idx="102" type="body" hasCustomPrompt="1"/>
          </p:nvPr>
        </p:nvSpPr>
        <p:spPr>
          <a:xfrm>
            <a:off x="731520" y="3566160"/>
            <a:ext cx="7863840" cy="914400"/>
          </a:xfrm>
          <a:prstGeom prst="rect">
            <a:avLst/>
          </a:prstGeom>
          <a:noFill/>
          <a:ln/>
        </p:spPr>
        <p:txBody>
          <a:bodyPr wrap="square" rtlCol="0" anchor="t"/>
          <a:lstStyle/>
          <a:p>
            <a:pPr algn="l" indent="0" marL="0">
              <a:buNone/>
            </a:pPr>
            <a:r>
              <a:rPr lang="en-US" sz="2000" dirty="0">
                <a:solidFill>
                  <a:schemeClr val="bg2"/>
                </a:solidFill>
              </a:rPr>
              <a:t>AI-led research: outcome and future possibilities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bg1"/>
                </a:solidFill>
              </a:rPr>
              <a:t>AI-led research: honest, fast, self-correcting</a:t>
            </a:r>
            <a:endParaRPr lang="en-US" sz="3200" dirty="0"/>
          </a:p>
        </p:txBody>
      </p:sp>
      <p:sp>
        <p:nvSpPr>
          <p:cNvPr id="4" name="Text 1"/>
          <p:cNvSpPr txBox="1"/>
          <p:nvPr/>
        </p:nvSpPr>
        <p:spPr>
          <a:xfrm>
            <a:off x="548640" y="1371600"/>
            <a:ext cx="3291840" cy="1188720"/>
          </a:xfrm>
          <a:prstGeom prst="rect">
            <a:avLst/>
          </a:prstGeom>
          <a:noFill/>
          <a:ln/>
        </p:spPr>
        <p:txBody>
          <a:bodyPr wrap="square" lIns="0" tIns="0" rIns="0" bIns="0" rtlCol="0" anchor="t"/>
          <a:lstStyle/>
          <a:p>
            <a:pPr indent="0" marL="0">
              <a:buNone/>
            </a:pPr>
            <a:r>
              <a:rPr lang="en-US" sz="6600" b="1" dirty="0">
                <a:solidFill>
                  <a:schemeClr val="accent5"/>
                </a:solidFill>
              </a:rPr>
              <a:t>≈31 h</a:t>
            </a:r>
            <a:endParaRPr lang="en-US" sz="6600" dirty="0"/>
          </a:p>
        </p:txBody>
      </p:sp>
      <p:sp>
        <p:nvSpPr>
          <p:cNvPr id="5" name="Text 2"/>
          <p:cNvSpPr txBox="1"/>
          <p:nvPr/>
        </p:nvSpPr>
        <p:spPr>
          <a:xfrm>
            <a:off x="548640" y="2651760"/>
            <a:ext cx="3108960" cy="914400"/>
          </a:xfrm>
          <a:prstGeom prst="rect">
            <a:avLst/>
          </a:prstGeom>
          <a:noFill/>
          <a:ln/>
        </p:spPr>
        <p:txBody>
          <a:bodyPr wrap="square" lIns="0" tIns="0" rIns="0" bIns="0" rtlCol="0" anchor="t"/>
          <a:lstStyle/>
          <a:p>
            <a:pPr indent="0" marL="0">
              <a:buNone/>
            </a:pPr>
            <a:r>
              <a:rPr lang="en-US" sz="1600" dirty="0">
                <a:solidFill>
                  <a:schemeClr val="bg1"/>
                </a:solidFill>
              </a:rPr>
              <a:t>two complete rounds, from literature to reviewed report</a:t>
            </a:r>
            <a:endParaRPr lang="en-US" sz="1600" dirty="0"/>
          </a:p>
        </p:txBody>
      </p:sp>
      <p:sp>
        <p:nvSpPr>
          <p:cNvPr id="6" name="Text 3"/>
          <p:cNvSpPr txBox="1"/>
          <p:nvPr/>
        </p:nvSpPr>
        <p:spPr>
          <a:xfrm>
            <a:off x="548640" y="4206240"/>
            <a:ext cx="3108960" cy="914400"/>
          </a:xfrm>
          <a:prstGeom prst="rect">
            <a:avLst/>
          </a:prstGeom>
          <a:noFill/>
          <a:ln/>
        </p:spPr>
        <p:txBody>
          <a:bodyPr wrap="square" lIns="0" tIns="0" rIns="0" bIns="0" rtlCol="0" anchor="t"/>
          <a:lstStyle/>
          <a:p>
            <a:pPr indent="0" marL="0">
              <a:buNone/>
            </a:pPr>
            <a:r>
              <a:rPr lang="en-US" sz="1800" b="1" dirty="0">
                <a:solidFill>
                  <a:schemeClr val="accent4"/>
                </a:solidFill>
              </a:rPr>
              <a:t>Not yet verified by a human</a:t>
            </a:r>
            <a:endParaRPr lang="en-US" sz="1800" dirty="0"/>
          </a:p>
        </p:txBody>
      </p:sp>
      <p:sp>
        <p:nvSpPr>
          <p:cNvPr id="7" name="icon-circle-FaCheck"/>
          <p:cNvSpPr/>
          <p:nvPr/>
        </p:nvSpPr>
        <p:spPr>
          <a:xfrm>
            <a:off x="4160520" y="1371600"/>
            <a:ext cx="640080" cy="640080"/>
          </a:xfrm>
          <a:prstGeom prst="ellipse">
            <a:avLst/>
          </a:prstGeom>
          <a:solidFill>
            <a:schemeClr val="accent2"/>
          </a:solidFill>
          <a:ln w="12700">
            <a:solidFill>
              <a:schemeClr val="accent2"/>
            </a:solidFill>
            <a:prstDash val="solid"/>
          </a:ln>
        </p:spPr>
      </p:sp>
      <p:pic>
        <p:nvPicPr>
          <p:cNvPr id="8" name="icon-FaCheck" descr="FaCheck">    </p:cNvPr>
          <p:cNvPicPr>
            <a:picLocks noChangeAspect="1"/>
          </p:cNvPicPr>
          <p:nvPr/>
        </p:nvPicPr>
        <p:blipFill>
          <a:blip r:embed="rId1"/>
          <a:stretch>
            <a:fillRect/>
          </a:stretch>
        </p:blipFill>
        <p:spPr>
          <a:xfrm>
            <a:off x="4314139" y="1525219"/>
            <a:ext cx="332842" cy="332842"/>
          </a:xfrm>
          <a:prstGeom prst="rect">
            <a:avLst/>
          </a:prstGeom>
        </p:spPr>
      </p:pic>
      <p:sp>
        <p:nvSpPr>
          <p:cNvPr id="9" name="Text 5"/>
          <p:cNvSpPr txBox="1"/>
          <p:nvPr/>
        </p:nvSpPr>
        <p:spPr>
          <a:xfrm>
            <a:off x="4937760" y="1371600"/>
            <a:ext cx="2743200" cy="640080"/>
          </a:xfrm>
          <a:prstGeom prst="rect">
            <a:avLst/>
          </a:prstGeom>
          <a:noFill/>
          <a:ln/>
        </p:spPr>
        <p:txBody>
          <a:bodyPr wrap="square" lIns="0" tIns="0" rIns="0" bIns="0" rtlCol="0" anchor="ctr"/>
          <a:lstStyle/>
          <a:p>
            <a:pPr indent="0" marL="0">
              <a:buNone/>
            </a:pPr>
            <a:r>
              <a:rPr lang="en-US" sz="2200" b="1" dirty="0">
                <a:solidFill>
                  <a:schemeClr val="bg1"/>
                </a:solidFill>
              </a:rPr>
              <a:t>Did well</a:t>
            </a:r>
            <a:endParaRPr lang="en-US" sz="2200" dirty="0"/>
          </a:p>
        </p:txBody>
      </p:sp>
      <p:sp>
        <p:nvSpPr>
          <p:cNvPr id="10" name="cell"/>
          <p:cNvSpPr/>
          <p:nvPr/>
        </p:nvSpPr>
        <p:spPr>
          <a:xfrm>
            <a:off x="4160520" y="2240280"/>
            <a:ext cx="3611880" cy="822960"/>
          </a:xfrm>
          <a:prstGeom prst="roundRect">
            <a:avLst>
              <a:gd name="adj" fmla="val 13333"/>
            </a:avLst>
          </a:prstGeom>
          <a:solidFill>
            <a:srgbClr val="1B5450"/>
          </a:solidFill>
          <a:ln w="12700">
            <a:solidFill>
              <a:srgbClr val="1B5450"/>
            </a:solidFill>
            <a:prstDash val="solid"/>
          </a:ln>
        </p:spPr>
      </p:sp>
      <p:sp>
        <p:nvSpPr>
          <p:cNvPr id="11" name="Text 7"/>
          <p:cNvSpPr txBox="1"/>
          <p:nvPr/>
        </p:nvSpPr>
        <p:spPr>
          <a:xfrm>
            <a:off x="4343400" y="2240280"/>
            <a:ext cx="3291840" cy="822960"/>
          </a:xfrm>
          <a:prstGeom prst="rect">
            <a:avLst/>
          </a:prstGeom>
          <a:noFill/>
          <a:ln/>
        </p:spPr>
        <p:txBody>
          <a:bodyPr wrap="square" lIns="0" tIns="0" rIns="0" bIns="0" rtlCol="0" anchor="ctr"/>
          <a:lstStyle/>
          <a:p>
            <a:pPr indent="0" marL="0">
              <a:buNone/>
            </a:pPr>
            <a:r>
              <a:rPr lang="en-US" sz="1600" dirty="0">
                <a:solidFill>
                  <a:schemeClr val="bg1"/>
                </a:solidFill>
              </a:rPr>
              <a:t>Honest nulls, with power</a:t>
            </a:r>
            <a:endParaRPr lang="en-US" sz="1600" dirty="0"/>
          </a:p>
        </p:txBody>
      </p:sp>
      <p:sp>
        <p:nvSpPr>
          <p:cNvPr id="12" name="cell"/>
          <p:cNvSpPr/>
          <p:nvPr/>
        </p:nvSpPr>
        <p:spPr>
          <a:xfrm>
            <a:off x="4160520" y="3227832"/>
            <a:ext cx="3611880" cy="822960"/>
          </a:xfrm>
          <a:prstGeom prst="roundRect">
            <a:avLst>
              <a:gd name="adj" fmla="val 13333"/>
            </a:avLst>
          </a:prstGeom>
          <a:solidFill>
            <a:srgbClr val="1B5450"/>
          </a:solidFill>
          <a:ln w="12700">
            <a:solidFill>
              <a:srgbClr val="1B5450"/>
            </a:solidFill>
            <a:prstDash val="solid"/>
          </a:ln>
        </p:spPr>
      </p:sp>
      <p:sp>
        <p:nvSpPr>
          <p:cNvPr id="13" name="Text 9"/>
          <p:cNvSpPr txBox="1"/>
          <p:nvPr/>
        </p:nvSpPr>
        <p:spPr>
          <a:xfrm>
            <a:off x="4343400" y="3227832"/>
            <a:ext cx="3291840" cy="822960"/>
          </a:xfrm>
          <a:prstGeom prst="rect">
            <a:avLst/>
          </a:prstGeom>
          <a:noFill/>
          <a:ln/>
        </p:spPr>
        <p:txBody>
          <a:bodyPr wrap="square" lIns="0" tIns="0" rIns="0" bIns="0" rtlCol="0" anchor="ctr"/>
          <a:lstStyle/>
          <a:p>
            <a:pPr indent="0" marL="0">
              <a:buNone/>
            </a:pPr>
            <a:r>
              <a:rPr lang="en-US" sz="1600" dirty="0">
                <a:solidFill>
                  <a:schemeClr val="bg1"/>
                </a:solidFill>
              </a:rPr>
              <a:t>Self-correction: 2 own claims overturned</a:t>
            </a:r>
            <a:endParaRPr lang="en-US" sz="1600" dirty="0"/>
          </a:p>
        </p:txBody>
      </p:sp>
      <p:sp>
        <p:nvSpPr>
          <p:cNvPr id="14" name="cell"/>
          <p:cNvSpPr/>
          <p:nvPr/>
        </p:nvSpPr>
        <p:spPr>
          <a:xfrm>
            <a:off x="4160520" y="4215384"/>
            <a:ext cx="3611880" cy="822960"/>
          </a:xfrm>
          <a:prstGeom prst="roundRect">
            <a:avLst>
              <a:gd name="adj" fmla="val 13333"/>
            </a:avLst>
          </a:prstGeom>
          <a:solidFill>
            <a:srgbClr val="1B5450"/>
          </a:solidFill>
          <a:ln w="12700">
            <a:solidFill>
              <a:srgbClr val="1B5450"/>
            </a:solidFill>
            <a:prstDash val="solid"/>
          </a:ln>
        </p:spPr>
      </p:sp>
      <p:sp>
        <p:nvSpPr>
          <p:cNvPr id="15" name="Text 11"/>
          <p:cNvSpPr txBox="1"/>
          <p:nvPr/>
        </p:nvSpPr>
        <p:spPr>
          <a:xfrm>
            <a:off x="4343400" y="4215384"/>
            <a:ext cx="3291840" cy="822960"/>
          </a:xfrm>
          <a:prstGeom prst="rect">
            <a:avLst/>
          </a:prstGeom>
          <a:noFill/>
          <a:ln/>
        </p:spPr>
        <p:txBody>
          <a:bodyPr wrap="square" lIns="0" tIns="0" rIns="0" bIns="0" rtlCol="0" anchor="ctr"/>
          <a:lstStyle/>
          <a:p>
            <a:pPr indent="0" marL="0">
              <a:buNone/>
            </a:pPr>
            <a:r>
              <a:rPr lang="en-US" sz="1600" dirty="0">
                <a:solidFill>
                  <a:schemeClr val="bg1"/>
                </a:solidFill>
              </a:rPr>
              <a:t>Full audit trail: pre-registration, deviations</a:t>
            </a:r>
            <a:endParaRPr lang="en-US" sz="1600" dirty="0"/>
          </a:p>
        </p:txBody>
      </p:sp>
      <p:sp>
        <p:nvSpPr>
          <p:cNvPr id="16" name="cell"/>
          <p:cNvSpPr/>
          <p:nvPr/>
        </p:nvSpPr>
        <p:spPr>
          <a:xfrm>
            <a:off x="4160520" y="5202936"/>
            <a:ext cx="3611880" cy="822960"/>
          </a:xfrm>
          <a:prstGeom prst="roundRect">
            <a:avLst>
              <a:gd name="adj" fmla="val 13333"/>
            </a:avLst>
          </a:prstGeom>
          <a:solidFill>
            <a:srgbClr val="1B5450"/>
          </a:solidFill>
          <a:ln w="12700">
            <a:solidFill>
              <a:srgbClr val="1B5450"/>
            </a:solidFill>
            <a:prstDash val="solid"/>
          </a:ln>
        </p:spPr>
      </p:sp>
      <p:sp>
        <p:nvSpPr>
          <p:cNvPr id="17" name="Text 13"/>
          <p:cNvSpPr txBox="1"/>
          <p:nvPr/>
        </p:nvSpPr>
        <p:spPr>
          <a:xfrm>
            <a:off x="4343400" y="5202936"/>
            <a:ext cx="3291840" cy="822960"/>
          </a:xfrm>
          <a:prstGeom prst="rect">
            <a:avLst/>
          </a:prstGeom>
          <a:noFill/>
          <a:ln/>
        </p:spPr>
        <p:txBody>
          <a:bodyPr wrap="square" lIns="0" tIns="0" rIns="0" bIns="0" rtlCol="0" anchor="ctr"/>
          <a:lstStyle/>
          <a:p>
            <a:pPr indent="0" marL="0">
              <a:buNone/>
            </a:pPr>
            <a:r>
              <a:rPr lang="en-US" sz="1600" dirty="0">
                <a:solidFill>
                  <a:schemeClr val="bg1"/>
                </a:solidFill>
              </a:rPr>
              <a:t>Parallel team, cheap dense runs</a:t>
            </a:r>
            <a:endParaRPr lang="en-US" sz="1600" dirty="0"/>
          </a:p>
        </p:txBody>
      </p:sp>
      <p:sp>
        <p:nvSpPr>
          <p:cNvPr id="18" name="icon-circle-FaTimes"/>
          <p:cNvSpPr/>
          <p:nvPr/>
        </p:nvSpPr>
        <p:spPr>
          <a:xfrm>
            <a:off x="8001000" y="1371600"/>
            <a:ext cx="640080" cy="640080"/>
          </a:xfrm>
          <a:prstGeom prst="ellipse">
            <a:avLst/>
          </a:prstGeom>
          <a:solidFill>
            <a:schemeClr val="accent4"/>
          </a:solidFill>
          <a:ln w="12700">
            <a:solidFill>
              <a:schemeClr val="accent4"/>
            </a:solidFill>
            <a:prstDash val="solid"/>
          </a:ln>
        </p:spPr>
      </p:sp>
      <p:pic>
        <p:nvPicPr>
          <p:cNvPr id="19" name="icon-FaTimes" descr="FaTimes">    </p:cNvPr>
          <p:cNvPicPr>
            <a:picLocks noChangeAspect="1"/>
          </p:cNvPicPr>
          <p:nvPr/>
        </p:nvPicPr>
        <p:blipFill>
          <a:blip r:embed="rId2"/>
          <a:stretch>
            <a:fillRect/>
          </a:stretch>
        </p:blipFill>
        <p:spPr>
          <a:xfrm>
            <a:off x="8154619" y="1525219"/>
            <a:ext cx="332842" cy="332842"/>
          </a:xfrm>
          <a:prstGeom prst="rect">
            <a:avLst/>
          </a:prstGeom>
        </p:spPr>
      </p:pic>
      <p:sp>
        <p:nvSpPr>
          <p:cNvPr id="20" name="Text 15"/>
          <p:cNvSpPr txBox="1"/>
          <p:nvPr/>
        </p:nvSpPr>
        <p:spPr>
          <a:xfrm>
            <a:off x="8778240" y="1371600"/>
            <a:ext cx="2743200" cy="640080"/>
          </a:xfrm>
          <a:prstGeom prst="rect">
            <a:avLst/>
          </a:prstGeom>
          <a:noFill/>
          <a:ln/>
        </p:spPr>
        <p:txBody>
          <a:bodyPr wrap="square" lIns="0" tIns="0" rIns="0" bIns="0" rtlCol="0" anchor="ctr"/>
          <a:lstStyle/>
          <a:p>
            <a:pPr indent="0" marL="0">
              <a:buNone/>
            </a:pPr>
            <a:r>
              <a:rPr lang="en-US" sz="2200" b="1" dirty="0">
                <a:solidFill>
                  <a:schemeClr val="bg1"/>
                </a:solidFill>
              </a:rPr>
              <a:t>Did badly</a:t>
            </a:r>
            <a:endParaRPr lang="en-US" sz="2200" dirty="0"/>
          </a:p>
        </p:txBody>
      </p:sp>
      <p:sp>
        <p:nvSpPr>
          <p:cNvPr id="21" name="cell"/>
          <p:cNvSpPr/>
          <p:nvPr/>
        </p:nvSpPr>
        <p:spPr>
          <a:xfrm>
            <a:off x="8001000" y="2240280"/>
            <a:ext cx="3611880" cy="822960"/>
          </a:xfrm>
          <a:prstGeom prst="roundRect">
            <a:avLst>
              <a:gd name="adj" fmla="val 13333"/>
            </a:avLst>
          </a:prstGeom>
          <a:solidFill>
            <a:srgbClr val="1B5450"/>
          </a:solidFill>
          <a:ln w="12700">
            <a:solidFill>
              <a:srgbClr val="1B5450"/>
            </a:solidFill>
            <a:prstDash val="solid"/>
          </a:ln>
        </p:spPr>
      </p:sp>
      <p:sp>
        <p:nvSpPr>
          <p:cNvPr id="22" name="Text 17"/>
          <p:cNvSpPr txBox="1"/>
          <p:nvPr/>
        </p:nvSpPr>
        <p:spPr>
          <a:xfrm>
            <a:off x="8183880" y="2240280"/>
            <a:ext cx="3291840" cy="822960"/>
          </a:xfrm>
          <a:prstGeom prst="rect">
            <a:avLst/>
          </a:prstGeom>
          <a:noFill/>
          <a:ln/>
        </p:spPr>
        <p:txBody>
          <a:bodyPr wrap="square" lIns="0" tIns="0" rIns="0" bIns="0" rtlCol="0" anchor="ctr"/>
          <a:lstStyle/>
          <a:p>
            <a:pPr indent="0" marL="0">
              <a:buNone/>
            </a:pPr>
            <a:r>
              <a:rPr lang="en-US" sz="1600" dirty="0">
                <a:solidFill>
                  <a:schemeClr val="bg1"/>
                </a:solidFill>
              </a:rPr>
              <a:t>Low-power confirmatory tests</a:t>
            </a:r>
            <a:endParaRPr lang="en-US" sz="1600" dirty="0"/>
          </a:p>
        </p:txBody>
      </p:sp>
      <p:sp>
        <p:nvSpPr>
          <p:cNvPr id="23" name="cell"/>
          <p:cNvSpPr/>
          <p:nvPr/>
        </p:nvSpPr>
        <p:spPr>
          <a:xfrm>
            <a:off x="8001000" y="3227832"/>
            <a:ext cx="3611880" cy="822960"/>
          </a:xfrm>
          <a:prstGeom prst="roundRect">
            <a:avLst>
              <a:gd name="adj" fmla="val 13333"/>
            </a:avLst>
          </a:prstGeom>
          <a:solidFill>
            <a:srgbClr val="1B5450"/>
          </a:solidFill>
          <a:ln w="12700">
            <a:solidFill>
              <a:srgbClr val="1B5450"/>
            </a:solidFill>
            <a:prstDash val="solid"/>
          </a:ln>
        </p:spPr>
      </p:sp>
      <p:sp>
        <p:nvSpPr>
          <p:cNvPr id="24" name="Text 19"/>
          <p:cNvSpPr txBox="1"/>
          <p:nvPr/>
        </p:nvSpPr>
        <p:spPr>
          <a:xfrm>
            <a:off x="8183880" y="3227832"/>
            <a:ext cx="3291840" cy="822960"/>
          </a:xfrm>
          <a:prstGeom prst="rect">
            <a:avLst/>
          </a:prstGeom>
          <a:noFill/>
          <a:ln/>
        </p:spPr>
        <p:txBody>
          <a:bodyPr wrap="square" lIns="0" tIns="0" rIns="0" bIns="0" rtlCol="0" anchor="ctr"/>
          <a:lstStyle/>
          <a:p>
            <a:pPr indent="0" marL="0">
              <a:buNone/>
            </a:pPr>
            <a:r>
              <a:rPr lang="en-US" sz="1600" dirty="0">
                <a:solidFill>
                  <a:schemeClr val="bg1"/>
                </a:solidFill>
              </a:rPr>
              <a:t>Design flaws found after seeing data</a:t>
            </a:r>
            <a:endParaRPr lang="en-US" sz="1600" dirty="0"/>
          </a:p>
        </p:txBody>
      </p:sp>
      <p:sp>
        <p:nvSpPr>
          <p:cNvPr id="25" name="cell"/>
          <p:cNvSpPr/>
          <p:nvPr/>
        </p:nvSpPr>
        <p:spPr>
          <a:xfrm>
            <a:off x="8001000" y="4215384"/>
            <a:ext cx="3611880" cy="822960"/>
          </a:xfrm>
          <a:prstGeom prst="roundRect">
            <a:avLst>
              <a:gd name="adj" fmla="val 13333"/>
            </a:avLst>
          </a:prstGeom>
          <a:solidFill>
            <a:srgbClr val="1B5450"/>
          </a:solidFill>
          <a:ln w="12700">
            <a:solidFill>
              <a:srgbClr val="1B5450"/>
            </a:solidFill>
            <a:prstDash val="solid"/>
          </a:ln>
        </p:spPr>
      </p:sp>
      <p:sp>
        <p:nvSpPr>
          <p:cNvPr id="26" name="Text 21"/>
          <p:cNvSpPr txBox="1"/>
          <p:nvPr/>
        </p:nvSpPr>
        <p:spPr>
          <a:xfrm>
            <a:off x="8183880" y="4215384"/>
            <a:ext cx="3291840" cy="822960"/>
          </a:xfrm>
          <a:prstGeom prst="rect">
            <a:avLst/>
          </a:prstGeom>
          <a:noFill/>
          <a:ln/>
        </p:spPr>
        <p:txBody>
          <a:bodyPr wrap="square" lIns="0" tIns="0" rIns="0" bIns="0" rtlCol="0" anchor="ctr"/>
          <a:lstStyle/>
          <a:p>
            <a:pPr indent="0" marL="0">
              <a:buNone/>
            </a:pPr>
            <a:r>
              <a:rPr lang="en-US" sz="1600" dirty="0">
                <a:solidFill>
                  <a:schemeClr val="bg1"/>
                </a:solidFill>
              </a:rPr>
              <a:t>Undocumented choices, stale numbers</a:t>
            </a:r>
            <a:endParaRPr lang="en-US" sz="1600" dirty="0"/>
          </a:p>
        </p:txBody>
      </p:sp>
      <p:sp>
        <p:nvSpPr>
          <p:cNvPr id="27" name="cell"/>
          <p:cNvSpPr/>
          <p:nvPr/>
        </p:nvSpPr>
        <p:spPr>
          <a:xfrm>
            <a:off x="8001000" y="5202936"/>
            <a:ext cx="3611880" cy="822960"/>
          </a:xfrm>
          <a:prstGeom prst="roundRect">
            <a:avLst>
              <a:gd name="adj" fmla="val 13333"/>
            </a:avLst>
          </a:prstGeom>
          <a:solidFill>
            <a:srgbClr val="1B5450"/>
          </a:solidFill>
          <a:ln w="12700">
            <a:solidFill>
              <a:srgbClr val="1B5450"/>
            </a:solidFill>
            <a:prstDash val="solid"/>
          </a:ln>
        </p:spPr>
      </p:sp>
      <p:sp>
        <p:nvSpPr>
          <p:cNvPr id="28" name="Text 23"/>
          <p:cNvSpPr txBox="1"/>
          <p:nvPr/>
        </p:nvSpPr>
        <p:spPr>
          <a:xfrm>
            <a:off x="8183880" y="5202936"/>
            <a:ext cx="3291840" cy="822960"/>
          </a:xfrm>
          <a:prstGeom prst="rect">
            <a:avLst/>
          </a:prstGeom>
          <a:noFill/>
          <a:ln/>
        </p:spPr>
        <p:txBody>
          <a:bodyPr wrap="square" lIns="0" tIns="0" rIns="0" bIns="0" rtlCol="0" anchor="ctr"/>
          <a:lstStyle/>
          <a:p>
            <a:pPr indent="0" marL="0">
              <a:buNone/>
            </a:pPr>
            <a:r>
              <a:rPr lang="en-US" sz="1600" dirty="0">
                <a:solidFill>
                  <a:schemeClr val="bg1"/>
                </a:solidFill>
              </a:rPr>
              <a:t>Tool handling, lagging records</a:t>
            </a:r>
            <a:endParaRPr lang="en-US" sz="16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424160" cy="777240"/>
          </a:xfrm>
          <a:prstGeom prst="rect">
            <a:avLst/>
          </a:prstGeom>
          <a:noFill/>
          <a:ln/>
        </p:spPr>
        <p:txBody>
          <a:bodyPr wrap="square" rtlCol="0" anchor="ctr"/>
          <a:lstStyle/>
          <a:p>
            <a:pPr algn="l" indent="0" marL="0">
              <a:buNone/>
            </a:pPr>
            <a:r>
              <a:rPr lang="en-US" sz="3200" b="1" dirty="0">
                <a:solidFill>
                  <a:schemeClr val="bg1"/>
                </a:solidFill>
              </a:rPr>
              <a:t>Future possibilities</a:t>
            </a:r>
            <a:endParaRPr lang="en-US" sz="3200" dirty="0"/>
          </a:p>
        </p:txBody>
      </p:sp>
      <p:sp>
        <p:nvSpPr>
          <p:cNvPr id="4" name="future-card"/>
          <p:cNvSpPr/>
          <p:nvPr/>
        </p:nvSpPr>
        <p:spPr>
          <a:xfrm>
            <a:off x="548640" y="1417320"/>
            <a:ext cx="2103120" cy="3840480"/>
          </a:xfrm>
          <a:prstGeom prst="roundRect">
            <a:avLst>
              <a:gd name="adj" fmla="val 5217"/>
            </a:avLst>
          </a:prstGeom>
          <a:solidFill>
            <a:srgbClr val="1B5450"/>
          </a:solidFill>
          <a:ln w="12700">
            <a:solidFill>
              <a:srgbClr val="1B5450"/>
            </a:solidFill>
            <a:prstDash val="solid"/>
          </a:ln>
        </p:spPr>
      </p:sp>
      <p:sp>
        <p:nvSpPr>
          <p:cNvPr id="5" name="icon-circle-FaUserCheck"/>
          <p:cNvSpPr/>
          <p:nvPr/>
        </p:nvSpPr>
        <p:spPr>
          <a:xfrm>
            <a:off x="1188720" y="1691640"/>
            <a:ext cx="822960" cy="822960"/>
          </a:xfrm>
          <a:prstGeom prst="ellipse">
            <a:avLst/>
          </a:prstGeom>
          <a:solidFill>
            <a:schemeClr val="accent4"/>
          </a:solidFill>
          <a:ln w="12700">
            <a:solidFill>
              <a:schemeClr val="accent4"/>
            </a:solidFill>
            <a:prstDash val="solid"/>
          </a:ln>
        </p:spPr>
      </p:sp>
      <p:pic>
        <p:nvPicPr>
          <p:cNvPr id="6" name="icon-FaUserCheck" descr="FaUserCheck">    </p:cNvPr>
          <p:cNvPicPr>
            <a:picLocks noChangeAspect="1"/>
          </p:cNvPicPr>
          <p:nvPr/>
        </p:nvPicPr>
        <p:blipFill>
          <a:blip r:embed="rId1"/>
          <a:stretch>
            <a:fillRect/>
          </a:stretch>
        </p:blipFill>
        <p:spPr>
          <a:xfrm>
            <a:off x="1386230" y="1889150"/>
            <a:ext cx="427939" cy="427939"/>
          </a:xfrm>
          <a:prstGeom prst="rect">
            <a:avLst/>
          </a:prstGeom>
        </p:spPr>
      </p:pic>
      <p:sp>
        <p:nvSpPr>
          <p:cNvPr id="7" name="Text 3"/>
          <p:cNvSpPr txBox="1"/>
          <p:nvPr/>
        </p:nvSpPr>
        <p:spPr>
          <a:xfrm>
            <a:off x="713232" y="2743200"/>
            <a:ext cx="1783080" cy="2377440"/>
          </a:xfrm>
          <a:prstGeom prst="rect">
            <a:avLst/>
          </a:prstGeom>
          <a:noFill/>
          <a:ln/>
        </p:spPr>
        <p:txBody>
          <a:bodyPr wrap="square" lIns="0" tIns="0" rIns="0" bIns="0" rtlCol="0" anchor="t"/>
          <a:lstStyle/>
          <a:p>
            <a:pPr algn="ctr" indent="0" marL="0">
              <a:buNone/>
            </a:pPr>
            <a:r>
              <a:rPr lang="en-US" sz="1800" b="1" dirty="0">
                <a:solidFill>
                  <a:schemeClr val="bg1"/>
                </a:solidFill>
              </a:rPr>
              <a:t>Human verification</a:t>
            </a:r>
            <a:endParaRPr lang="en-US" sz="1500" dirty="0"/>
          </a:p>
          <a:p>
            <a:pPr algn="ctr" indent="0" marL="0">
              <a:buNone/>
            </a:pPr>
            <a:r>
              <a:rPr lang="en-US" sz="1500" dirty="0">
                <a:solidFill>
                  <a:schemeClr val="bg1"/>
                </a:solidFill>
              </a:rPr>
              <a:t>methods and benchmarks, then update the disclaimer</a:t>
            </a:r>
            <a:endParaRPr lang="en-US" sz="1500" dirty="0"/>
          </a:p>
        </p:txBody>
      </p:sp>
      <p:sp>
        <p:nvSpPr>
          <p:cNvPr id="8" name="future-card"/>
          <p:cNvSpPr/>
          <p:nvPr/>
        </p:nvSpPr>
        <p:spPr>
          <a:xfrm>
            <a:off x="2788920" y="1417320"/>
            <a:ext cx="2103120" cy="3840480"/>
          </a:xfrm>
          <a:prstGeom prst="roundRect">
            <a:avLst>
              <a:gd name="adj" fmla="val 5217"/>
            </a:avLst>
          </a:prstGeom>
          <a:solidFill>
            <a:srgbClr val="1B5450"/>
          </a:solidFill>
          <a:ln w="12700">
            <a:solidFill>
              <a:srgbClr val="1B5450"/>
            </a:solidFill>
            <a:prstDash val="solid"/>
          </a:ln>
        </p:spPr>
      </p:sp>
      <p:sp>
        <p:nvSpPr>
          <p:cNvPr id="9" name="icon-circle-FaGlobeEurope"/>
          <p:cNvSpPr/>
          <p:nvPr/>
        </p:nvSpPr>
        <p:spPr>
          <a:xfrm>
            <a:off x="3429000" y="1691640"/>
            <a:ext cx="822960" cy="822960"/>
          </a:xfrm>
          <a:prstGeom prst="ellipse">
            <a:avLst/>
          </a:prstGeom>
          <a:solidFill>
            <a:schemeClr val="accent1"/>
          </a:solidFill>
          <a:ln w="12700">
            <a:solidFill>
              <a:schemeClr val="accent1"/>
            </a:solidFill>
            <a:prstDash val="solid"/>
          </a:ln>
        </p:spPr>
      </p:sp>
      <p:pic>
        <p:nvPicPr>
          <p:cNvPr id="10" name="icon-FaGlobeEurope" descr="FaGlobeEurope">    </p:cNvPr>
          <p:cNvPicPr>
            <a:picLocks noChangeAspect="1"/>
          </p:cNvPicPr>
          <p:nvPr/>
        </p:nvPicPr>
        <p:blipFill>
          <a:blip r:embed="rId2"/>
          <a:stretch>
            <a:fillRect/>
          </a:stretch>
        </p:blipFill>
        <p:spPr>
          <a:xfrm>
            <a:off x="3626510" y="1889150"/>
            <a:ext cx="427939" cy="427939"/>
          </a:xfrm>
          <a:prstGeom prst="rect">
            <a:avLst/>
          </a:prstGeom>
        </p:spPr>
      </p:pic>
      <p:sp>
        <p:nvSpPr>
          <p:cNvPr id="11" name="Text 6"/>
          <p:cNvSpPr txBox="1"/>
          <p:nvPr/>
        </p:nvSpPr>
        <p:spPr>
          <a:xfrm>
            <a:off x="2953512" y="2743200"/>
            <a:ext cx="1783080" cy="2377440"/>
          </a:xfrm>
          <a:prstGeom prst="rect">
            <a:avLst/>
          </a:prstGeom>
          <a:noFill/>
          <a:ln/>
        </p:spPr>
        <p:txBody>
          <a:bodyPr wrap="square" lIns="0" tIns="0" rIns="0" bIns="0" rtlCol="0" anchor="t"/>
          <a:lstStyle/>
          <a:p>
            <a:pPr algn="ctr" indent="0" marL="0">
              <a:buNone/>
            </a:pPr>
            <a:r>
              <a:rPr lang="en-US" sz="1800" b="1" dirty="0">
                <a:solidFill>
                  <a:schemeClr val="bg1"/>
                </a:solidFill>
              </a:rPr>
              <a:t>More genomes</a:t>
            </a:r>
            <a:endParaRPr lang="en-US" sz="1500" dirty="0"/>
          </a:p>
          <a:p>
            <a:pPr algn="ctr" indent="0" marL="0">
              <a:buNone/>
            </a:pPr>
            <a:r>
              <a:rPr lang="en-US" sz="1500" dirty="0">
                <a:solidFill>
                  <a:schemeClr val="bg1"/>
                </a:solidFill>
              </a:rPr>
              <a:t>EukaryOMA's 1,328 genomes; genome sisters for transcriptome-only lineages</a:t>
            </a:r>
            <a:endParaRPr lang="en-US" sz="1500" dirty="0"/>
          </a:p>
        </p:txBody>
      </p:sp>
      <p:sp>
        <p:nvSpPr>
          <p:cNvPr id="12" name="future-card"/>
          <p:cNvSpPr/>
          <p:nvPr/>
        </p:nvSpPr>
        <p:spPr>
          <a:xfrm>
            <a:off x="5029200" y="1417320"/>
            <a:ext cx="2103120" cy="3840480"/>
          </a:xfrm>
          <a:prstGeom prst="roundRect">
            <a:avLst>
              <a:gd name="adj" fmla="val 5217"/>
            </a:avLst>
          </a:prstGeom>
          <a:solidFill>
            <a:srgbClr val="1B5450"/>
          </a:solidFill>
          <a:ln w="12700">
            <a:solidFill>
              <a:srgbClr val="1B5450"/>
            </a:solidFill>
            <a:prstDash val="solid"/>
          </a:ln>
        </p:spPr>
      </p:sp>
      <p:sp>
        <p:nvSpPr>
          <p:cNvPr id="13" name="icon-circle-FaSitemap"/>
          <p:cNvSpPr/>
          <p:nvPr/>
        </p:nvSpPr>
        <p:spPr>
          <a:xfrm>
            <a:off x="5669280" y="1691640"/>
            <a:ext cx="822960" cy="822960"/>
          </a:xfrm>
          <a:prstGeom prst="ellipse">
            <a:avLst/>
          </a:prstGeom>
          <a:solidFill>
            <a:schemeClr val="accent3"/>
          </a:solidFill>
          <a:ln w="12700">
            <a:solidFill>
              <a:schemeClr val="accent3"/>
            </a:solidFill>
            <a:prstDash val="solid"/>
          </a:ln>
        </p:spPr>
      </p:sp>
      <p:pic>
        <p:nvPicPr>
          <p:cNvPr id="14" name="icon-FaSitemap" descr="FaSitemap">    </p:cNvPr>
          <p:cNvPicPr>
            <a:picLocks noChangeAspect="1"/>
          </p:cNvPicPr>
          <p:nvPr/>
        </p:nvPicPr>
        <p:blipFill>
          <a:blip r:embed="rId3"/>
          <a:stretch>
            <a:fillRect/>
          </a:stretch>
        </p:blipFill>
        <p:spPr>
          <a:xfrm>
            <a:off x="5866790" y="1889150"/>
            <a:ext cx="427939" cy="427939"/>
          </a:xfrm>
          <a:prstGeom prst="rect">
            <a:avLst/>
          </a:prstGeom>
        </p:spPr>
      </p:pic>
      <p:sp>
        <p:nvSpPr>
          <p:cNvPr id="15" name="Text 9"/>
          <p:cNvSpPr txBox="1"/>
          <p:nvPr/>
        </p:nvSpPr>
        <p:spPr>
          <a:xfrm>
            <a:off x="5193792" y="2743200"/>
            <a:ext cx="1783080" cy="2377440"/>
          </a:xfrm>
          <a:prstGeom prst="rect">
            <a:avLst/>
          </a:prstGeom>
          <a:noFill/>
          <a:ln/>
        </p:spPr>
        <p:txBody>
          <a:bodyPr wrap="square" lIns="0" tIns="0" rIns="0" bIns="0" rtlCol="0" anchor="t"/>
          <a:lstStyle/>
          <a:p>
            <a:pPr algn="ctr" indent="0" marL="0">
              <a:buNone/>
            </a:pPr>
            <a:r>
              <a:rPr lang="en-US" sz="1800" b="1" dirty="0">
                <a:solidFill>
                  <a:schemeClr val="bg1"/>
                </a:solidFill>
              </a:rPr>
              <a:t>Deep-node orthology</a:t>
            </a:r>
            <a:endParaRPr lang="en-US" sz="1500" dirty="0"/>
          </a:p>
          <a:p>
            <a:pPr algn="ctr" indent="0" marL="0">
              <a:buNone/>
            </a:pPr>
            <a:r>
              <a:rPr lang="en-US" sz="1500" dirty="0">
                <a:solidFill>
                  <a:schemeClr val="bg1"/>
                </a:solidFill>
              </a:rPr>
              <a:t>domain-level dating; gene-birth simulator for the bias</a:t>
            </a:r>
            <a:endParaRPr lang="en-US" sz="1500" dirty="0"/>
          </a:p>
        </p:txBody>
      </p:sp>
      <p:sp>
        <p:nvSpPr>
          <p:cNvPr id="16" name="future-card"/>
          <p:cNvSpPr/>
          <p:nvPr/>
        </p:nvSpPr>
        <p:spPr>
          <a:xfrm>
            <a:off x="7269480" y="1417320"/>
            <a:ext cx="2103120" cy="3840480"/>
          </a:xfrm>
          <a:prstGeom prst="roundRect">
            <a:avLst>
              <a:gd name="adj" fmla="val 5217"/>
            </a:avLst>
          </a:prstGeom>
          <a:solidFill>
            <a:srgbClr val="1B5450"/>
          </a:solidFill>
          <a:ln w="12700">
            <a:solidFill>
              <a:srgbClr val="1B5450"/>
            </a:solidFill>
            <a:prstDash val="solid"/>
          </a:ln>
        </p:spPr>
      </p:sp>
      <p:sp>
        <p:nvSpPr>
          <p:cNvPr id="17" name="icon-circle-FaMicrochip"/>
          <p:cNvSpPr/>
          <p:nvPr/>
        </p:nvSpPr>
        <p:spPr>
          <a:xfrm>
            <a:off x="7909560" y="1691640"/>
            <a:ext cx="822960" cy="822960"/>
          </a:xfrm>
          <a:prstGeom prst="ellipse">
            <a:avLst/>
          </a:prstGeom>
          <a:solidFill>
            <a:schemeClr val="accent2"/>
          </a:solidFill>
          <a:ln w="12700">
            <a:solidFill>
              <a:schemeClr val="accent2"/>
            </a:solidFill>
            <a:prstDash val="solid"/>
          </a:ln>
        </p:spPr>
      </p:sp>
      <p:pic>
        <p:nvPicPr>
          <p:cNvPr id="18" name="icon-FaMicrochip" descr="FaMicrochip">    </p:cNvPr>
          <p:cNvPicPr>
            <a:picLocks noChangeAspect="1"/>
          </p:cNvPicPr>
          <p:nvPr/>
        </p:nvPicPr>
        <p:blipFill>
          <a:blip r:embed="rId4"/>
          <a:stretch>
            <a:fillRect/>
          </a:stretch>
        </p:blipFill>
        <p:spPr>
          <a:xfrm>
            <a:off x="8107070" y="1889150"/>
            <a:ext cx="427939" cy="427939"/>
          </a:xfrm>
          <a:prstGeom prst="rect">
            <a:avLst/>
          </a:prstGeom>
        </p:spPr>
      </p:pic>
      <p:sp>
        <p:nvSpPr>
          <p:cNvPr id="19" name="Text 12"/>
          <p:cNvSpPr txBox="1"/>
          <p:nvPr/>
        </p:nvSpPr>
        <p:spPr>
          <a:xfrm>
            <a:off x="7434072" y="2743200"/>
            <a:ext cx="1783080" cy="2377440"/>
          </a:xfrm>
          <a:prstGeom prst="rect">
            <a:avLst/>
          </a:prstGeom>
          <a:noFill/>
          <a:ln/>
        </p:spPr>
        <p:txBody>
          <a:bodyPr wrap="square" lIns="0" tIns="0" rIns="0" bIns="0" rtlCol="0" anchor="t"/>
          <a:lstStyle/>
          <a:p>
            <a:pPr algn="ctr" indent="0" marL="0">
              <a:buNone/>
            </a:pPr>
            <a:r>
              <a:rPr lang="en-US" sz="1800" b="1" dirty="0">
                <a:solidFill>
                  <a:schemeClr val="bg1"/>
                </a:solidFill>
              </a:rPr>
              <a:t>Structure at scale</a:t>
            </a:r>
            <a:endParaRPr lang="en-US" sz="1500" dirty="0"/>
          </a:p>
          <a:p>
            <a:pPr algn="ctr" indent="0" marL="0">
              <a:buNone/>
            </a:pPr>
            <a:r>
              <a:rPr lang="en-US" sz="1500" dirty="0">
                <a:solidFill>
                  <a:schemeClr val="bg1"/>
                </a:solidFill>
              </a:rPr>
              <a:t>finish 3Di for all proteomes; real 3D models</a:t>
            </a:r>
            <a:endParaRPr lang="en-US" sz="1500" dirty="0"/>
          </a:p>
        </p:txBody>
      </p:sp>
      <p:sp>
        <p:nvSpPr>
          <p:cNvPr id="20" name="future-card"/>
          <p:cNvSpPr/>
          <p:nvPr/>
        </p:nvSpPr>
        <p:spPr>
          <a:xfrm>
            <a:off x="9509760" y="1417320"/>
            <a:ext cx="2103120" cy="3840480"/>
          </a:xfrm>
          <a:prstGeom prst="roundRect">
            <a:avLst>
              <a:gd name="adj" fmla="val 5217"/>
            </a:avLst>
          </a:prstGeom>
          <a:solidFill>
            <a:srgbClr val="1B5450"/>
          </a:solidFill>
          <a:ln w="12700">
            <a:solidFill>
              <a:srgbClr val="1B5450"/>
            </a:solidFill>
            <a:prstDash val="solid"/>
          </a:ln>
        </p:spPr>
      </p:sp>
      <p:sp>
        <p:nvSpPr>
          <p:cNvPr id="21" name="icon-circle-FaMicroscope"/>
          <p:cNvSpPr/>
          <p:nvPr/>
        </p:nvSpPr>
        <p:spPr>
          <a:xfrm>
            <a:off x="10149840" y="1691640"/>
            <a:ext cx="822960" cy="822960"/>
          </a:xfrm>
          <a:prstGeom prst="ellipse">
            <a:avLst/>
          </a:prstGeom>
          <a:solidFill>
            <a:schemeClr val="accent5"/>
          </a:solidFill>
          <a:ln w="12700">
            <a:solidFill>
              <a:schemeClr val="accent5"/>
            </a:solidFill>
            <a:prstDash val="solid"/>
          </a:ln>
        </p:spPr>
      </p:sp>
      <p:pic>
        <p:nvPicPr>
          <p:cNvPr id="22" name="icon-FaMicroscope" descr="FaMicroscope">    </p:cNvPr>
          <p:cNvPicPr>
            <a:picLocks noChangeAspect="1"/>
          </p:cNvPicPr>
          <p:nvPr/>
        </p:nvPicPr>
        <p:blipFill>
          <a:blip r:embed="rId5"/>
          <a:stretch>
            <a:fillRect/>
          </a:stretch>
        </p:blipFill>
        <p:spPr>
          <a:xfrm>
            <a:off x="10347350" y="1889150"/>
            <a:ext cx="427939" cy="427939"/>
          </a:xfrm>
          <a:prstGeom prst="rect">
            <a:avLst/>
          </a:prstGeom>
        </p:spPr>
      </p:pic>
      <p:sp>
        <p:nvSpPr>
          <p:cNvPr id="23" name="Text 15"/>
          <p:cNvSpPr txBox="1"/>
          <p:nvPr/>
        </p:nvSpPr>
        <p:spPr>
          <a:xfrm>
            <a:off x="9674352" y="2743200"/>
            <a:ext cx="1783080" cy="2377440"/>
          </a:xfrm>
          <a:prstGeom prst="rect">
            <a:avLst/>
          </a:prstGeom>
          <a:noFill/>
          <a:ln/>
        </p:spPr>
        <p:txBody>
          <a:bodyPr wrap="square" lIns="0" tIns="0" rIns="0" bIns="0" rtlCol="0" anchor="t"/>
          <a:lstStyle/>
          <a:p>
            <a:pPr algn="ctr" indent="0" marL="0">
              <a:buNone/>
            </a:pPr>
            <a:r>
              <a:rPr lang="en-US" sz="1800" b="1" dirty="0">
                <a:solidFill>
                  <a:schemeClr val="bg1"/>
                </a:solidFill>
              </a:rPr>
              <a:t>Experimental links</a:t>
            </a:r>
            <a:endParaRPr lang="en-US" sz="1500" dirty="0"/>
          </a:p>
          <a:p>
            <a:pPr algn="ctr" indent="0" marL="0">
              <a:buNone/>
            </a:pPr>
            <a:r>
              <a:rPr lang="en-US" sz="1500" dirty="0">
                <a:solidFill>
                  <a:schemeClr val="bg1"/>
                </a:solidFill>
              </a:rPr>
              <a:t>cell death vs immunity; regulatory data</a:t>
            </a:r>
            <a:endParaRPr lang="en-US" sz="1500" dirty="0"/>
          </a:p>
        </p:txBody>
      </p:sp>
      <p:sp>
        <p:nvSpPr>
          <p:cNvPr id="24" name="Text 16"/>
          <p:cNvSpPr txBox="1"/>
          <p:nvPr/>
        </p:nvSpPr>
        <p:spPr>
          <a:xfrm>
            <a:off x="548640" y="5577840"/>
            <a:ext cx="10972800" cy="457200"/>
          </a:xfrm>
          <a:prstGeom prst="rect">
            <a:avLst/>
          </a:prstGeom>
          <a:noFill/>
          <a:ln/>
        </p:spPr>
        <p:txBody>
          <a:bodyPr wrap="square" lIns="0" tIns="0" rIns="0" bIns="0" rtlCol="0" anchor="t"/>
          <a:lstStyle/>
          <a:p>
            <a:pPr indent="0" marL="0">
              <a:buNone/>
            </a:pPr>
            <a:r>
              <a:rPr lang="en-US" sz="1600" b="1" dirty="0">
                <a:solidFill>
                  <a:schemeClr val="accent5"/>
                </a:solidFill>
              </a:rPr>
              <a:t>First step: a human check of methods and benchmarks; nothing here has been verified yet.</a:t>
            </a:r>
            <a:endParaRPr lang="en-US" sz="1600" dirty="0"/>
          </a:p>
        </p:txBody>
      </p:sp>
      <p:sp>
        <p:nvSpPr>
          <p:cNvPr id="25" name="Slide Number Placeholder 0"/>
          <p:cNvSpPr>
            <a:spLocks noGrp="1"/>
          </p:cNvSpPr>
          <p:nvPr>
            <p:ph type="sldNum" sz="quarter" idx="4294967295"/>
          </p:nvPr>
        </p:nvSpPr>
        <p:spPr>
          <a:xfrm>
            <a:off x="11247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731520" y="1554480"/>
            <a:ext cx="7680960" cy="1737360"/>
          </a:xfrm>
          <a:prstGeom prst="rect">
            <a:avLst/>
          </a:prstGeom>
          <a:noFill/>
          <a:ln/>
        </p:spPr>
        <p:txBody>
          <a:bodyPr wrap="square" rtlCol="0" anchor="b"/>
          <a:lstStyle/>
          <a:p>
            <a:pPr algn="l" indent="0" marL="0">
              <a:buNone/>
            </a:pPr>
            <a:r>
              <a:rPr lang="en-US" sz="4000" b="1" dirty="0">
                <a:solidFill>
                  <a:schemeClr val="bg1"/>
                </a:solidFill>
              </a:rPr>
              <a:t>Read more</a:t>
            </a:r>
            <a:endParaRPr lang="en-US" sz="4000" dirty="0"/>
          </a:p>
        </p:txBody>
      </p:sp>
      <p:sp>
        <p:nvSpPr>
          <p:cNvPr id="3" name="Text 0"/>
          <p:cNvSpPr/>
          <p:nvPr>
            <p:ph idx="102" type="body" hasCustomPrompt="1"/>
          </p:nvPr>
        </p:nvSpPr>
        <p:spPr>
          <a:xfrm>
            <a:off x="731520" y="3474720"/>
            <a:ext cx="7680960" cy="1280160"/>
          </a:xfrm>
          <a:prstGeom prst="rect">
            <a:avLst/>
          </a:prstGeom>
          <a:noFill/>
          <a:ln/>
        </p:spPr>
        <p:txBody>
          <a:bodyPr wrap="square" rtlCol="0" anchor="t"/>
          <a:lstStyle/>
          <a:p>
            <a:pPr algn="l" indent="0" marL="0">
              <a:buNone/>
            </a:pPr>
            <a:r>
              <a:rPr lang="en-US" sz="20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Final report: claude.ai/artifact/9rkyi2Xwe1VyhCgUcjZuoJ</a:t>
            </a:r>
            <a:endParaRPr lang="en-US" sz="2000" dirty="0"/>
          </a:p>
          <a:p>
            <a:pPr algn="l" indent="0" marL="0">
              <a:buNone/>
            </a:pPr>
            <a:r>
              <a:rPr lang="en-US" sz="2000" u="sng" dirty="0">
                <a:solidFill>
                  <a:schemeClr val="bg2"/>
                </a:solidFill>
                <a:hlinkClick r:id="rId2" invalidUrl="" action="" tgtFrame="" tooltip="" history="1" highlightClick="0" endSnd="0">
                  <a:extLst>
                    <a:ext uri="{A12FA001-AC4F-418D-AE19-62706E023703}">
                      <ahyp:hlinkClr xmlns:ahyp="http://schemas.microsoft.com/office/drawing/2018/hyperlinkcolor" val="tx"/>
                    </a:ext>
                  </a:extLst>
                </a:hlinkClick>
              </a:rPr>
              <a:t>Department-head review: claude.ai/artifact/NfrexbqRBFmS3A97VvTqcR</a:t>
            </a:r>
            <a:endParaRPr lang="en-US" sz="2000" dirty="0"/>
          </a:p>
          <a:p>
            <a:pPr algn="l" indent="0" marL="0">
              <a:buNone/>
            </a:pPr>
            <a:r>
              <a:rPr lang="en-US" sz="1600" dirty="0">
                <a:solidFill>
                  <a:schemeClr val="bg2"/>
                </a:solidFill>
              </a:rPr>
              <a:t>Added after publication: report/REPORT.md §12 · results/r2/recurrence_ladder/</a:t>
            </a:r>
            <a:endParaRPr lang="en-US" sz="2000" dirty="0"/>
          </a:p>
          <a:p>
            <a:pPr algn="l" indent="0" marL="0">
              <a:buNone/>
            </a:pPr>
            <a:r>
              <a:rPr lang="en-US" sz="1600" dirty="0">
                <a:solidFill>
                  <a:schemeClr val="bg2"/>
                </a:solidFill>
              </a:rPr>
              <a:t>Repository: report/REPORT.md · RESEARCH_TREE.md · LESSONS.md · reviews/</a:t>
            </a:r>
            <a:endParaRPr lang="en-US" sz="2000" dirty="0"/>
          </a:p>
          <a:p>
            <a:pPr algn="l" indent="0" marL="0">
              <a:buNone/>
            </a:pPr>
            <a:r>
              <a:rPr lang="en-US" sz="1600" dirty="0">
                <a:solidFill>
                  <a:schemeClr val="bg2"/>
                </a:solidFill>
              </a:rPr>
              <a:t>Hackathon: github.com/evocellnet/ai-hackathon · [repository URL: ____]</a:t>
            </a:r>
            <a:endParaRPr lang="en-US" sz="2000" dirty="0"/>
          </a:p>
        </p:txBody>
      </p:sp>
    </p:spTree>
  </p:cSld>
  <p:clrMapOvr>
    <a:masterClrMapping/>
  </p:clrMapOvr>
</p:sld>
</file>

<file path=ppt/theme/theme1.xml><?xml version="1.0" encoding="utf-8"?>
<a:theme xmlns:a="http://schemas.openxmlformats.org/drawingml/2006/main" name="Multicellularity Teal">
  <a:themeElements>
    <a:clrScheme name="Multicellularity Teal">
      <a:dk1>
        <a:srgbClr val="1F2A2A"/>
      </a:dk1>
      <a:lt1>
        <a:srgbClr val="FFFFFF"/>
      </a:lt1>
      <a:dk2>
        <a:srgbClr val="0E3B39"/>
      </a:dk2>
      <a:lt2>
        <a:srgbClr val="E6F1EF"/>
      </a:lt2>
      <a:accent1>
        <a:srgbClr val="1B7F79"/>
      </a:accent1>
      <a:accent2>
        <a:srgbClr val="009E73"/>
      </a:accent2>
      <a:accent3>
        <a:srgbClr val="0072B2"/>
      </a:accent3>
      <a:accent4>
        <a:srgbClr val="E4572E"/>
      </a:accent4>
      <a:accent5>
        <a:srgbClr val="E69F00"/>
      </a:accent5>
      <a:accent6>
        <a:srgbClr val="9AA5A3"/>
      </a:accent6>
      <a:hlink>
        <a:srgbClr val="0072B2"/>
      </a:hlink>
      <a:folHlink>
        <a:srgbClr val="6C5B7B"/>
      </a:folHlink>
    </a:clrScheme>
    <a:fontScheme name="Multicellularity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AI hackathon (Beltrao lab, ETH Zurich)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many origins to single events: an AI-run study of multicellularity</dc:title>
  <dc:subject>PptxGenJS Presentation</dc:subject>
  <dc:creator>Claude Opus 5.5 (PI agent) for the AI hackathon</dc:creator>
  <cp:lastModifiedBy>Claude Opus 5.5 (PI agent) for the AI hackathon</cp:lastModifiedBy>
  <cp:revision>1</cp:revision>
  <dcterms:created xsi:type="dcterms:W3CDTF">2026-10-30T12:07:02Z</dcterms:created>
  <dcterms:modified xsi:type="dcterms:W3CDTF">2026-10-30T12:07:02Z</dcterms:modified>
</cp:coreProperties>
</file>